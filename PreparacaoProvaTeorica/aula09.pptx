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87"/>
  </p:notesMasterIdLst>
  <p:sldIdLst>
    <p:sldId id="256" r:id="rId3"/>
    <p:sldId id="258" r:id="rId4"/>
    <p:sldId id="259" r:id="rId5"/>
    <p:sldId id="340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4" r:id="rId28"/>
    <p:sldId id="285" r:id="rId29"/>
    <p:sldId id="286" r:id="rId30"/>
    <p:sldId id="341" r:id="rId31"/>
    <p:sldId id="287" r:id="rId32"/>
    <p:sldId id="288" r:id="rId33"/>
    <p:sldId id="289" r:id="rId34"/>
    <p:sldId id="290" r:id="rId35"/>
    <p:sldId id="293" r:id="rId36"/>
    <p:sldId id="294" r:id="rId37"/>
    <p:sldId id="295" r:id="rId38"/>
    <p:sldId id="291" r:id="rId39"/>
    <p:sldId id="298" r:id="rId40"/>
    <p:sldId id="299" r:id="rId41"/>
    <p:sldId id="300" r:id="rId42"/>
    <p:sldId id="301" r:id="rId43"/>
    <p:sldId id="302" r:id="rId44"/>
    <p:sldId id="306" r:id="rId45"/>
    <p:sldId id="307" r:id="rId46"/>
    <p:sldId id="308" r:id="rId47"/>
    <p:sldId id="309" r:id="rId48"/>
    <p:sldId id="305" r:id="rId49"/>
    <p:sldId id="292" r:id="rId50"/>
    <p:sldId id="310" r:id="rId51"/>
    <p:sldId id="342" r:id="rId52"/>
    <p:sldId id="312" r:id="rId53"/>
    <p:sldId id="313" r:id="rId54"/>
    <p:sldId id="315" r:id="rId55"/>
    <p:sldId id="316" r:id="rId56"/>
    <p:sldId id="318" r:id="rId57"/>
    <p:sldId id="319" r:id="rId58"/>
    <p:sldId id="314" r:id="rId59"/>
    <p:sldId id="348" r:id="rId60"/>
    <p:sldId id="317" r:id="rId61"/>
    <p:sldId id="320" r:id="rId62"/>
    <p:sldId id="321" r:id="rId63"/>
    <p:sldId id="322" r:id="rId64"/>
    <p:sldId id="324" r:id="rId65"/>
    <p:sldId id="323" r:id="rId66"/>
    <p:sldId id="325" r:id="rId67"/>
    <p:sldId id="326" r:id="rId68"/>
    <p:sldId id="343" r:id="rId69"/>
    <p:sldId id="327" r:id="rId70"/>
    <p:sldId id="328" r:id="rId71"/>
    <p:sldId id="345" r:id="rId72"/>
    <p:sldId id="344" r:id="rId73"/>
    <p:sldId id="329" r:id="rId74"/>
    <p:sldId id="330" r:id="rId75"/>
    <p:sldId id="331" r:id="rId76"/>
    <p:sldId id="347" r:id="rId77"/>
    <p:sldId id="332" r:id="rId78"/>
    <p:sldId id="346" r:id="rId79"/>
    <p:sldId id="333" r:id="rId80"/>
    <p:sldId id="334" r:id="rId81"/>
    <p:sldId id="335" r:id="rId82"/>
    <p:sldId id="336" r:id="rId83"/>
    <p:sldId id="337" r:id="rId84"/>
    <p:sldId id="338" r:id="rId85"/>
    <p:sldId id="339" r:id="rId8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 Light"/>
              </a:rPr>
              <a:t>Clique para mover o slide</a:t>
            </a: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pt-BR" sz="2000" b="0" strike="noStrike" spc="-1">
                <a:latin typeface="Arial"/>
              </a:rPr>
              <a:t>Clique para editar o formato de notas</a:t>
            </a:r>
          </a:p>
        </p:txBody>
      </p:sp>
      <p:sp>
        <p:nvSpPr>
          <p:cNvPr id="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pt-BR" sz="1400" b="0" strike="noStrike" spc="-1">
                <a:latin typeface="Times New Roman"/>
              </a:rPr>
              <a:t>&lt;cabeçalho&gt;</a:t>
            </a:r>
          </a:p>
        </p:txBody>
      </p:sp>
      <p:sp>
        <p:nvSpPr>
          <p:cNvPr id="86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pt-BR" sz="1400" b="0" strike="noStrike" spc="-1">
                <a:latin typeface="Times New Roman"/>
              </a:rPr>
              <a:t>&lt;data/hora&gt;</a:t>
            </a:r>
          </a:p>
        </p:txBody>
      </p:sp>
      <p:sp>
        <p:nvSpPr>
          <p:cNvPr id="87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pt-BR" sz="1400" b="0" strike="noStrike" spc="-1">
                <a:latin typeface="Times New Roman"/>
              </a:defRPr>
            </a:lvl1pPr>
          </a:lstStyle>
          <a:p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88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A63D4C2E-EC0D-4981-84CB-9A49398E8F6E}" type="slidenum">
              <a:rPr lang="pt-BR" sz="1400" b="0" strike="noStrike" spc="-1">
                <a:latin typeface="Times New Roman"/>
              </a:rPr>
              <a:t>‹nº›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2ADE51A-6925-4658-BF5D-320EB1FAED69}" type="slidenum">
              <a:rPr lang="pt-BR" sz="1200" b="0" strike="noStrike" spc="-1">
                <a:latin typeface="Times New Roman"/>
              </a:rPr>
              <a:t>1</a:t>
            </a:fld>
            <a:endParaRPr lang="pt-BR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9B14809-837C-4D37-946B-9E15846CADED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9D9544-AEBF-443B-BAF0-3C204FBEEF04}" type="slidenum">
              <a:t>‹nº›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A145D91-A0AA-49D7-B5CB-905E4F0F9BF6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0805917-36F6-4349-8A18-140F9176ADC9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1A8880B-38A2-4427-AAAB-64C4AA22CD31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57360" y="499680"/>
            <a:ext cx="10772280" cy="76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C2CBB90-F26C-46B4-BA37-274104690AFE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08AA5D2-BD98-4F89-B166-EFE371AA385D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D0C0A58-2BA3-4977-BB5B-B374E350E1E3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6CEAFB5-CC54-4E99-9397-14067843D92A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D958FBE-DFFE-43B0-A2F7-4E760D1C75EC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BE59253-D3D8-4877-920F-59EDB6FE77FF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244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794808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7680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244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794808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C77A697-010B-41E5-AD09-8F6908BCD089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5AD1F37-5351-49D5-9A90-62319FCCF222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E86B8A-75C0-428B-ADD9-F62E5EEE2793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D6B4ED2-AAA2-4055-9C1D-BEF13DF91887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A170694-B6AB-490C-B834-C60A50018902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5F636C1-4470-4E06-B388-6082420AE6CC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57360" y="499680"/>
            <a:ext cx="10772280" cy="76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B7233D5-B52E-4951-A2CB-218CA54530E6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5A9C711-42C2-4AFE-B9BE-DF12941C9320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4CA64AB-E28D-4EB9-87EE-AF4B23CEB3D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B71710A-62C6-454D-8BD0-450F5A11D02A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90AD442-888E-4F94-9BE8-1F62A1435333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47940B9-3180-4B95-AE0C-D826DC382C91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31244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794808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67680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431244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794808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8D67ADE-E27E-4BD8-9FFD-F82C6B9057F2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9E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3360" y="770400"/>
            <a:ext cx="10782000" cy="335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pt-BR" sz="8800" b="0" strike="noStrike" spc="-120">
                <a:solidFill>
                  <a:srgbClr val="FFFFFF"/>
                </a:solidFill>
                <a:latin typeface="Calibri Light"/>
              </a:rPr>
              <a:t>Clique para editar o título Mestre</a:t>
            </a:r>
            <a:endParaRPr lang="en-US" sz="8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685800" y="6412320"/>
            <a:ext cx="41144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pt-BR" sz="950" b="0" strike="noStrike" spc="-1">
                <a:solidFill>
                  <a:srgbClr val="FFFFFF">
                    <a:alpha val="80000"/>
                  </a:srgbClr>
                </a:solidFill>
                <a:latin typeface="Calibri Ligh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FFFFFF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685800" y="6554520"/>
            <a:ext cx="50288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8763840" y="5876280"/>
            <a:ext cx="2925720" cy="1396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0300" b="0" strike="noStrike" spc="-1">
                <a:solidFill>
                  <a:srgbClr val="FFFFFF">
                    <a:alpha val="25000"/>
                  </a:srgbClr>
                </a:solidFill>
                <a:latin typeface="Calibri Light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687F324-676B-4E9B-85A3-A764F18BEED5}" type="slidenum">
              <a:rPr lang="pt-BR" sz="10300" b="0" strike="noStrike" spc="-1">
                <a:solidFill>
                  <a:srgbClr val="FFFFFF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8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262626"/>
                </a:solidFill>
                <a:latin typeface="Calibri Light"/>
              </a:rPr>
              <a:t>Clique para editar o formato do texto da estrutura de tópicos</a:t>
            </a:r>
          </a:p>
          <a:p>
            <a:pPr marL="864000" lvl="1" indent="-324000">
              <a:lnSpc>
                <a:spcPct val="8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i="1" strike="noStrike" spc="-1">
                <a:solidFill>
                  <a:srgbClr val="262626"/>
                </a:solidFill>
                <a:latin typeface="Calibri Light"/>
              </a:rPr>
              <a:t>2.º nível da estrutura de tópicos</a:t>
            </a:r>
          </a:p>
          <a:p>
            <a:pPr marL="1296000" lvl="2" indent="-288000">
              <a:lnSpc>
                <a:spcPct val="8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262626"/>
                </a:solidFill>
                <a:latin typeface="Calibri Light"/>
              </a:rPr>
              <a:t>3.º nível da estrutura de tópicos</a:t>
            </a:r>
          </a:p>
          <a:p>
            <a:pPr marL="1728000" lvl="3" indent="-216000">
              <a:lnSpc>
                <a:spcPct val="8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262626"/>
                </a:solidFill>
                <a:latin typeface="Calibri Light"/>
              </a:rPr>
              <a:t>4.º nível da estrutura de tópicos</a:t>
            </a:r>
          </a:p>
          <a:p>
            <a:pPr marL="2160000" lvl="4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 Light"/>
              </a:rPr>
              <a:t>5.º nível da estrutura de tópicos</a:t>
            </a:r>
          </a:p>
          <a:p>
            <a:pPr marL="2592000" lvl="5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 Light"/>
              </a:rPr>
              <a:t>6.º nível da estrutura de tópicos</a:t>
            </a:r>
          </a:p>
          <a:p>
            <a:pPr marL="3024000" lvl="6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 Light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Clique para editar o título Mestre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2400" b="0" strike="noStrike" spc="-1">
                <a:solidFill>
                  <a:srgbClr val="262626"/>
                </a:solidFill>
                <a:latin typeface="Calibri Light"/>
              </a:rPr>
              <a:t>Clique para editar os estilos de texto Mestres</a:t>
            </a: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  <a:p>
            <a:pPr marL="347400" lvl="1" indent="-34308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pt-BR" sz="2400" b="0" strike="noStrike" spc="-1">
                <a:solidFill>
                  <a:srgbClr val="262626"/>
                </a:solidFill>
                <a:latin typeface="Calibri Light"/>
              </a:rPr>
              <a:t>Segundo nível</a:t>
            </a:r>
            <a:endParaRPr lang="en-US" sz="2400" b="0" i="1" strike="noStrike" spc="-1">
              <a:solidFill>
                <a:srgbClr val="262626"/>
              </a:solidFill>
              <a:latin typeface="Calibri Light"/>
            </a:endParaRPr>
          </a:p>
          <a:p>
            <a:pPr marL="548640" lvl="2" indent="-54864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pt-BR" sz="2000" b="0" i="1" strike="noStrike" spc="-1">
                <a:solidFill>
                  <a:srgbClr val="262626"/>
                </a:solidFill>
                <a:latin typeface="Calibri Light"/>
              </a:rPr>
              <a:t>Terceiro nível</a:t>
            </a:r>
            <a:endParaRPr lang="en-US" sz="2000" b="0" strike="noStrike" spc="-1">
              <a:solidFill>
                <a:srgbClr val="262626"/>
              </a:solidFill>
              <a:latin typeface="Calibri Light"/>
            </a:endParaRPr>
          </a:p>
          <a:p>
            <a:pPr marL="822960" lvl="3" indent="-82296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pt-BR" sz="1800" b="0" strike="noStrike" spc="-1">
                <a:solidFill>
                  <a:srgbClr val="262626"/>
                </a:solidFill>
                <a:latin typeface="Calibri Light"/>
              </a:rPr>
              <a:t>Quarto nível</a:t>
            </a:r>
            <a:endParaRPr lang="en-US" sz="1800" b="0" strike="noStrike" spc="-1">
              <a:solidFill>
                <a:srgbClr val="262626"/>
              </a:solidFill>
              <a:latin typeface="Calibri Light"/>
            </a:endParaRPr>
          </a:p>
          <a:p>
            <a:pPr marL="1097280" lvl="4" indent="-109728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pt-BR" sz="1800" b="0" strike="noStrike" spc="-1">
                <a:solidFill>
                  <a:srgbClr val="262626"/>
                </a:solidFill>
                <a:latin typeface="Calibri Light"/>
              </a:rPr>
              <a:t>Quinto nível</a:t>
            </a:r>
            <a:endParaRPr lang="en-US" sz="18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4"/>
          </p:nvPr>
        </p:nvSpPr>
        <p:spPr>
          <a:xfrm>
            <a:off x="685800" y="6412320"/>
            <a:ext cx="41144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5"/>
          </p:nvPr>
        </p:nvSpPr>
        <p:spPr>
          <a:xfrm>
            <a:off x="685800" y="6554520"/>
            <a:ext cx="50288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sldNum" idx="6"/>
          </p:nvPr>
        </p:nvSpPr>
        <p:spPr>
          <a:xfrm>
            <a:off x="8763840" y="5876280"/>
            <a:ext cx="2925720" cy="1396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0300" b="0" strike="noStrike" spc="-1">
                <a:solidFill>
                  <a:srgbClr val="549E39">
                    <a:alpha val="25000"/>
                  </a:srgbClr>
                </a:solidFill>
                <a:latin typeface="Calibri Light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7C4E7D6-E39B-4324-9914-DEA6C4F58F7E}" type="slidenum">
              <a:rPr lang="pt-BR" sz="10300" b="0" strike="noStrike" spc="-1">
                <a:solidFill>
                  <a:srgbClr val="549E39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95240" y="637920"/>
            <a:ext cx="10416960" cy="3189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pt-BR" sz="8000" b="0" strike="noStrike" spc="-120">
                <a:solidFill>
                  <a:srgbClr val="FFFFFF"/>
                </a:solidFill>
                <a:latin typeface="Calibri Light"/>
              </a:rPr>
              <a:t>Desenvolvimento </a:t>
            </a:r>
            <a:r>
              <a:rPr lang="pt-BR" sz="8000" b="0" i="1" strike="noStrike" spc="-120">
                <a:solidFill>
                  <a:srgbClr val="FFFFFF"/>
                </a:solidFill>
                <a:latin typeface="Calibri Light"/>
              </a:rPr>
              <a:t>Web</a:t>
            </a:r>
            <a:r>
              <a:rPr lang="pt-BR" sz="8000" b="0" strike="noStrike" spc="-120">
                <a:solidFill>
                  <a:srgbClr val="FFFFFF"/>
                </a:solidFill>
                <a:latin typeface="Calibri Light"/>
              </a:rPr>
              <a:t> III</a:t>
            </a:r>
            <a:endParaRPr lang="en-US" sz="8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795240" y="4377240"/>
            <a:ext cx="10558800" cy="442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00"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2800" b="0" strike="noStrike" spc="-1">
                <a:solidFill>
                  <a:srgbClr val="FEFFFF"/>
                </a:solidFill>
                <a:latin typeface="Calibri Light"/>
              </a:rPr>
              <a:t>Tecnologia em Análise e Desenvolvimento de Sistemas</a:t>
            </a:r>
            <a:endParaRPr lang="pt-BR" sz="2800" b="0" strike="noStrike" spc="-1">
              <a:latin typeface="Arial"/>
            </a:endParaRPr>
          </a:p>
        </p:txBody>
      </p:sp>
      <p:sp>
        <p:nvSpPr>
          <p:cNvPr id="91" name="Subtítulo 2"/>
          <p:cNvSpPr/>
          <p:nvPr/>
        </p:nvSpPr>
        <p:spPr>
          <a:xfrm>
            <a:off x="3603044" y="6089276"/>
            <a:ext cx="7092664" cy="44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7000"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rgbClr val="FEFFFF"/>
                </a:solidFill>
                <a:latin typeface="Calibri Light"/>
              </a:rPr>
              <a:t>Aula 9 – Acesso a banco de dados (2)</a:t>
            </a:r>
            <a:endParaRPr lang="pt-BR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Como visto anteriormente, utilizamos o Prisma para fazer a conexão com um banco de dados.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Nosso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site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possui componentes renderizados no cliente, que fazem requisições a funções que estão no servidor, e essas utilizam o Prisma para se comunicar com o banco de dados.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Nesta aula vamos ver mais recursos com o Prisma.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No exemplo da aula anterior, fizemos as operações CRUD básicas para um livro, que possui identificador, título e ano de publicação, todos obrigatórios.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Recupere o projeto que está disponível no SUAP, e siga os seguintes passos:</a:t>
            </a:r>
          </a:p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Execute o comando </a:t>
            </a:r>
            <a:r>
              <a:rPr lang="pt-BR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npm</a:t>
            </a:r>
            <a:r>
              <a:rPr lang="pt-BR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install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para fazer o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download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do código dos módulos utilizados;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839803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2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Inicie o Docker;</a:t>
            </a:r>
          </a:p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2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Suba um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container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do Docker com a imagem do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Postgre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utilizada: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66FC07F-0FAE-0C29-7CB3-48A11A568DE2}"/>
              </a:ext>
            </a:extLst>
          </p:cNvPr>
          <p:cNvSpPr txBox="1"/>
          <p:nvPr/>
        </p:nvSpPr>
        <p:spPr>
          <a:xfrm>
            <a:off x="1000073" y="3830877"/>
            <a:ext cx="10752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 err="1"/>
              <a:t>docker</a:t>
            </a:r>
            <a:r>
              <a:rPr lang="pt-BR" sz="2000" b="1" dirty="0"/>
              <a:t> </a:t>
            </a:r>
            <a:r>
              <a:rPr lang="pt-BR" sz="2000" b="1" dirty="0" err="1"/>
              <a:t>run</a:t>
            </a:r>
            <a:r>
              <a:rPr lang="pt-BR" sz="2000" b="1" dirty="0"/>
              <a:t> --</a:t>
            </a:r>
            <a:r>
              <a:rPr lang="pt-BR" sz="2000" b="1" dirty="0" err="1"/>
              <a:t>name</a:t>
            </a:r>
            <a:r>
              <a:rPr lang="pt-BR" sz="2000" b="1" dirty="0"/>
              <a:t> </a:t>
            </a:r>
            <a:r>
              <a:rPr lang="pt-BR" sz="2000" b="1" dirty="0" err="1"/>
              <a:t>postgres</a:t>
            </a:r>
            <a:r>
              <a:rPr lang="pt-BR" sz="2000" b="1" dirty="0"/>
              <a:t> -e POSTGRES_PASSWORD=</a:t>
            </a:r>
            <a:r>
              <a:rPr lang="pt-BR" sz="2000" b="1" dirty="0" err="1"/>
              <a:t>senhadobanco</a:t>
            </a:r>
            <a:r>
              <a:rPr lang="pt-BR" sz="2000" b="1" dirty="0"/>
              <a:t> -p 5432:5432 -v </a:t>
            </a:r>
            <a:r>
              <a:rPr lang="pt-BR" sz="2000" b="1" dirty="0" err="1"/>
              <a:t>postgres</a:t>
            </a:r>
            <a:r>
              <a:rPr lang="pt-BR" sz="2000" b="1" dirty="0"/>
              <a:t>:/var/</a:t>
            </a:r>
            <a:r>
              <a:rPr lang="pt-BR" sz="2000" b="1" dirty="0" err="1"/>
              <a:t>lib</a:t>
            </a:r>
            <a:r>
              <a:rPr lang="pt-BR" sz="2000" b="1" dirty="0"/>
              <a:t>/</a:t>
            </a:r>
            <a:r>
              <a:rPr lang="pt-BR" sz="2000" b="1" dirty="0" err="1"/>
              <a:t>postgresql</a:t>
            </a:r>
            <a:r>
              <a:rPr lang="pt-BR" sz="2000" b="1" dirty="0"/>
              <a:t>/data -d postgres:17</a:t>
            </a:r>
          </a:p>
        </p:txBody>
      </p:sp>
    </p:spTree>
    <p:extLst>
      <p:ext uri="{BB962C8B-B14F-4D97-AF65-F5344CB8AC3E}">
        <p14:creationId xmlns:p14="http://schemas.microsoft.com/office/powerpoint/2010/main" val="1879820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4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Execute o comando </a:t>
            </a:r>
            <a:r>
              <a:rPr lang="pt-BR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npx</a:t>
            </a:r>
            <a:r>
              <a:rPr lang="pt-BR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prisma </a:t>
            </a:r>
            <a:r>
              <a:rPr lang="pt-BR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db</a:t>
            </a:r>
            <a:r>
              <a:rPr lang="pt-BR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</a:t>
            </a:r>
            <a:r>
              <a:rPr lang="pt-BR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gerar o código de acesso ao banco de dados e enviar as alterações (de esquema) para a base de dados;</a:t>
            </a:r>
          </a:p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4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Execute o comando </a:t>
            </a:r>
            <a:r>
              <a:rPr lang="pt-BR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npx</a:t>
            </a:r>
            <a:r>
              <a:rPr lang="pt-BR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prisma </a:t>
            </a:r>
            <a:r>
              <a:rPr lang="pt-BR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generate</a:t>
            </a:r>
            <a:r>
              <a:rPr lang="pt-BR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gerar os arquivos de acesso;</a:t>
            </a:r>
          </a:p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4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Execute o servidor com o comando </a:t>
            </a:r>
            <a:r>
              <a:rPr lang="pt-BR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npm</a:t>
            </a:r>
            <a:r>
              <a:rPr lang="pt-BR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run</a:t>
            </a:r>
            <a:r>
              <a:rPr lang="pt-BR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dev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O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site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deve funcionar como na aula anterior.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659026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Nós utilizamos o comando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findMany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do Prisma na função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Listar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para obter todos os itens de uma tabela, sem filtrar ou ordenar o resultado.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EFAF5F7-5ECA-54DE-99C5-D1D1DD93592D}"/>
              </a:ext>
            </a:extLst>
          </p:cNvPr>
          <p:cNvSpPr txBox="1"/>
          <p:nvPr/>
        </p:nvSpPr>
        <p:spPr>
          <a:xfrm>
            <a:off x="761999" y="3823358"/>
            <a:ext cx="94349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Listar() {</a:t>
            </a:r>
          </a:p>
          <a:p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084574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filtrar os dados, passamos um objeto como argumento da função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findMany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com um objeto com um atributo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where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e dentro deste objeto, as condições desejadas.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23322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Por exemplo, a função a seguir retorna apenas livros que possuem exatamente o mesmo título informado: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8E127F0-14C3-D6F1-06A9-974DFF369D4C}"/>
              </a:ext>
            </a:extLst>
          </p:cNvPr>
          <p:cNvSpPr txBox="1"/>
          <p:nvPr/>
        </p:nvSpPr>
        <p:spPr>
          <a:xfrm>
            <a:off x="761999" y="3284049"/>
            <a:ext cx="1031240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PesquisarPorTitulo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tituloAPesquisar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 {</a:t>
            </a:r>
          </a:p>
          <a:p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tituloAPesquisar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040655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No exemplo anterior,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titulo: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tituloAPesquisar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realiza a comparação por igualdade entre o título cadastrado no banco de dados e o argumento recebido.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cada atributo, é possível fornecer um objeto com mais detalhes sobre a comparação a ser realizada.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Caso a comparação seja de igualdade, podemos usar o atributo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equals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346332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4449A99-0CF8-7392-4F16-AE72FEEC3B75}"/>
              </a:ext>
            </a:extLst>
          </p:cNvPr>
          <p:cNvSpPr txBox="1"/>
          <p:nvPr/>
        </p:nvSpPr>
        <p:spPr>
          <a:xfrm>
            <a:off x="762360" y="1917159"/>
            <a:ext cx="1055218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PesquisarPorTitulo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tituloAPesquisar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equals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tituloAPesquisar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428266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tipos de dados </a:t>
            </a:r>
            <a:r>
              <a:rPr lang="pt-BR" sz="3600" i="1" spc="-1" dirty="0" err="1">
                <a:solidFill>
                  <a:srgbClr val="262626"/>
                </a:solidFill>
                <a:latin typeface="Calibri Light"/>
              </a:rPr>
              <a:t>string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podemos usar também os seguintes atributos: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b="1" spc="-1" dirty="0" err="1">
                <a:solidFill>
                  <a:srgbClr val="262626"/>
                </a:solidFill>
                <a:latin typeface="Calibri Light"/>
              </a:rPr>
              <a:t>startsWith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, para indicar que a </a:t>
            </a:r>
            <a:r>
              <a:rPr lang="pt-BR" sz="3200" i="1" spc="-1" dirty="0" err="1">
                <a:solidFill>
                  <a:srgbClr val="262626"/>
                </a:solidFill>
                <a:latin typeface="Calibri Light"/>
              </a:rPr>
              <a:t>string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 deve iniciar com o valor informado;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b="1" spc="-1" dirty="0" err="1">
                <a:solidFill>
                  <a:srgbClr val="262626"/>
                </a:solidFill>
                <a:latin typeface="Calibri Light"/>
              </a:rPr>
              <a:t>endsWith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, para indicar que a </a:t>
            </a:r>
            <a:r>
              <a:rPr lang="pt-BR" sz="3200" i="1" spc="-1" dirty="0" err="1">
                <a:solidFill>
                  <a:srgbClr val="262626"/>
                </a:solidFill>
                <a:latin typeface="Calibri Light"/>
              </a:rPr>
              <a:t>string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 deve terminar com o valor informado;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b="1" spc="-1" dirty="0" err="1">
                <a:solidFill>
                  <a:srgbClr val="262626"/>
                </a:solidFill>
                <a:latin typeface="Calibri Light"/>
              </a:rPr>
              <a:t>contains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, para indicar que a </a:t>
            </a:r>
            <a:r>
              <a:rPr lang="pt-BR" sz="3200" i="1" spc="-1" dirty="0" err="1">
                <a:solidFill>
                  <a:srgbClr val="262626"/>
                </a:solidFill>
                <a:latin typeface="Calibri Light"/>
              </a:rPr>
              <a:t>string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 deve possuir o valor informado em qualquer parte da sua informação.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276144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285D4F2-175D-EB97-EBC3-405EA9153696}"/>
              </a:ext>
            </a:extLst>
          </p:cNvPr>
          <p:cNvSpPr txBox="1"/>
          <p:nvPr/>
        </p:nvSpPr>
        <p:spPr>
          <a:xfrm>
            <a:off x="762360" y="1852505"/>
            <a:ext cx="106672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PesquisarPorTitulo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tituloAPesquisar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 {</a:t>
            </a:r>
          </a:p>
          <a:p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contains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tituloAPesquisar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182002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Crie a função anterior no arquivo “app/livros/actions.js”.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pesquisar livros pelo título, em “app/livros/page.js”, crie um estado para informar os dados da pesquisa a ser realizada: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A3E1C50-A38E-253C-E2EE-11BE68F6885B}"/>
              </a:ext>
            </a:extLst>
          </p:cNvPr>
          <p:cNvSpPr txBox="1"/>
          <p:nvPr/>
        </p:nvSpPr>
        <p:spPr>
          <a:xfrm>
            <a:off x="761999" y="4184820"/>
            <a:ext cx="75507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setPesquisaObj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titulo: 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});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226812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Na função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handleAtualizar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substitua o método Listar pelo método criado: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en-US" sz="3600" spc="-1" dirty="0" err="1">
                <a:solidFill>
                  <a:srgbClr val="262626"/>
                </a:solidFill>
                <a:latin typeface="Calibri Light"/>
              </a:rPr>
              <a:t>Não</a:t>
            </a:r>
            <a:r>
              <a:rPr lang="en-US" sz="3600" spc="-1" dirty="0">
                <a:solidFill>
                  <a:srgbClr val="262626"/>
                </a:solidFill>
                <a:latin typeface="Calibri Light"/>
              </a:rPr>
              <a:t> se </a:t>
            </a:r>
            <a:r>
              <a:rPr lang="en-US" sz="3600" spc="-1" dirty="0" err="1">
                <a:solidFill>
                  <a:srgbClr val="262626"/>
                </a:solidFill>
                <a:latin typeface="Calibri Light"/>
              </a:rPr>
              <a:t>esqueça</a:t>
            </a:r>
            <a:r>
              <a:rPr lang="en-US" sz="3600" spc="-1" dirty="0">
                <a:solidFill>
                  <a:srgbClr val="262626"/>
                </a:solidFill>
                <a:latin typeface="Calibri Light"/>
              </a:rPr>
              <a:t> de </a:t>
            </a:r>
            <a:r>
              <a:rPr lang="en-US" sz="3600" spc="-1" dirty="0" err="1">
                <a:solidFill>
                  <a:srgbClr val="262626"/>
                </a:solidFill>
                <a:latin typeface="Calibri Light"/>
              </a:rPr>
              <a:t>fazer</a:t>
            </a:r>
            <a:r>
              <a:rPr lang="en-US" sz="3600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spc="-1" dirty="0" err="1">
                <a:solidFill>
                  <a:srgbClr val="262626"/>
                </a:solidFill>
                <a:latin typeface="Calibri Light"/>
              </a:rPr>
              <a:t>sua</a:t>
            </a:r>
            <a:r>
              <a:rPr lang="en-US" sz="3600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spc="-1" dirty="0" err="1">
                <a:solidFill>
                  <a:srgbClr val="262626"/>
                </a:solidFill>
                <a:latin typeface="Calibri Light"/>
              </a:rPr>
              <a:t>importação</a:t>
            </a:r>
            <a:r>
              <a:rPr lang="en-US" sz="3600" spc="-1" dirty="0">
                <a:solidFill>
                  <a:srgbClr val="262626"/>
                </a:solidFill>
                <a:latin typeface="Calibri Light"/>
              </a:rPr>
              <a:t>: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27E6729-A092-7FA6-862F-66329B7B38E2}"/>
              </a:ext>
            </a:extLst>
          </p:cNvPr>
          <p:cNvSpPr txBox="1"/>
          <p:nvPr/>
        </p:nvSpPr>
        <p:spPr>
          <a:xfrm>
            <a:off x="761999" y="3237637"/>
            <a:ext cx="1084810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PesquisarPorTitulo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tituloAPesquisar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pesquisaobj.titulo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(livros);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DDEBF8E-D752-CDA5-C895-DBCA1EA1A6A6}"/>
              </a:ext>
            </a:extLst>
          </p:cNvPr>
          <p:cNvSpPr txBox="1"/>
          <p:nvPr/>
        </p:nvSpPr>
        <p:spPr>
          <a:xfrm>
            <a:off x="761998" y="5711629"/>
            <a:ext cx="10667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PesquisarPorTitulo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Remover }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2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806664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Por fim, crie uma entrada de dados para informar qual o título de livro que deva ser buscado: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A2C4FEB-6BED-74C2-0084-64C3D6900DBB}"/>
              </a:ext>
            </a:extLst>
          </p:cNvPr>
          <p:cNvSpPr txBox="1"/>
          <p:nvPr/>
        </p:nvSpPr>
        <p:spPr>
          <a:xfrm>
            <a:off x="762000" y="3246256"/>
            <a:ext cx="107722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"my-2"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Título</a:t>
            </a: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"bg-gray-100 p-2 ml-2"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pesquisaobj.titulo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={(e)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setPesquisaObj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...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titulo: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e.target.value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}))}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130319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A072AC3-1CF1-0F93-7CA9-EE153D43FB3C}"/>
              </a:ext>
            </a:extLst>
          </p:cNvPr>
          <p:cNvSpPr txBox="1"/>
          <p:nvPr/>
        </p:nvSpPr>
        <p:spPr>
          <a:xfrm>
            <a:off x="0" y="0"/>
            <a:ext cx="12192000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use,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"react"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'sweetalert2'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Listar,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PesquisarPorTitulo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Remover }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Livros() {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[dados,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([]);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[atualizar,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setPesquisaObj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titulo: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PesquisarPorTitulo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tituloAPesquisar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pesquisaobj.titulo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(livros);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buscar os dados"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timer: 3000,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position: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handleRemover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(id)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resposta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confirm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'Deseja realmente remover este livro?'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(resposta)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Remover(id);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resultado.sucesso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"Livro removido com sucesso"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success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timer: 3000,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position: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remover o livro informado"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timer: 3000,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position: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(atualizar)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}, [atualizar]);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 disponíveis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"my-2"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Título</a:t>
            </a: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"bg-gray-100 p-2 ml-2"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pesquisaobj.titulo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={(e)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setPesquisaObj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...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titulo: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e.target.value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}))}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...... "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"Atualizar"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"ml-2 bg-blue-600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"/livros/novo"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Novo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"w-full"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Título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 de Publicação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dados.map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((p)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={p.id}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p.titulo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p.anoPublicacao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</a:t>
            </a:r>
            <a:r>
              <a:rPr lang="pt-BR" sz="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`/livros/editar/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p.id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"text-blue-600 pl-2"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Editar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"#"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"text-red-600 pl-2"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handleRemover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(p.id)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Remover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99080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pesquisar pelo ano, crie a função em actions.js: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2CBCF7B-749F-FB9F-B2C8-B310159FCA3B}"/>
              </a:ext>
            </a:extLst>
          </p:cNvPr>
          <p:cNvSpPr txBox="1"/>
          <p:nvPr/>
        </p:nvSpPr>
        <p:spPr>
          <a:xfrm>
            <a:off x="762000" y="2702157"/>
            <a:ext cx="95919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PesquisarPorAno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anoAPesquisar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 {</a:t>
            </a:r>
          </a:p>
          <a:p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anoAPesquisar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281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 consulta anterior realiza a filtragem do número inteiro por igualdade.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Também podemos utilizar um atributo, da mesma forma que fizemos com </a:t>
            </a:r>
            <a:r>
              <a:rPr lang="pt-BR" sz="3600" i="1" spc="-1" dirty="0" err="1">
                <a:solidFill>
                  <a:srgbClr val="262626"/>
                </a:solidFill>
                <a:latin typeface="Calibri Light"/>
              </a:rPr>
              <a:t>strings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para utilizar mais informações na filtragem a ser realizada.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738314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tipos de dados inteiro, podemos usar também os seguintes atributos: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b="1" spc="-1" dirty="0" err="1">
                <a:solidFill>
                  <a:srgbClr val="262626"/>
                </a:solidFill>
                <a:latin typeface="Calibri Light"/>
              </a:rPr>
              <a:t>equals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, para indicar igualdade de valores;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b="1" spc="-1" dirty="0" err="1">
                <a:solidFill>
                  <a:srgbClr val="262626"/>
                </a:solidFill>
                <a:latin typeface="Calibri Light"/>
              </a:rPr>
              <a:t>lt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, para indicar que o valor deve ser menor que o informado;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b="1" spc="-1" dirty="0" err="1">
                <a:solidFill>
                  <a:srgbClr val="262626"/>
                </a:solidFill>
                <a:latin typeface="Calibri Light"/>
              </a:rPr>
              <a:t>lte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, para indicar que o valor deve ser menor ou igual ao informado;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b="1" spc="-1" dirty="0" err="1">
                <a:solidFill>
                  <a:srgbClr val="262626"/>
                </a:solidFill>
                <a:latin typeface="Calibri Light"/>
              </a:rPr>
              <a:t>gt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, para indicar que o valor deve ser maior que o informado;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b="1" spc="-1" dirty="0" err="1">
                <a:solidFill>
                  <a:srgbClr val="262626"/>
                </a:solidFill>
                <a:latin typeface="Calibri Light"/>
              </a:rPr>
              <a:t>gte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, para indicar que o valor deve ser maior ou igual ao informado;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995219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Em “app/livros/page.js”, atualize o objeto de pesquisa: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Atualize a função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handleAtualizar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para realizar a pesquisa apenas por ano: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496274D-D811-E89B-A4C8-B18C0CCDCB81}"/>
              </a:ext>
            </a:extLst>
          </p:cNvPr>
          <p:cNvSpPr txBox="1"/>
          <p:nvPr/>
        </p:nvSpPr>
        <p:spPr>
          <a:xfrm>
            <a:off x="676800" y="2690336"/>
            <a:ext cx="10600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setPesquisaObj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titulo: 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});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777291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3814617"/>
            <a:ext cx="10753200" cy="254334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Não esqueça de fazer sua importação: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FAEAB6-BDDF-5D76-547D-E72344B2B8E4}"/>
              </a:ext>
            </a:extLst>
          </p:cNvPr>
          <p:cNvSpPr txBox="1"/>
          <p:nvPr/>
        </p:nvSpPr>
        <p:spPr>
          <a:xfrm>
            <a:off x="676800" y="1965747"/>
            <a:ext cx="108772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PesquisarPorAno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anoAPesquisar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pesquisaobj.anoPublicacao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});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(livros);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0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5BE53BC-C2F0-BF27-73EF-E621C7E79468}"/>
              </a:ext>
            </a:extLst>
          </p:cNvPr>
          <p:cNvSpPr txBox="1"/>
          <p:nvPr/>
        </p:nvSpPr>
        <p:spPr>
          <a:xfrm>
            <a:off x="762000" y="4439956"/>
            <a:ext cx="1079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PesquisarPorAno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Remover }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2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578525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Por fim, atualize a interface para possuir um campo onde o ano deve ser informado: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D1215AF-D948-B06E-DA44-22F447BAC7C3}"/>
              </a:ext>
            </a:extLst>
          </p:cNvPr>
          <p:cNvSpPr txBox="1"/>
          <p:nvPr/>
        </p:nvSpPr>
        <p:spPr>
          <a:xfrm>
            <a:off x="762000" y="3062743"/>
            <a:ext cx="1095894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"my-2"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Título</a:t>
            </a: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"bg-gray-100 p-2 ml-2"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pesquisaobj.titulo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={(e)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setPesquisaObj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...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titulo: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e.target.value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}))}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"ml-4"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Ano</a:t>
            </a: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"bg-gray-100 p-2 ml-2"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pesquisaobj.anoPublicacao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={(e)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setPesquisaObj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...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e.target.value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}))}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268646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4AC205C-F07A-656E-6D9A-E45878A3C350}"/>
              </a:ext>
            </a:extLst>
          </p:cNvPr>
          <p:cNvSpPr txBox="1"/>
          <p:nvPr/>
        </p:nvSpPr>
        <p:spPr>
          <a:xfrm>
            <a:off x="0" y="0"/>
            <a:ext cx="1219200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use,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"react"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'sweetalert2'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Listar,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PesquisarPorAno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PesquisarPorTitulo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Remover }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Livros() {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[dados,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([]);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[atualizar,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setPesquisaObj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titulo: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PesquisarPorAno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anoAPesquisar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pesquisaobj.anoPublicacao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});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(livros);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buscar os dados"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timer: 3000,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position: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handleRemover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(id)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resposta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confirm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'Deseja realmente remover este livro?'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(resposta)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Remover(id);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resultado.sucesso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"Livro removido com sucesso"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success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timer: 3000,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position: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remover o livro informado"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timer: 3000,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position: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(atualizar)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}, [atualizar]);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 disponíveis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"my-2"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Título</a:t>
            </a: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"bg-gray-100 p-2 ml-2"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pesquisaobj.titulo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={(e)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setPesquisaObj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...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titulo: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e.target.value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}))}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"ml-4"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Ano</a:t>
            </a: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"bg-gray-100 p-2 ml-2"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pesquisaobj.anoPublicacao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={(e)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setPesquisaObj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...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e.target.value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}))}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...... "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"Atualizar"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"ml-2 bg-blue-600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"/livros/novo"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Novo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"w-full"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Título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 de Publicação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dados.map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((p)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={p.id}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p.titulo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p.anoPublicacao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</a:t>
            </a:r>
            <a:r>
              <a:rPr lang="pt-BR" sz="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`/livros/editar/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p.id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"text-blue-600 pl-2"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Editar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"#"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"text-red-600 pl-2"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handleRemover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(p.id)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Remover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419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O código anterior, no entanto, não funciona caso o campo não seja preenchido.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isso, vamos alterar o código para o seguinte: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9E8F29-59A4-BE39-B3D5-CD44B96C312A}"/>
              </a:ext>
            </a:extLst>
          </p:cNvPr>
          <p:cNvSpPr txBox="1"/>
          <p:nvPr/>
        </p:nvSpPr>
        <p:spPr>
          <a:xfrm>
            <a:off x="657360" y="3773667"/>
            <a:ext cx="1059872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PesquisarPorAno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anoAPesquisar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...(!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isNaN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anoAPesquisar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 &amp;&amp;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anoAPesquisar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1589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 função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Number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transforma um valor em número (ou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NaN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caso a conversão apresente erros).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 função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isNaN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retorna verdadeiro se um valor não é um número, ou falso caso contrário.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Assim, caso o valor informado não seja um número, o filtro não é realizado.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Caso o valor seja um número, acrescenta-se no objeto de comparação o valor a ser pesquisado.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8946723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evitar fazer uma função de pesquisa para cada campo, vamos juntar as duas funções em uma só.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Remova as funções de pesquisa por ano e pesquisa por título.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Crie uma nova função que pesquisa por ambos: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8771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33C75E6-9837-252F-3126-E1EC652383D8}"/>
              </a:ext>
            </a:extLst>
          </p:cNvPr>
          <p:cNvSpPr txBox="1"/>
          <p:nvPr/>
        </p:nvSpPr>
        <p:spPr>
          <a:xfrm>
            <a:off x="762360" y="1972669"/>
            <a:ext cx="1016425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Pesquisar({ titulo, ano })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contains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titulo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},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...(!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isNaN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(ano)) &amp;&amp;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ano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46497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Em “app/livros/page.js”, atualize a função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handleAtualizar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para chamar a nova função: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 pesquisa deverá funcionar, fazendo um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AND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entre o título e o ano de publicação informado.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35602CC-7A1D-48F7-67F3-179F40CF15D0}"/>
              </a:ext>
            </a:extLst>
          </p:cNvPr>
          <p:cNvSpPr txBox="1"/>
          <p:nvPr/>
        </p:nvSpPr>
        <p:spPr>
          <a:xfrm>
            <a:off x="761999" y="3191455"/>
            <a:ext cx="1077227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Pesquisar({ ...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ano: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pesquisaobj.anoPublicacao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});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(livros);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30082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6FA9ED7-58CE-6436-7B8F-5E903E1BE5C1}"/>
              </a:ext>
            </a:extLst>
          </p:cNvPr>
          <p:cNvSpPr txBox="1"/>
          <p:nvPr/>
        </p:nvSpPr>
        <p:spPr>
          <a:xfrm>
            <a:off x="0" y="0"/>
            <a:ext cx="12192000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"react"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'sweetalert2'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Pesquisar, Remover }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Livros() {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[dados,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([]);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[atualizar,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setPesquisaObj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titulo: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Pesquisar({ ...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ano: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pesquisaobj.anoPublicacao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});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(livros);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buscar os dados"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timer: 3000,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position: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handleRemover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(id)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resposta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confirm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'Deseja realmente remover este livro?'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(resposta)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Remover(id);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resultado.sucesso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"Livro removido com sucesso"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success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timer: 3000,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position: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remover o livro informado"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timer: 3000,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position: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(atualizar)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}, [atualizar]);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 disponíveis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"my-2"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Título</a:t>
            </a: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"bg-gray-100 p-2 ml-2"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pesquisaobj.titulo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={(e)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setPesquisaObj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...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titulo: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e.target.value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}))}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"ml-4"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Ano</a:t>
            </a: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"bg-gray-100 p-2 ml-2"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pesquisaobj.anoPublicacao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={(e)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setPesquisaObj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...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pesquisaobj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e.target.value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}))}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...... "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"Atualizar"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"ml-2 bg-blue-600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"/livros/novo"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Novo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"w-full"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Título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 de Publicação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dados.map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((p)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={p.id}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p.titulo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p.anoPublicacao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</a:t>
            </a:r>
            <a:r>
              <a:rPr lang="pt-BR" sz="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`/livros/editar/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p.id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"text-blue-600 pl-2"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Editar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"#"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"text-red-600 pl-2"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handleRemover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(p.id)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Remover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8213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Caso queira fazer um OR entre valores, deve-se informar um vetor de objetos utilizado o operador OR: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A53623F-FEA2-3B29-7DAB-91CDFCF7E356}"/>
              </a:ext>
            </a:extLst>
          </p:cNvPr>
          <p:cNvSpPr txBox="1"/>
          <p:nvPr/>
        </p:nvSpPr>
        <p:spPr>
          <a:xfrm>
            <a:off x="762000" y="3251294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OR: [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  <a:r>
              <a:rPr lang="pt-BR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condição 1*/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},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  <a:r>
              <a:rPr lang="pt-BR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condição 2*/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},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  <a:r>
              <a:rPr lang="pt-BR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condição n*/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]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7338109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1A47623-9F9A-3C90-11DF-FA0021E249C2}"/>
              </a:ext>
            </a:extLst>
          </p:cNvPr>
          <p:cNvSpPr txBox="1"/>
          <p:nvPr/>
        </p:nvSpPr>
        <p:spPr>
          <a:xfrm>
            <a:off x="758102" y="1797501"/>
            <a:ext cx="10949349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Pesquisar({ titulo, ano })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OR: [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titulo: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contains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titulo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}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},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...(!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isNaN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(ano)) &amp;&amp;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ano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})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]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2346228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Filtragem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Também é possível verificar por diferença. Por exemplo, para trazer todos os livros que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não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foram publicados no ano informado: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A104DF2-28C2-2B01-602A-FBCA7C922F5E}"/>
              </a:ext>
            </a:extLst>
          </p:cNvPr>
          <p:cNvSpPr txBox="1"/>
          <p:nvPr/>
        </p:nvSpPr>
        <p:spPr>
          <a:xfrm>
            <a:off x="762000" y="3669480"/>
            <a:ext cx="1026621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Pesquisar({ titulo, ano })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ano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169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Ordenação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Por padrão, os dados retornados do banco de dados são ordenados pelo ordem crescente de criação.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ordenar os resultados por uma coluna, utilize no objeto da função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findMany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um objeto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orderBy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que deve possuir como atributo o campo a ser ordenado, com valor “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asc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” ou “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desc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” para ordenar de forma ascendente ou descendente.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8500940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Ordenação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5F81C3E-A3F0-1201-6285-C6A09E81979F}"/>
              </a:ext>
            </a:extLst>
          </p:cNvPr>
          <p:cNvSpPr txBox="1"/>
          <p:nvPr/>
        </p:nvSpPr>
        <p:spPr>
          <a:xfrm>
            <a:off x="762359" y="1779687"/>
            <a:ext cx="1043211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Pesquisar({ titulo, ano })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contains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titulo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},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...(!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isNaN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(ano)) &amp;&amp;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ano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orderBy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66670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Ordenação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fazer a ordenação utilizando mais de uma coluna, o valor de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orderBy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deve ser um vetor de objetos, em que cada objeto possui como atributo o nome da coluna a ser ordenada e como valor o tipo de ordenação.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 ordenação é feita do objeto no menor índice do vetor para o objeto no maior índice do vetor.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4943749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Ordenação de dados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B8D1775-572E-9416-19A2-414707164C28}"/>
              </a:ext>
            </a:extLst>
          </p:cNvPr>
          <p:cNvSpPr txBox="1"/>
          <p:nvPr/>
        </p:nvSpPr>
        <p:spPr>
          <a:xfrm>
            <a:off x="762360" y="1889910"/>
            <a:ext cx="10875458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Pesquisar({ titulo, ano })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contains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titulo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...(!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isNaN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(ano)) &amp;&amp;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ano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orderBy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[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titulo: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]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2088265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Seleçã</a:t>
            </a:r>
            <a:r>
              <a:rPr lang="pt-BR" sz="5400" spc="-120" dirty="0">
                <a:solidFill>
                  <a:srgbClr val="549E39"/>
                </a:solidFill>
                <a:latin typeface="Calibri Light"/>
              </a:rPr>
              <a:t>o de colunas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Por padrão, todas as colunas da tabela são retornadas em uma consulta.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Caso queira trazer apenas algumas delas, utilize no objeto argumento da função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findMany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 o objeto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select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que deve possuir como valor um objeto contendo atributos com os nomes das colunas que queira retornar, contendo o valor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true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não recuperar um valor de uma coluna, basta omitir ela do objeto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select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ou então, utilizar seu valor como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false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.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1555233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Seleçã</a:t>
            </a:r>
            <a:r>
              <a:rPr lang="pt-BR" sz="5400" spc="-120" dirty="0">
                <a:solidFill>
                  <a:srgbClr val="549E39"/>
                </a:solidFill>
                <a:latin typeface="Calibri Light"/>
              </a:rPr>
              <a:t>o de colunas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A11C192-8148-BFE0-1426-BACDFA4F7F9C}"/>
              </a:ext>
            </a:extLst>
          </p:cNvPr>
          <p:cNvSpPr txBox="1"/>
          <p:nvPr/>
        </p:nvSpPr>
        <p:spPr>
          <a:xfrm>
            <a:off x="592705" y="1751080"/>
            <a:ext cx="1141456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Pesquisar({ titulo, ano })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contains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titulo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},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...(!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isNaN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(ano)) &amp;&amp;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ano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orderBy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id: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2070899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Seleçã</a:t>
            </a:r>
            <a:r>
              <a:rPr lang="pt-BR" sz="5400" spc="-120" dirty="0">
                <a:solidFill>
                  <a:srgbClr val="549E39"/>
                </a:solidFill>
                <a:latin typeface="Calibri Light"/>
              </a:rPr>
              <a:t>o de colunas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A11C192-8148-BFE0-1426-BACDFA4F7F9C}"/>
              </a:ext>
            </a:extLst>
          </p:cNvPr>
          <p:cNvSpPr txBox="1"/>
          <p:nvPr/>
        </p:nvSpPr>
        <p:spPr>
          <a:xfrm>
            <a:off x="592705" y="1751080"/>
            <a:ext cx="11414567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Pesquisar({ titulo, ano })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contains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titulo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...(!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isNaN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(ano)) &amp;&amp;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ano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orderBy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id: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5555218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Seleçã</a:t>
            </a:r>
            <a:r>
              <a:rPr lang="pt-BR" sz="5400" spc="-120" dirty="0">
                <a:solidFill>
                  <a:srgbClr val="549E39"/>
                </a:solidFill>
                <a:latin typeface="Calibri Light"/>
              </a:rPr>
              <a:t>o de colunas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Em casos em que você deseja recuperar vários colunas e omitir poucas, ao invés de utilizar o objeto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select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podemos utilizar o objeto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omit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que deve possuir como atributo o nome da coluna a se omitir, e como valor o valor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true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Caso seja utilizado o valor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false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a coluna não será omitida da pesquisa.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6484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Seleçã</a:t>
            </a:r>
            <a:r>
              <a:rPr lang="pt-BR" sz="5400" spc="-120" dirty="0">
                <a:solidFill>
                  <a:srgbClr val="549E39"/>
                </a:solidFill>
                <a:latin typeface="Calibri Light"/>
              </a:rPr>
              <a:t>o de colunas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35150E5-664B-CA24-FE3B-B2BD5172110C}"/>
              </a:ext>
            </a:extLst>
          </p:cNvPr>
          <p:cNvSpPr txBox="1"/>
          <p:nvPr/>
        </p:nvSpPr>
        <p:spPr>
          <a:xfrm>
            <a:off x="657360" y="1972945"/>
            <a:ext cx="1087728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Pesquisar({ titulo, ano })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contains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titulo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},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...(!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isNaN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(ano)) &amp;&amp;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ano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orderBy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omit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2559590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Seleçã</a:t>
            </a:r>
            <a:r>
              <a:rPr lang="pt-BR" sz="5400" spc="-120" dirty="0">
                <a:solidFill>
                  <a:srgbClr val="549E39"/>
                </a:solidFill>
                <a:latin typeface="Calibri Light"/>
              </a:rPr>
              <a:t>o de colunas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35150E5-664B-CA24-FE3B-B2BD5172110C}"/>
              </a:ext>
            </a:extLst>
          </p:cNvPr>
          <p:cNvSpPr txBox="1"/>
          <p:nvPr/>
        </p:nvSpPr>
        <p:spPr>
          <a:xfrm>
            <a:off x="657360" y="1972945"/>
            <a:ext cx="108772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Pesquisar({ titulo, ano })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contains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titulo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...(!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isNaN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(ano)) &amp;&amp;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ano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orderBy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omit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id: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7030963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Paginação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definir a quantidade máxima de itens retornados da consulta, utilize o atributo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take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dentro do objeto passado como argumento da função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findMany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28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9264489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Paginação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1CA251-4DDC-EF64-4F5A-A854416C8898}"/>
              </a:ext>
            </a:extLst>
          </p:cNvPr>
          <p:cNvSpPr txBox="1"/>
          <p:nvPr/>
        </p:nvSpPr>
        <p:spPr>
          <a:xfrm>
            <a:off x="762359" y="1825072"/>
            <a:ext cx="1019196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Pesquisar({ titulo, ano })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contains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titulo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...(!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isNaN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(ano)) &amp;&amp;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ano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orderBy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take: 4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78889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Paginação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definir a quantidade de itens ignorados da consulta, utilize o atributo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skip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dentro do objeto passado como argumento da função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findMany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28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179796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Paginação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1CA251-4DDC-EF64-4F5A-A854416C8898}"/>
              </a:ext>
            </a:extLst>
          </p:cNvPr>
          <p:cNvSpPr txBox="1"/>
          <p:nvPr/>
        </p:nvSpPr>
        <p:spPr>
          <a:xfrm>
            <a:off x="762359" y="1825072"/>
            <a:ext cx="1019196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Pesquisar({ titulo, ano })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contains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titulo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...(!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isNaN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(ano)) &amp;&amp;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ano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orderBy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take: 4,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skip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2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26255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Consultas SQL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Caso não queira usar a sintaxe do Prisma para criar uma consulta, utilize o atributo `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queryRaw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`:</a:t>
            </a:r>
            <a:endParaRPr lang="pt-BR" sz="28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3BD1DC2-3E09-6B20-87E6-457C22139FF4}"/>
              </a:ext>
            </a:extLst>
          </p:cNvPr>
          <p:cNvSpPr txBox="1"/>
          <p:nvPr/>
        </p:nvSpPr>
        <p:spPr>
          <a:xfrm>
            <a:off x="166255" y="3407859"/>
            <a:ext cx="114992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Pesquisar({ titulo, ano })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prisma.$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queryRaw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</a:p>
          <a:p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</a:t>
            </a:r>
          </a:p>
          <a:p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"Livro"</a:t>
            </a:r>
          </a:p>
          <a:p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titulo like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'%' + titulo + '%'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"=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`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0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CB34757-AD33-2421-0309-53606097BE96}"/>
              </a:ext>
            </a:extLst>
          </p:cNvPr>
          <p:cNvSpPr txBox="1"/>
          <p:nvPr/>
        </p:nvSpPr>
        <p:spPr>
          <a:xfrm>
            <a:off x="7675419" y="6001206"/>
            <a:ext cx="4134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Essa pesquisa não permite ano NULL!</a:t>
            </a:r>
          </a:p>
        </p:txBody>
      </p:sp>
    </p:spTree>
    <p:extLst>
      <p:ext uri="{BB962C8B-B14F-4D97-AF65-F5344CB8AC3E}">
        <p14:creationId xmlns:p14="http://schemas.microsoft.com/office/powerpoint/2010/main" val="19609727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Editora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Antes de trabalhar com relacionamentos, vamos criar uma nova tabela, responsável pelo cadastro de editoras, das quais vamos armazenar os seguintes campos: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Identificador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Nome (máximo de 100 caracteres)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Sigla (única)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Cidade (opcional)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620707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Editora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Atualize o arquivo “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schema.prisma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” com a seguinte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model: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600" i="1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600" i="1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600" i="1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3BEC869-6F2B-8E11-3E21-D1B8A318EE5B}"/>
              </a:ext>
            </a:extLst>
          </p:cNvPr>
          <p:cNvSpPr txBox="1"/>
          <p:nvPr/>
        </p:nvSpPr>
        <p:spPr>
          <a:xfrm>
            <a:off x="762000" y="3068782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 Editora {</a:t>
            </a:r>
          </a:p>
          <a:p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id Int @id @default (autoincrement())</a:t>
            </a:r>
          </a:p>
          <a:p>
            <a:r>
              <a:rPr lang="it-IT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nome </a:t>
            </a:r>
            <a:r>
              <a:rPr lang="it-IT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it-IT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@db.VarChar(100)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sigla </a:t>
            </a:r>
            <a:r>
              <a:rPr lang="pt-BR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@unique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cidade </a:t>
            </a:r>
            <a:r>
              <a:rPr lang="pt-BR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25426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Editora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Utilize o comando </a:t>
            </a:r>
            <a:r>
              <a:rPr lang="pt-BR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npx</a:t>
            </a:r>
            <a:r>
              <a:rPr lang="pt-BR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prisma </a:t>
            </a:r>
            <a:r>
              <a:rPr lang="pt-BR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db</a:t>
            </a:r>
            <a:r>
              <a:rPr lang="pt-BR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</a:t>
            </a:r>
            <a:r>
              <a:rPr lang="pt-BR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enviar as alterações para a base de dados.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Utilize o comando </a:t>
            </a:r>
            <a:r>
              <a:rPr lang="pt-BR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npx</a:t>
            </a:r>
            <a:r>
              <a:rPr lang="pt-BR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prisma </a:t>
            </a:r>
            <a:r>
              <a:rPr lang="pt-BR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generate</a:t>
            </a:r>
            <a:r>
              <a:rPr lang="pt-BR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atualizar os arquivos de conexão.</a:t>
            </a:r>
            <a:endParaRPr lang="pt-BR" sz="28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2089354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Editora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Em “app/page.js”, crie um Link para a página de editoras:</a:t>
            </a:r>
            <a:endParaRPr lang="pt-BR" sz="28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60D02A7-F2C5-5054-8E75-9705BE4AF372}"/>
              </a:ext>
            </a:extLst>
          </p:cNvPr>
          <p:cNvSpPr txBox="1"/>
          <p:nvPr/>
        </p:nvSpPr>
        <p:spPr>
          <a:xfrm>
            <a:off x="762000" y="2868458"/>
            <a:ext cx="989676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"/livros"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"/editora"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Editoras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960644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Editora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Crie as pastas: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“app/editora”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“app/editora/novo”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“app/editora/[id]”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9003703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Editora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Em 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“app/editora”, crie o arquivo actions.js, com as funções que serão executadas no servidor, responsáveis pelas operações CRUD com a </a:t>
            </a:r>
            <a:r>
              <a:rPr lang="pt-BR" sz="3200" i="1" spc="-1" dirty="0">
                <a:solidFill>
                  <a:srgbClr val="262626"/>
                </a:solidFill>
                <a:latin typeface="Calibri Light"/>
              </a:rPr>
              <a:t>model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 de editoras.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5483445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48A865C-EC0C-6EAB-CD35-3BDBAF010E77}"/>
              </a:ext>
            </a:extLst>
          </p:cNvPr>
          <p:cNvSpPr txBox="1"/>
          <p:nvPr/>
        </p:nvSpPr>
        <p:spPr>
          <a:xfrm>
            <a:off x="0" y="0"/>
            <a:ext cx="12192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server'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prisma }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"../../../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lib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/prisma"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Listar()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prisma.editora.findMany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Salvar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prisma.editora.create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data: editora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Obter(id)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prisma.editora.findUnique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id: id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Atualizar(editora)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prisma.editora.update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id: editora.id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data: { ...editora, id: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undefined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Remover(id)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prisma.editora.delete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id: id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08542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Editora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Em “app/editora/”, crie o arquivo page.js, contendo o código para exibição e remoção das editoras.</a:t>
            </a:r>
            <a:endParaRPr lang="pt-BR" sz="28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5046486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48A865C-EC0C-6EAB-CD35-3BDBAF010E77}"/>
              </a:ext>
            </a:extLst>
          </p:cNvPr>
          <p:cNvSpPr txBox="1"/>
          <p:nvPr/>
        </p:nvSpPr>
        <p:spPr>
          <a:xfrm>
            <a:off x="0" y="0"/>
            <a:ext cx="12192000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"react"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'sweetalert2'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Listar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Remover }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"./actions"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Editoras() {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[dados,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([]);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[atualizar,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Listar();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(resultado);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buscar os dados"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timer: 3000,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position: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handleRemover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(id)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resposta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confirm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'Deseja realmente remover este editora?'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(resposta)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Remover(id);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(resultado)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"Editora removida com sucesso"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success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timer: 3000,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position: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remover a editora informada"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timer: 3000,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position: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 =&gt;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(atualizar)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}, [atualizar]);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setAtualizar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...... "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"Atualizar"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"ml-4 bg-blue-600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hover:bg-blue-700 active:bg-blue-800 disabled:bg-blue-200"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"/editora/novo"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Nova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"w-full"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"px-4"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Sigla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Cidade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"px-4"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Editar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Remover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dados.map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((p)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={p.id}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p.nome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"px-4"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p.sigla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p.cidade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</a:t>
            </a:r>
            <a:r>
              <a:rPr lang="pt-BR" sz="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`/editora/editar/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p.id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"text-blue-600 px-4"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Editar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</a:t>
            </a:r>
            <a:r>
              <a:rPr lang="pt-BR" sz="3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"text-red-600 cursor-pointer"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handleRemover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(p.id)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Remover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1851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Editora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Em “app/editora”, crie o arquivo schema.js, contendo o objeto de validação para editora.</a:t>
            </a:r>
            <a:endParaRPr lang="pt-BR" sz="28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49DB6A7-4E25-4AA8-FEC4-857282B7EFB1}"/>
              </a:ext>
            </a:extLst>
          </p:cNvPr>
          <p:cNvSpPr txBox="1"/>
          <p:nvPr/>
        </p:nvSpPr>
        <p:spPr>
          <a:xfrm>
            <a:off x="676800" y="3218639"/>
            <a:ext cx="105915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yup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"yup"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EditoraSchema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yup.object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nome: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yup.string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nome é obrigatório'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(100,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tamanho máximo do nome da editora é de 100 caracteres'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sigla: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yup.string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 sigla é obrigatória'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cidade: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yup.string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5576916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Editora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Em “app/editora/novo”, crie o arquivo page.js, contendo o código para cadastro de uma nova editora.</a:t>
            </a:r>
            <a:endParaRPr lang="pt-BR" sz="28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3162301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48A865C-EC0C-6EAB-CD35-3BDBAF010E77}"/>
              </a:ext>
            </a:extLst>
          </p:cNvPr>
          <p:cNvSpPr txBox="1"/>
          <p:nvPr/>
        </p:nvSpPr>
        <p:spPr>
          <a:xfrm>
            <a:off x="0" y="0"/>
            <a:ext cx="12192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'sweetalert2'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useRouter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"next/navigation"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Salvar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react-hook-form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EditoraSchema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"@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hookform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resolvers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Novo() {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useRouter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register,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formState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errors } } =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nome: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sigla: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cidade: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resolver: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EditoraSchema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(data) =&gt; 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Salvar(data);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(resultado) 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'Editora salva com sucesso'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success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timer: 3000,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position: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router.push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"/editora"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salvar a editora informada"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timer: 3000,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position: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 =&gt;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"mt-2 ml-2"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flex-row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flex-col space-y-1 text-right"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Nome</a:t>
            </a: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mx-2 px-2 py-2"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"nome"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</a:t>
            </a:r>
            <a:r>
              <a:rPr lang="en-US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sm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{errors?.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?.message}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Sigla</a:t>
            </a: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mx-2 px-2 py-2"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"sigla"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text-sm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?.sigla?.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Cidade</a:t>
            </a: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mx-2 px-2 py-2"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"cidade"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text-sm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?.cidade?.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"submit"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text-white px-4 py-2 rounded hover:bg-blue-700 active:bg-blue-800 disabled:bg-blue-200 ml-2"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={busy}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...... "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"Salvar"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07697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Editora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Em “app/editora/editar/[id]”, crie o arquivo page.js, contendo o código para edição de uma editora.</a:t>
            </a:r>
            <a:endParaRPr lang="pt-BR" sz="28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7430791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48A865C-EC0C-6EAB-CD35-3BDBAF010E77}"/>
              </a:ext>
            </a:extLst>
          </p:cNvPr>
          <p:cNvSpPr txBox="1"/>
          <p:nvPr/>
        </p:nvSpPr>
        <p:spPr>
          <a:xfrm>
            <a:off x="0" y="0"/>
            <a:ext cx="12192000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use,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"react"</a:t>
            </a:r>
            <a:endParaRPr lang="en-US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'sweetalert2'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useRouter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"next/navigation"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react-hook-form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"@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hookform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resolvers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Atualizar, Obter }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EditoraSchema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Editar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params }) {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useRouter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id } = use(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params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reset,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formState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}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nome: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sigla: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cidade: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resolver: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EditoraSchema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(data)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data.id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(id);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Atualizar(data);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(resultado)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'Editora salva com sucesso'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success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timer: 3000,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position: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router.push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"/editora"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salvar a editora informada"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timer: 3000,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position: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 =&gt;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handleCarregar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atual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idInt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(id);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atual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Obter(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idInt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router.replace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"/editoras"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(atual)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reset({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nome: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atual.nome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sigla: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atual.sigla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cidade: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atual.cidade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router.replace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"/editoras"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(id)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handleCarregar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}, [id]);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"mt-2 ml-2"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flex-row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flex-col space-y-1 text-right"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Nome</a:t>
            </a: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mx-2 px-2 py-2"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"nome"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en-US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</a:t>
            </a:r>
            <a:r>
              <a:rPr lang="en-US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sm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{errors?.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?.message}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Sigla</a:t>
            </a: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mx-2 px-2 py-2"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"sigla"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text-sm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?.sigla?.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Cidade</a:t>
            </a: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mx-2 px-2 py-2"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"cidade"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text-sm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?.cidade?.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 </a:t>
            </a:r>
            <a:r>
              <a:rPr lang="en-US" sz="3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"submit"</a:t>
            </a:r>
            <a:r>
              <a:rPr lang="en-US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text-white px-4 py-2 rounded hover:bg-blue-700 active:bg-blue-800 disabled:bg-blue-200 ml-2"</a:t>
            </a:r>
            <a:r>
              <a:rPr lang="en-US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={busy}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...... "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"Salvar"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69619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Com as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models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de editora e livro criadas, podemos criar um relacionamento entre elas.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Este relacionamento é um relacionamento de 1 para muitos, ou seja, 1 livro pode ser publicado por uma editora, mas uma editora pode publicar N livros.</a:t>
            </a:r>
          </a:p>
        </p:txBody>
      </p:sp>
    </p:spTree>
    <p:extLst>
      <p:ext uri="{BB962C8B-B14F-4D97-AF65-F5344CB8AC3E}">
        <p14:creationId xmlns:p14="http://schemas.microsoft.com/office/powerpoint/2010/main" val="12491567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Na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model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de livro, devemos adicionar uma chave estrangeira à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model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de editora, indicando a chave primária desta tabela.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fazer o relacionamento, também colocamos nesta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model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um objeto de Editora.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Em editora, adicionamos um vetor de Livro.</a:t>
            </a:r>
          </a:p>
        </p:txBody>
      </p:sp>
    </p:spTree>
    <p:extLst>
      <p:ext uri="{BB962C8B-B14F-4D97-AF65-F5344CB8AC3E}">
        <p14:creationId xmlns:p14="http://schemas.microsoft.com/office/powerpoint/2010/main" val="23062248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en-US" sz="3600" spc="-1" dirty="0">
                <a:solidFill>
                  <a:srgbClr val="262626"/>
                </a:solidFill>
                <a:latin typeface="Calibri Light"/>
              </a:rPr>
              <a:t>O </a:t>
            </a:r>
            <a:r>
              <a:rPr lang="en-US" sz="3600" spc="-1" dirty="0" err="1">
                <a:solidFill>
                  <a:srgbClr val="262626"/>
                </a:solidFill>
                <a:latin typeface="Calibri Light"/>
              </a:rPr>
              <a:t>arquivo</a:t>
            </a:r>
            <a:r>
              <a:rPr lang="en-US" sz="3600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spc="-1" dirty="0" err="1">
                <a:solidFill>
                  <a:srgbClr val="262626"/>
                </a:solidFill>
                <a:latin typeface="Calibri Light"/>
              </a:rPr>
              <a:t>schema.prisma</a:t>
            </a:r>
            <a:r>
              <a:rPr lang="en-US" sz="3600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spc="-1" dirty="0" err="1">
                <a:solidFill>
                  <a:srgbClr val="262626"/>
                </a:solidFill>
                <a:latin typeface="Calibri Light"/>
              </a:rPr>
              <a:t>ficará</a:t>
            </a:r>
            <a:r>
              <a:rPr lang="en-US" sz="3600" spc="-1" dirty="0">
                <a:solidFill>
                  <a:srgbClr val="262626"/>
                </a:solidFill>
                <a:latin typeface="Calibri Light"/>
              </a:rPr>
              <a:t> com as </a:t>
            </a:r>
            <a:r>
              <a:rPr lang="en-US" sz="3600" i="1" spc="-1" dirty="0">
                <a:solidFill>
                  <a:srgbClr val="262626"/>
                </a:solidFill>
                <a:latin typeface="Calibri Light"/>
              </a:rPr>
              <a:t>models </a:t>
            </a:r>
            <a:r>
              <a:rPr lang="en-US" sz="3600" spc="-1" dirty="0" err="1">
                <a:solidFill>
                  <a:srgbClr val="262626"/>
                </a:solidFill>
                <a:latin typeface="Calibri Light"/>
              </a:rPr>
              <a:t>assim</a:t>
            </a:r>
            <a:r>
              <a:rPr lang="en-US" sz="3600" spc="-1" dirty="0">
                <a:solidFill>
                  <a:srgbClr val="262626"/>
                </a:solidFill>
                <a:latin typeface="Calibri Light"/>
              </a:rPr>
              <a:t>:</a:t>
            </a:r>
            <a:endParaRPr lang="pt-BR" sz="36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E8AFC5B-5AE6-8B49-424B-DC2C93FAAD58}"/>
              </a:ext>
            </a:extLst>
          </p:cNvPr>
          <p:cNvSpPr txBox="1"/>
          <p:nvPr/>
        </p:nvSpPr>
        <p:spPr>
          <a:xfrm>
            <a:off x="761999" y="2791647"/>
            <a:ext cx="1049712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 Livro {</a:t>
            </a: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id            Int @id @default (autoincrement())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titulo        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editoraId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editora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@relation(fields: [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editoraId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],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references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[id])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 Editora {</a:t>
            </a: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id     Int @id @default (autoincrement())</a:t>
            </a:r>
          </a:p>
          <a:p>
            <a:r>
              <a:rPr lang="it-IT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nome   </a:t>
            </a:r>
            <a:r>
              <a:rPr lang="it-IT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it-IT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@db.VarChar(100)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sigla  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@unique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cidade 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?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livros Livro[]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35840237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Se utilizarmos o comando </a:t>
            </a:r>
            <a:r>
              <a:rPr lang="pt-BR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npx</a:t>
            </a:r>
            <a:r>
              <a:rPr lang="pt-BR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prisma </a:t>
            </a:r>
            <a:r>
              <a:rPr lang="pt-BR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db</a:t>
            </a:r>
            <a:r>
              <a:rPr lang="pt-BR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</a:t>
            </a:r>
            <a:r>
              <a:rPr lang="pt-BR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enviarmos as alterações para o banco, veremos um erro, pois como já há dados cadastrados na tabela de livro, o campo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editoraId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não pode ser nulo.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resolver isso: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Podemos definir um valor padrão para o campo </a:t>
            </a:r>
            <a:r>
              <a:rPr lang="pt-BR" sz="3200" spc="-1" dirty="0" err="1">
                <a:solidFill>
                  <a:srgbClr val="262626"/>
                </a:solidFill>
                <a:latin typeface="Calibri Light"/>
              </a:rPr>
              <a:t>editoraId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b="1" spc="-1" dirty="0">
                <a:solidFill>
                  <a:srgbClr val="262626"/>
                </a:solidFill>
                <a:latin typeface="Calibri Light"/>
              </a:rPr>
              <a:t>Podemos marcar </a:t>
            </a:r>
            <a:r>
              <a:rPr lang="pt-BR" sz="3200" b="1" spc="-1" dirty="0" err="1">
                <a:solidFill>
                  <a:srgbClr val="262626"/>
                </a:solidFill>
                <a:latin typeface="Calibri Light"/>
              </a:rPr>
              <a:t>editoraId</a:t>
            </a:r>
            <a:r>
              <a:rPr lang="pt-BR" sz="3200" b="1" spc="-1" dirty="0">
                <a:solidFill>
                  <a:srgbClr val="262626"/>
                </a:solidFill>
                <a:latin typeface="Calibri Light"/>
              </a:rPr>
              <a:t> como possível de ser nulo;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Apagamos todos os dados.</a:t>
            </a:r>
          </a:p>
        </p:txBody>
      </p:sp>
    </p:spTree>
    <p:extLst>
      <p:ext uri="{BB962C8B-B14F-4D97-AF65-F5344CB8AC3E}">
        <p14:creationId xmlns:p14="http://schemas.microsoft.com/office/powerpoint/2010/main" val="36246857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O arquivo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schema.prisma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ficará assim: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1185F3E-5643-3AE4-6EB8-ECD3560908BD}"/>
              </a:ext>
            </a:extLst>
          </p:cNvPr>
          <p:cNvSpPr txBox="1"/>
          <p:nvPr/>
        </p:nvSpPr>
        <p:spPr>
          <a:xfrm>
            <a:off x="827760" y="2538390"/>
            <a:ext cx="106874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generator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provider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"prisma-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output =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generated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/prisma"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datasource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provider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postgresql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 Livro {</a:t>
            </a:r>
          </a:p>
          <a:p>
            <a:r>
              <a:rPr lang="fr-F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id            Int @id @default (autoincrement())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titulo        </a:t>
            </a:r>
            <a:r>
              <a:rPr lang="pt-BR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editoraId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?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editora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? @relation(fields: [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editoraId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],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references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[id])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 Editora {</a:t>
            </a:r>
          </a:p>
          <a:p>
            <a:r>
              <a:rPr lang="fr-F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id     Int @id @default (autoincrement())</a:t>
            </a:r>
          </a:p>
          <a:p>
            <a:r>
              <a:rPr lang="it-IT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nome   String @db.VarChar(100)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sigla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@unique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cidade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?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livros Livro[]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780952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Execute os comandos:</a:t>
            </a:r>
          </a:p>
          <a:p>
            <a:pPr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npx</a:t>
            </a:r>
            <a:r>
              <a:rPr lang="pt-BR" sz="3200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prisma </a:t>
            </a:r>
            <a:r>
              <a:rPr lang="pt-BR" sz="3200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db</a:t>
            </a:r>
            <a:r>
              <a:rPr lang="pt-BR" sz="3200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sz="3200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</a:t>
            </a:r>
            <a:endParaRPr lang="pt-BR" sz="3600" b="1" spc="-1" dirty="0">
              <a:solidFill>
                <a:srgbClr val="262626"/>
              </a:solidFill>
              <a:latin typeface="Calibri Light"/>
              <a:cs typeface="Cascadia Code" panose="020B0609020000020004" pitchFamily="49" charset="0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</a:pPr>
            <a:r>
              <a:rPr lang="pt-BR" sz="3200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npx</a:t>
            </a:r>
            <a:r>
              <a:rPr lang="pt-BR" sz="3200" b="1" spc="-1" dirty="0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prisma </a:t>
            </a:r>
            <a:r>
              <a:rPr lang="pt-BR" sz="3200" b="1" spc="-1" dirty="0" err="1">
                <a:solidFill>
                  <a:srgbClr val="26262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generate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5685779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Precisamos agora alterar as telas de cadastro e atualização de livro, adicionando um campo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select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que deve vir preenchido com as editoras cadastradas.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Em “app/livros/novo/page.js”, crie um estado para armazenar as editoras cadastradas: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2FCEDF-8C40-98FD-C41D-4493A7E17890}"/>
              </a:ext>
            </a:extLst>
          </p:cNvPr>
          <p:cNvSpPr txBox="1"/>
          <p:nvPr/>
        </p:nvSpPr>
        <p:spPr>
          <a:xfrm>
            <a:off x="761999" y="5010835"/>
            <a:ext cx="99429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[editoras,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setEditoras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([]);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2660072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Atualize 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schema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de livro para que aceite o campo da editora: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CE822A1-40B1-EEED-1E15-2891C0A5F2CE}"/>
              </a:ext>
            </a:extLst>
          </p:cNvPr>
          <p:cNvSpPr txBox="1"/>
          <p:nvPr/>
        </p:nvSpPr>
        <p:spPr>
          <a:xfrm>
            <a:off x="762000" y="3229090"/>
            <a:ext cx="1087581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yup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"yup"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LivroSchema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yup.object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titulo: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yup.string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.min(2,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título deve possuir, no mínimo, 2 caracteres'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(100,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título deve possuir, no máximo, 100 caracteres'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título é obrigatório'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yup.number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integer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.min(1500,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valor mínimo de ano de publicação é 1500'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(2026,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valor máximo de ano de publicação é 1500'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ano de publicação é obrigatório'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typeError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ano de publicação é obrigatório'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editoraId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yup.string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1842324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Atualize o objeto inicial do Hook do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Hook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Forms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: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D648391-0709-0102-05B0-3D35CB838B1F}"/>
              </a:ext>
            </a:extLst>
          </p:cNvPr>
          <p:cNvSpPr txBox="1"/>
          <p:nvPr/>
        </p:nvSpPr>
        <p:spPr>
          <a:xfrm>
            <a:off x="762000" y="2683593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register,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formState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errors } } =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titulo: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editoraId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resolver: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LivroSchema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914893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Crie uma função para carregar as editoras, que faz uma chamada para a função Listar do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actions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de editora: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3754663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Não esqueça de importar corretamente a função Listar: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73BB7F-978E-842F-1EAD-ADFCDA534F80}"/>
              </a:ext>
            </a:extLst>
          </p:cNvPr>
          <p:cNvSpPr txBox="1"/>
          <p:nvPr/>
        </p:nvSpPr>
        <p:spPr>
          <a:xfrm>
            <a:off x="656999" y="1876496"/>
            <a:ext cx="89580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carregarEditoras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Listar();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setEditoras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(resultado);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0F4DF11-7178-AE98-E8C3-82A361FC860D}"/>
              </a:ext>
            </a:extLst>
          </p:cNvPr>
          <p:cNvSpPr txBox="1"/>
          <p:nvPr/>
        </p:nvSpPr>
        <p:spPr>
          <a:xfrm>
            <a:off x="762000" y="4000154"/>
            <a:ext cx="10303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"@/app/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/actions"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85839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Crie um efeito que, após a montagem inicial da página, retorne as editoras cadastradas: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6714B20-DD33-0EB0-F614-785BC49B23BC}"/>
              </a:ext>
            </a:extLst>
          </p:cNvPr>
          <p:cNvSpPr txBox="1"/>
          <p:nvPr/>
        </p:nvSpPr>
        <p:spPr>
          <a:xfrm>
            <a:off x="761999" y="3207815"/>
            <a:ext cx="88715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carregarEditoras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}, []);</a:t>
            </a:r>
            <a:endParaRPr lang="pt-BR" sz="2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B1D42FE-0483-BEF1-0287-E31E930042B3}"/>
              </a:ext>
            </a:extLst>
          </p:cNvPr>
          <p:cNvSpPr txBox="1"/>
          <p:nvPr/>
        </p:nvSpPr>
        <p:spPr>
          <a:xfrm>
            <a:off x="761999" y="5090664"/>
            <a:ext cx="94903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"react"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7249319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Dentro do formulário, crie um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select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que será preenchido com os valores das editoras recuperadas: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6714B20-DD33-0EB0-F614-785BC49B23BC}"/>
              </a:ext>
            </a:extLst>
          </p:cNvPr>
          <p:cNvSpPr txBox="1"/>
          <p:nvPr/>
        </p:nvSpPr>
        <p:spPr>
          <a:xfrm>
            <a:off x="761999" y="3207815"/>
            <a:ext cx="1111596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Editora</a:t>
            </a:r>
          </a:p>
          <a:p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  <a:r>
              <a:rPr lang="en-US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border ml-2 px-2 py-2"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{...register(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editoraId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={0}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Nenhuma</a:t>
            </a:r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editoras?.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map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={p.id}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={p.id}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p.nome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7876381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AC77E56-9271-32E1-F24B-FE2FF334F929}"/>
              </a:ext>
            </a:extLst>
          </p:cNvPr>
          <p:cNvSpPr txBox="1"/>
          <p:nvPr/>
        </p:nvSpPr>
        <p:spPr>
          <a:xfrm>
            <a:off x="0" y="0"/>
            <a:ext cx="12192000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"react"</a:t>
            </a:r>
            <a:endParaRPr lang="en-US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react-hook-form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"@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hookform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resolvers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LivroSchema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Salvar }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'sweetalert2'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useRouter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"next/navigation"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Listar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"@/app/</a:t>
            </a:r>
            <a:r>
              <a:rPr lang="en-US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/actions"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Novo() {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useRouter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[editoras,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setEditoras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([]);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register,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formState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errors } } = 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editoraId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resolver: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LivroSchema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(data) =&gt;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Salvar(data);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resultado.sucesso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success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timer: 3000,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position: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router.push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"/livros"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mensagem =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buscar os dados"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mensagem =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mensagem,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timer: 3000,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position: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carregarEditoras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Listar();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setEditoras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(resultado);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(() =&gt;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carregarEditoras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}, []);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"mt-2 ml-2"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flex-row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gap-8"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Título</a:t>
            </a: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mx-2 px-2 py-2"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"titulo"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text-sm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?.titulo?.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Ano de publicação</a:t>
            </a: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ml-2 px-2 py-2"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text-sm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Editora</a:t>
            </a: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  <a:r>
              <a:rPr lang="en-US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border ml-2 px-2 py-2"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{...register(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editoraId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={0}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Nenhuma</a:t>
            </a:r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editoras?.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map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={p.id}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={p.id}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p.nome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"submit"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text-white px-4 py-2 rounded hover:bg-blue-700 active:bg-blue-800 disabled:bg-blue-200 ml-2"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={busy}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...... "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"Salvar"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66098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Atualize a função Salvar em “app/livros/actions.js” para armazenar corretamente o valor da editora escolhida: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1C4A37E-39A1-E6E8-2A3B-15C7527CB0FE}"/>
              </a:ext>
            </a:extLst>
          </p:cNvPr>
          <p:cNvSpPr txBox="1"/>
          <p:nvPr/>
        </p:nvSpPr>
        <p:spPr>
          <a:xfrm>
            <a:off x="762000" y="3136542"/>
            <a:ext cx="1025698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Salvar(livro) {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livro.editoraId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=== 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livro.editoraId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fr-F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livro.editoraId = parseInt(livro.editoraId);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Validar(livro);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(e)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sucesso: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mensagem: e };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resultado =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prisma.livro.create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data: livro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sucesso: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mensagem: 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'Erro na inserção'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sucesso: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dados: resultado, mensagem: 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'Inserção realizada com sucesso'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42119943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Atualize a função Validar em “app/livros/actions.js” para verificar se a editora escolhida realmente existe: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1C4A37E-39A1-E6E8-2A3B-15C7527CB0FE}"/>
              </a:ext>
            </a:extLst>
          </p:cNvPr>
          <p:cNvSpPr txBox="1"/>
          <p:nvPr/>
        </p:nvSpPr>
        <p:spPr>
          <a:xfrm>
            <a:off x="762000" y="3136542"/>
            <a:ext cx="10256982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Validar(livro) {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livro.titulo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livro.titulo?.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trim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livro.titulo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||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livro.titulo.length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2 ||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livro.titulo.length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 100)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throw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'Título inválido'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livro.anoPublicacao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||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livro.anoPublicacao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1500 ||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livro.anoPublicacao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 2026)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throw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'Ano de publicação inválido'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livro.editoraId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editora =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prisma.editora.findUnique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id: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livro.editoraId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(!editora)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throw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inválida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9451346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Uma vez salvo o livro, na página de pesquisa, podemos ver que o objeto retornado possui apenas o id da editora escolhida (ou nulo, caso nenhuma editora tenha sido selecionada).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recuperar os dados da editora juntamente com os dados do livro, utilizamos o objeto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include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na função Pesquisar, em “app/livros/actions.js”: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1801045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AA2C4D5-0C83-D4E2-E0A8-F0BA3D25C4A2}"/>
              </a:ext>
            </a:extLst>
          </p:cNvPr>
          <p:cNvSpPr txBox="1"/>
          <p:nvPr/>
        </p:nvSpPr>
        <p:spPr>
          <a:xfrm>
            <a:off x="709860" y="1991226"/>
            <a:ext cx="1077228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Pesquisar({ titulo, ano })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 =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prisma.livro.findMany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contains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titulo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},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...(!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isNaN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(ano)) &amp;&amp;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ano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orderBy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asc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include: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editora: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livros;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77669255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Na página de pesquisa de livros, basta acessarmos o atributo nome do objeto editora do livro desejado, caso a editora seja diferente de nulo.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52159940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06A8C2-9F24-E7AE-6F64-65BD8BDA05FA}"/>
              </a:ext>
            </a:extLst>
          </p:cNvPr>
          <p:cNvSpPr txBox="1"/>
          <p:nvPr/>
        </p:nvSpPr>
        <p:spPr>
          <a:xfrm>
            <a:off x="762360" y="2010580"/>
            <a:ext cx="1092164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"w-full"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Título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 de Publicação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thead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dados.map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((p)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={p.id}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p.titulo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p.anoPublicacao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it-IT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it-IT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it-IT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it-IT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it-IT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{p.editora?.nome}</a:t>
            </a:r>
            <a:r>
              <a:rPr lang="it-IT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it-IT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it-IT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it-IT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`/livros/editar/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${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p.id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`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"text-blue-600 pl-2"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Editar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"#"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"text-red-600 pl-2"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={()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handleRemover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(p.id)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}}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Remover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td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tbody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341797112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editar um livro, como feito na criação, devemos trazer todas as editoras e preencher um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select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com elas.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Essa função deve executar antes da função que busca os dados do livro.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Após recuperar os dados do livro, o valor deste campo, no estado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dados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deve conter o valor da chave estrangeira correspondente (ou ‘’, caso o valor seja nulo).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91584551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696C62-E167-176F-DE13-A3707307A2D1}"/>
              </a:ext>
            </a:extLst>
          </p:cNvPr>
          <p:cNvSpPr txBox="1"/>
          <p:nvPr/>
        </p:nvSpPr>
        <p:spPr>
          <a:xfrm>
            <a:off x="0" y="0"/>
            <a:ext cx="12192000" cy="604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use,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"react"</a:t>
            </a:r>
            <a:endParaRPr lang="en-US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react-hook-form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"@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hookform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resolvers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LivroSchema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Atualizar, Obter }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actions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'sweetalert2'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useRouter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"next/navigation"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Listar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"@/app/</a:t>
            </a:r>
            <a:r>
              <a:rPr lang="en-US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/actions"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Novo({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params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 {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[busy,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useRouter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id } = use(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params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[editoras,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setEditoras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([]);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reset,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formState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}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titulo: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editoraId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resolver: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LivroSchema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(data)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data.id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(id);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Atualizar(data);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resultado.sucesso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success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timer: 3000,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position: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router.push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"/livros"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mensagem =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 ao buscar os dados"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mensagem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resultado.mensagem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mensagem,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timer: 3000,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position: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handleCarregar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atual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idInt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parseInt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(id);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carregarEditoras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atual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Obter(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idInt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router.replace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"/livros"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(atual)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reset({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titulo: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atual.titulo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atual.anoPublicacao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editoraId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atual.editoraId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?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atual.editoraId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router.replace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"/livros"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carregarEditoras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Listar();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setEditoras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(resultado);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(() =&gt;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(id) {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handleCarregar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}, [id]);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"mt-2 ml-2"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flex-row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gap-8"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Título</a:t>
            </a: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mx-2 px-2 py-2"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"titulo"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text-sm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?.titulo?.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Ano de publicação</a:t>
            </a: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ml-2 px-2 py-2"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text-sm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anoPublicacao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Editora</a:t>
            </a:r>
          </a:p>
          <a:p>
            <a:r>
              <a:rPr lang="en-US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  <a:r>
              <a:rPr lang="en-US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"bg-neutral-50 border ml-2 px-2 py-2"</a:t>
            </a:r>
            <a:r>
              <a:rPr lang="en-US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{...register(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editoraId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3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={0}</a:t>
            </a:r>
            <a:r>
              <a:rPr lang="en-US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3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Nenhuma</a:t>
            </a:r>
            <a:r>
              <a:rPr lang="en-US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editoras?.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map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={p.id}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={p.id}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p.nome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 </a:t>
            </a:r>
            <a:r>
              <a:rPr lang="en-US" sz="3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"submit"</a:t>
            </a:r>
            <a:r>
              <a:rPr lang="en-US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"bg-blue-600 text-white px-4 py-2 rounded hover:bg-blue-700 active:bg-blue-800 disabled:bg-blue-200 ml-2"</a:t>
            </a:r>
            <a:r>
              <a:rPr lang="en-US" sz="3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={busy}</a:t>
            </a:r>
            <a:r>
              <a:rPr lang="en-US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busy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...... "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"Salvar"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3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93715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Relacionamentos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atualizar o valor da editora, atualize a função 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Atualizar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em “app/livros/actions.js”:</a:t>
            </a:r>
            <a:endParaRPr lang="pt-BR" sz="32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88B9C69-8F70-7CAE-EE7C-11A33FAEB7C1}"/>
              </a:ext>
            </a:extLst>
          </p:cNvPr>
          <p:cNvSpPr txBox="1"/>
          <p:nvPr/>
        </p:nvSpPr>
        <p:spPr>
          <a:xfrm>
            <a:off x="762000" y="3173580"/>
            <a:ext cx="1025698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Atualizar(livro) {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livro.editoraId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=== 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livro.editoraId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fr-F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livro.editoraId = parseInt(livro.editoraId);</a:t>
            </a: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Validar(livro);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(e) {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sucesso: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mensagem: e };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resultado =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resultado =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prisma.livro.update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id: livro.id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},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data: { ...livro, id: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undefined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sucesso: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mensagem: 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'Erro na atualização'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};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sucesso: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dados: resultado, mensagem: 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'Atualização realizada com sucesso'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};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500" dirty="0"/>
          </a:p>
        </p:txBody>
      </p:sp>
    </p:spTree>
    <p:extLst>
      <p:ext uri="{BB962C8B-B14F-4D97-AF65-F5344CB8AC3E}">
        <p14:creationId xmlns:p14="http://schemas.microsoft.com/office/powerpoint/2010/main" val="2778969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TM03457491[[fn=Metropolitano]]</Template>
  <TotalTime>1594</TotalTime>
  <Words>10524</Words>
  <Application>Microsoft Office PowerPoint</Application>
  <PresentationFormat>Widescreen</PresentationFormat>
  <Paragraphs>1683</Paragraphs>
  <Slides>84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84</vt:i4>
      </vt:variant>
    </vt:vector>
  </HeadingPairs>
  <TitlesOfParts>
    <vt:vector size="93" baseType="lpstr">
      <vt:lpstr>Arial</vt:lpstr>
      <vt:lpstr>Calibri Light</vt:lpstr>
      <vt:lpstr>Cascadia Code</vt:lpstr>
      <vt:lpstr>Cascadia Mono</vt:lpstr>
      <vt:lpstr>Symbol</vt:lpstr>
      <vt:lpstr>Times New Roman</vt:lpstr>
      <vt:lpstr>Wingdings</vt:lpstr>
      <vt:lpstr>Office Theme</vt:lpstr>
      <vt:lpstr>Office Theme</vt:lpstr>
      <vt:lpstr>Desenvolvimento Web III</vt:lpstr>
      <vt:lpstr>Introdução</vt:lpstr>
      <vt:lpstr>Introdução</vt:lpstr>
      <vt:lpstr>Introdução</vt:lpstr>
      <vt:lpstr>Introdução</vt:lpstr>
      <vt:lpstr>Filtragem de dados</vt:lpstr>
      <vt:lpstr>Filtragem de dados</vt:lpstr>
      <vt:lpstr>Filtragem de dados</vt:lpstr>
      <vt:lpstr>Filtragem de dados</vt:lpstr>
      <vt:lpstr>Filtragem de dados</vt:lpstr>
      <vt:lpstr>Filtragem de dados</vt:lpstr>
      <vt:lpstr>Filtragem de dados</vt:lpstr>
      <vt:lpstr>Filtragem de dados</vt:lpstr>
      <vt:lpstr>Filtragem de dados</vt:lpstr>
      <vt:lpstr>Filtragem de dados</vt:lpstr>
      <vt:lpstr>Apresentação do PowerPoint</vt:lpstr>
      <vt:lpstr>Filtragem de dados</vt:lpstr>
      <vt:lpstr>Filtragem de dados</vt:lpstr>
      <vt:lpstr>Filtragem de dados</vt:lpstr>
      <vt:lpstr>Filtragem de dados</vt:lpstr>
      <vt:lpstr>Filtragem de dados</vt:lpstr>
      <vt:lpstr>Filtragem de dados</vt:lpstr>
      <vt:lpstr>Apresentação do PowerPoint</vt:lpstr>
      <vt:lpstr>Filtragem de dados</vt:lpstr>
      <vt:lpstr>Filtragem de dados</vt:lpstr>
      <vt:lpstr>Filtragem de dados</vt:lpstr>
      <vt:lpstr>Filtragem de dados</vt:lpstr>
      <vt:lpstr>Filtragem de dados</vt:lpstr>
      <vt:lpstr>Apresentação do PowerPoint</vt:lpstr>
      <vt:lpstr>Filtragem de dados</vt:lpstr>
      <vt:lpstr>Filtragem de dados</vt:lpstr>
      <vt:lpstr>Filtragem de dados</vt:lpstr>
      <vt:lpstr>Ordenação de dados</vt:lpstr>
      <vt:lpstr>Ordenação de dados</vt:lpstr>
      <vt:lpstr>Ordenação de dados</vt:lpstr>
      <vt:lpstr>Ordenação de dados</vt:lpstr>
      <vt:lpstr>Seleção de colunas</vt:lpstr>
      <vt:lpstr>Seleção de colunas</vt:lpstr>
      <vt:lpstr>Seleção de colunas</vt:lpstr>
      <vt:lpstr>Seleção de colunas</vt:lpstr>
      <vt:lpstr>Seleção de colunas</vt:lpstr>
      <vt:lpstr>Seleção de colunas</vt:lpstr>
      <vt:lpstr>Paginação</vt:lpstr>
      <vt:lpstr>Paginação</vt:lpstr>
      <vt:lpstr>Paginação</vt:lpstr>
      <vt:lpstr>Paginação</vt:lpstr>
      <vt:lpstr>Consultas SQL</vt:lpstr>
      <vt:lpstr>Editora</vt:lpstr>
      <vt:lpstr>Editora</vt:lpstr>
      <vt:lpstr>Editora</vt:lpstr>
      <vt:lpstr>Editora</vt:lpstr>
      <vt:lpstr>Editora</vt:lpstr>
      <vt:lpstr>Editora</vt:lpstr>
      <vt:lpstr>Apresentação do PowerPoint</vt:lpstr>
      <vt:lpstr>Editora</vt:lpstr>
      <vt:lpstr>Apresentação do PowerPoint</vt:lpstr>
      <vt:lpstr>Editora</vt:lpstr>
      <vt:lpstr>Editora</vt:lpstr>
      <vt:lpstr>Apresentação do PowerPoint</vt:lpstr>
      <vt:lpstr>Editora</vt:lpstr>
      <vt:lpstr>Apresentação do PowerPoint</vt:lpstr>
      <vt:lpstr>Relacionamentos</vt:lpstr>
      <vt:lpstr>Relacionamentos</vt:lpstr>
      <vt:lpstr>Relacionamentos</vt:lpstr>
      <vt:lpstr>Relacionamentos</vt:lpstr>
      <vt:lpstr>Relacionamentos</vt:lpstr>
      <vt:lpstr>Relacionamentos</vt:lpstr>
      <vt:lpstr>Relacionamentos</vt:lpstr>
      <vt:lpstr>Relacionamentos</vt:lpstr>
      <vt:lpstr>Relacionamentos</vt:lpstr>
      <vt:lpstr>Relacionamentos</vt:lpstr>
      <vt:lpstr>Relacionamentos</vt:lpstr>
      <vt:lpstr>Relacionamentos</vt:lpstr>
      <vt:lpstr>Relacionamentos</vt:lpstr>
      <vt:lpstr>Apresentação do PowerPoint</vt:lpstr>
      <vt:lpstr>Relacionamentos</vt:lpstr>
      <vt:lpstr>Relacionamentos</vt:lpstr>
      <vt:lpstr>Relacionamentos</vt:lpstr>
      <vt:lpstr>Relacionamentos</vt:lpstr>
      <vt:lpstr>Relacionamentos</vt:lpstr>
      <vt:lpstr>Relacionamentos</vt:lpstr>
      <vt:lpstr>Relacionamentos</vt:lpstr>
      <vt:lpstr>Apresentação do PowerPoint</vt:lpstr>
      <vt:lpstr>Relacionamentos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Web III</dc:title>
  <dc:subject/>
  <dc:creator>Tiago Docusse</dc:creator>
  <dc:description/>
  <cp:lastModifiedBy>Tiago Docusse</cp:lastModifiedBy>
  <cp:revision>338</cp:revision>
  <dcterms:created xsi:type="dcterms:W3CDTF">2020-10-26T16:07:06Z</dcterms:created>
  <dcterms:modified xsi:type="dcterms:W3CDTF">2026-04-17T12:18:45Z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Widescreen</vt:lpwstr>
  </property>
  <property fmtid="{D5CDD505-2E9C-101B-9397-08002B2CF9AE}" pid="4" name="Slides">
    <vt:i4>123</vt:i4>
  </property>
</Properties>
</file>