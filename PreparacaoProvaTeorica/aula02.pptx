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3"/>
  </p:notes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12" r:id="rId12"/>
    <p:sldId id="322" r:id="rId13"/>
    <p:sldId id="323" r:id="rId14"/>
    <p:sldId id="324" r:id="rId15"/>
    <p:sldId id="325" r:id="rId16"/>
    <p:sldId id="335" r:id="rId17"/>
    <p:sldId id="336" r:id="rId18"/>
    <p:sldId id="337" r:id="rId19"/>
    <p:sldId id="338" r:id="rId20"/>
    <p:sldId id="292" r:id="rId21"/>
    <p:sldId id="293" r:id="rId22"/>
    <p:sldId id="294" r:id="rId23"/>
    <p:sldId id="295" r:id="rId24"/>
    <p:sldId id="339" r:id="rId25"/>
    <p:sldId id="321" r:id="rId26"/>
    <p:sldId id="314" r:id="rId27"/>
    <p:sldId id="315" r:id="rId28"/>
    <p:sldId id="316" r:id="rId29"/>
    <p:sldId id="317" r:id="rId30"/>
    <p:sldId id="318" r:id="rId31"/>
    <p:sldId id="31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9E3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1C043-8A99-6678-AA3B-3767E928102C}" v="603" dt="2022-07-06T01:12:02.6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949C9-9CE7-4F3E-9D45-43DA33BA51FD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682CE-1854-4397-8FED-D567AEDD3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63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82CE-1854-4397-8FED-D567AEDD370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42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463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59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48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13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84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33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12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33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482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79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54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90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10D64-6AAB-4E3A-AE90-701163AD6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41" y="637953"/>
            <a:ext cx="10417155" cy="3189507"/>
          </a:xfrm>
        </p:spPr>
        <p:txBody>
          <a:bodyPr>
            <a:normAutofit/>
          </a:bodyPr>
          <a:lstStyle/>
          <a:p>
            <a:pPr algn="l"/>
            <a:r>
              <a:rPr lang="pt-BR" sz="8000" dirty="0">
                <a:solidFill>
                  <a:srgbClr val="FFFFFF"/>
                </a:solidFill>
              </a:rPr>
              <a:t>Desenvolvimento </a:t>
            </a:r>
            <a:r>
              <a:rPr lang="pt-BR" sz="8000" i="1" dirty="0">
                <a:solidFill>
                  <a:srgbClr val="FFFFFF"/>
                </a:solidFill>
              </a:rPr>
              <a:t>Web</a:t>
            </a:r>
            <a:r>
              <a:rPr lang="pt-BR" sz="8000" dirty="0">
                <a:solidFill>
                  <a:srgbClr val="FFFFFF"/>
                </a:solidFill>
              </a:rPr>
              <a:t>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49E26A-A090-4D30-87AD-C7DEA044D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42" y="4377268"/>
            <a:ext cx="10559198" cy="443307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pt-BR" sz="2800" dirty="0">
                <a:solidFill>
                  <a:srgbClr val="FEFFFF"/>
                </a:solidFill>
              </a:rPr>
              <a:t>Tecnologia em Análise e Desenvolvimento de Sistemas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89F292C6-BDFD-42AC-8D23-A1D71C6BB608}"/>
              </a:ext>
            </a:extLst>
          </p:cNvPr>
          <p:cNvSpPr txBox="1">
            <a:spLocks/>
          </p:cNvSpPr>
          <p:nvPr/>
        </p:nvSpPr>
        <p:spPr>
          <a:xfrm>
            <a:off x="3754582" y="6220047"/>
            <a:ext cx="4682835" cy="44330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rgbClr val="26262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rgbClr val="FEFFFF"/>
                </a:solidFill>
              </a:rPr>
              <a:t>Aula 2 – Ciclo de vida e estados</a:t>
            </a:r>
          </a:p>
        </p:txBody>
      </p:sp>
    </p:spTree>
    <p:extLst>
      <p:ext uri="{BB962C8B-B14F-4D97-AF65-F5344CB8AC3E}">
        <p14:creationId xmlns:p14="http://schemas.microsoft.com/office/powerpoint/2010/main" val="184547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Antes de adicionarmos interatividade aos componentes, é necessário discutir o ciclo de vida dos componentes em </a:t>
            </a:r>
            <a:r>
              <a:rPr lang="pt-BR" sz="3200" dirty="0" err="1"/>
              <a:t>React</a:t>
            </a:r>
            <a:r>
              <a:rPr lang="pt-BR" sz="3200" dirty="0"/>
              <a:t>.</a:t>
            </a:r>
          </a:p>
          <a:p>
            <a:r>
              <a:rPr lang="pt-BR" sz="3200" dirty="0"/>
              <a:t>Quando uma página é solicitada ao servidor </a:t>
            </a:r>
            <a:r>
              <a:rPr lang="pt-BR" sz="3200" i="1" dirty="0"/>
              <a:t>web</a:t>
            </a:r>
            <a:r>
              <a:rPr lang="pt-BR" sz="3200" dirty="0"/>
              <a:t>, ele realiza seu processamento e envia para o navegador uma página HTML com seus arquivos estáticos (CSS, imagens, etc.), bem como um código Javascript com a lógica a ser executada e um arquivo JSON, com os dados a serem preenchidos na página, em um processo chamado hidratação.</a:t>
            </a:r>
          </a:p>
        </p:txBody>
      </p:sp>
    </p:spTree>
    <p:extLst>
      <p:ext uri="{BB962C8B-B14F-4D97-AF65-F5344CB8AC3E}">
        <p14:creationId xmlns:p14="http://schemas.microsoft.com/office/powerpoint/2010/main" val="1169061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Feito esse carregamento da página, a ideia da utilização do </a:t>
            </a:r>
            <a:r>
              <a:rPr lang="pt-BR" sz="3200" dirty="0" err="1"/>
              <a:t>React</a:t>
            </a:r>
            <a:r>
              <a:rPr lang="pt-BR" sz="3200" dirty="0"/>
              <a:t> é que todo o processamento seja feito pelo navegador, sem necessidade de solicitar novamente ao servidor </a:t>
            </a:r>
            <a:r>
              <a:rPr lang="pt-BR" sz="3200" i="1" dirty="0"/>
              <a:t>web </a:t>
            </a:r>
            <a:r>
              <a:rPr lang="pt-BR" sz="3200" dirty="0"/>
              <a:t>a página completa através de uma requisição.</a:t>
            </a:r>
          </a:p>
          <a:p>
            <a:r>
              <a:rPr lang="pt-BR" sz="3200" b="1" dirty="0"/>
              <a:t>Isso era o que ocorria até versões anteriores do </a:t>
            </a:r>
            <a:r>
              <a:rPr lang="pt-BR" sz="3200" b="1" dirty="0" err="1"/>
              <a:t>React</a:t>
            </a:r>
            <a:r>
              <a:rPr lang="pt-BR" sz="3200" b="1" dirty="0"/>
              <a:t>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48409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Vantagens desta abordagem: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Menor processamento no servidor;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Maior interatividade da página.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3200" dirty="0"/>
              <a:t>Desvantagens desta abordagem: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Arquivos grandes enviados ao cliente;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Segurança com dados restritos.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61596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 de renderização de 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620029"/>
          </a:xfrm>
        </p:spPr>
        <p:txBody>
          <a:bodyPr>
            <a:normAutofit/>
          </a:bodyPr>
          <a:lstStyle/>
          <a:p>
            <a:r>
              <a:rPr lang="pt-BR" sz="3200" dirty="0"/>
              <a:t>Versões recentes do </a:t>
            </a:r>
            <a:r>
              <a:rPr lang="pt-BR" sz="3200" dirty="0" err="1"/>
              <a:t>React</a:t>
            </a:r>
            <a:r>
              <a:rPr lang="pt-BR" sz="3200" dirty="0"/>
              <a:t> resolvem este problema permitindo que se escolha se os componentes (ou suas partes) serão renderizados no cliente ou no servidor </a:t>
            </a:r>
            <a:r>
              <a:rPr lang="pt-BR" sz="3200" i="1" dirty="0"/>
              <a:t>web.</a:t>
            </a:r>
          </a:p>
          <a:p>
            <a:r>
              <a:rPr lang="pt-BR" sz="3200" dirty="0"/>
              <a:t>Se houver algum dado sensível que não pode ser enviado ao cliente, o componente (ou sua parte) deve ser renderizado no servidor;</a:t>
            </a:r>
          </a:p>
          <a:p>
            <a:r>
              <a:rPr lang="pt-BR" sz="3200" dirty="0"/>
              <a:t>Da mesma forma, dados estáticos podem ser renderizados no servidor para diminuir o tamanho do arquivo enviado ao cliente.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85985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 de renderização de 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Já componentes que utilizam interatividade com o usuário (clique de um botão, por exemplo), devem continuar a ser renderizados no cliente.</a:t>
            </a:r>
          </a:p>
          <a:p>
            <a:r>
              <a:rPr lang="pt-BR" sz="3200" dirty="0"/>
              <a:t>É possível ter componentes renderizados no servidor que incluem componentes renderizados no cliente, da mesma forma que é possível que componentes renderizados no cliente incluam componentes renderizados no servidor.</a:t>
            </a:r>
          </a:p>
          <a:p>
            <a:r>
              <a:rPr lang="pt-BR" sz="3200" dirty="0"/>
              <a:t>O </a:t>
            </a:r>
            <a:r>
              <a:rPr lang="pt-BR" sz="3200" dirty="0" err="1"/>
              <a:t>React</a:t>
            </a:r>
            <a:r>
              <a:rPr lang="pt-BR" sz="3200" dirty="0"/>
              <a:t> e o Next.js se encarregam desta tarefa.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90060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 de renderização de 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856" y="2011680"/>
            <a:ext cx="11647054" cy="3766185"/>
          </a:xfrm>
        </p:spPr>
        <p:txBody>
          <a:bodyPr>
            <a:normAutofit/>
          </a:bodyPr>
          <a:lstStyle/>
          <a:p>
            <a:r>
              <a:rPr lang="pt-BR" sz="3200" dirty="0"/>
              <a:t>Por padrão, no Next.js todo componente criado é renderizado no </a:t>
            </a:r>
            <a:r>
              <a:rPr lang="pt-BR" sz="3200" b="1" dirty="0"/>
              <a:t>servidor</a:t>
            </a:r>
            <a:r>
              <a:rPr lang="pt-BR" sz="3200" dirty="0"/>
              <a:t>.</a:t>
            </a:r>
          </a:p>
          <a:p>
            <a:r>
              <a:rPr lang="pt-BR" sz="3200" dirty="0"/>
              <a:t>Para deixar explícito no código que o componente é renderizado no servidor, seu código deve ser iniciado com a seguinte frase:</a:t>
            </a:r>
          </a:p>
          <a:p>
            <a:endParaRPr lang="pt-BR" sz="3200" dirty="0"/>
          </a:p>
          <a:p>
            <a:r>
              <a:rPr lang="pt-BR" sz="2800" dirty="0"/>
              <a:t>Já um componente renderizado no cliente, deve ter seu início com a seguinte frase:</a:t>
            </a:r>
            <a:endParaRPr lang="pt-BR" sz="2400" dirty="0"/>
          </a:p>
          <a:p>
            <a:endParaRPr lang="pt-BR" sz="2800" dirty="0"/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E84C76-97D5-5010-ED0F-8310954D4BDD}"/>
              </a:ext>
            </a:extLst>
          </p:cNvPr>
          <p:cNvSpPr txBox="1"/>
          <p:nvPr/>
        </p:nvSpPr>
        <p:spPr>
          <a:xfrm>
            <a:off x="4502728" y="3894772"/>
            <a:ext cx="3177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 server'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644B71-F070-6B78-2254-3332DB9FCD54}"/>
              </a:ext>
            </a:extLst>
          </p:cNvPr>
          <p:cNvSpPr txBox="1"/>
          <p:nvPr/>
        </p:nvSpPr>
        <p:spPr>
          <a:xfrm>
            <a:off x="4502728" y="5316200"/>
            <a:ext cx="3177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 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65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 de renderização de 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Perceba que o código a seguir irá fazer o </a:t>
            </a:r>
            <a:r>
              <a:rPr lang="pt-BR" sz="3200" i="1" dirty="0"/>
              <a:t>log</a:t>
            </a:r>
            <a:r>
              <a:rPr lang="pt-BR" sz="3200" dirty="0"/>
              <a:t> da mensagem no servidor ao invés do navegador: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845C16-2762-782A-40C8-594FD7D4C098}"/>
              </a:ext>
            </a:extLst>
          </p:cNvPr>
          <p:cNvSpPr txBox="1"/>
          <p:nvPr/>
        </p:nvSpPr>
        <p:spPr>
          <a:xfrm>
            <a:off x="761619" y="2945836"/>
            <a:ext cx="8622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'Olá'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Onde a mensagem será armazenada?</a:t>
            </a: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4613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 de renderização de 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O mesmo continua sendo válido ao adicionar ‘use server’: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845C16-2762-782A-40C8-594FD7D4C098}"/>
              </a:ext>
            </a:extLst>
          </p:cNvPr>
          <p:cNvSpPr txBox="1"/>
          <p:nvPr/>
        </p:nvSpPr>
        <p:spPr>
          <a:xfrm>
            <a:off x="761619" y="2807444"/>
            <a:ext cx="8622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server'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'Olá'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Onde a mensagem será armazenada?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3905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Local de renderização de 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Ao adicionar ‘use </a:t>
            </a:r>
            <a:r>
              <a:rPr lang="pt-BR" sz="3200" dirty="0" err="1"/>
              <a:t>client</a:t>
            </a:r>
            <a:r>
              <a:rPr lang="pt-BR" sz="3200" dirty="0"/>
              <a:t>’, a mensagem é exibida no navegador: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845C16-2762-782A-40C8-594FD7D4C098}"/>
              </a:ext>
            </a:extLst>
          </p:cNvPr>
          <p:cNvSpPr txBox="1"/>
          <p:nvPr/>
        </p:nvSpPr>
        <p:spPr>
          <a:xfrm>
            <a:off x="761619" y="2807444"/>
            <a:ext cx="86225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'Olá'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Onde a mensagem será armazenada?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906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666211"/>
          </a:xfrm>
        </p:spPr>
        <p:txBody>
          <a:bodyPr>
            <a:normAutofit/>
          </a:bodyPr>
          <a:lstStyle/>
          <a:p>
            <a:r>
              <a:rPr lang="pt-BR" sz="3200" dirty="0"/>
              <a:t>Para adicionar um evento a um componente, utilizamos os atributos referentes a eventos, como por exemplo, </a:t>
            </a:r>
            <a:r>
              <a:rPr lang="pt-BR" sz="3200" dirty="0" err="1"/>
              <a:t>onClick</a:t>
            </a:r>
            <a:r>
              <a:rPr lang="pt-BR" sz="3200" dirty="0"/>
              <a:t>.</a:t>
            </a:r>
          </a:p>
          <a:p>
            <a:r>
              <a:rPr lang="pt-BR" sz="3200" dirty="0"/>
              <a:t>Podemos fazer a implementação diretamente no </a:t>
            </a:r>
            <a:r>
              <a:rPr lang="pt-BR" sz="3200" b="1" dirty="0"/>
              <a:t>atributo</a:t>
            </a:r>
            <a:r>
              <a:rPr lang="pt-BR" sz="3200" dirty="0"/>
              <a:t>, utilizando uma função anônima.</a:t>
            </a:r>
          </a:p>
          <a:p>
            <a:r>
              <a:rPr lang="pt-BR" sz="3200" dirty="0"/>
              <a:t>Ou então podemos criar uma função externamente e passar seu nome como parâmetro para o evento desejado.</a:t>
            </a:r>
          </a:p>
          <a:p>
            <a:r>
              <a:rPr lang="pt-BR" sz="3200" b="1" dirty="0">
                <a:solidFill>
                  <a:srgbClr val="FF0000"/>
                </a:solidFill>
              </a:rPr>
              <a:t>Eventos podem ser adicionados apenas em componentes renderizados no cliente.</a:t>
            </a:r>
          </a:p>
        </p:txBody>
      </p:sp>
    </p:spTree>
    <p:extLst>
      <p:ext uri="{BB962C8B-B14F-4D97-AF65-F5344CB8AC3E}">
        <p14:creationId xmlns:p14="http://schemas.microsoft.com/office/powerpoint/2010/main" val="597649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8210B7-5375-5F45-2C87-4D69B4C83F40}"/>
              </a:ext>
            </a:extLst>
          </p:cNvPr>
          <p:cNvSpPr txBox="1"/>
          <p:nvPr/>
        </p:nvSpPr>
        <p:spPr>
          <a:xfrm>
            <a:off x="657224" y="2050293"/>
            <a:ext cx="1050030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Pagina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rounded text-white hover:bg-blue-700 cursor-pointer active:bg-blue-800"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Salvar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2390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8210B7-5375-5F45-2C87-4D69B4C83F40}"/>
              </a:ext>
            </a:extLst>
          </p:cNvPr>
          <p:cNvSpPr txBox="1"/>
          <p:nvPr/>
        </p:nvSpPr>
        <p:spPr>
          <a:xfrm>
            <a:off x="657224" y="1754729"/>
            <a:ext cx="105003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cursor-pointer active:bg-blue-800"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'oi'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Salvar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8941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8210B7-5375-5F45-2C87-4D69B4C83F40}"/>
              </a:ext>
            </a:extLst>
          </p:cNvPr>
          <p:cNvSpPr txBox="1"/>
          <p:nvPr/>
        </p:nvSpPr>
        <p:spPr>
          <a:xfrm>
            <a:off x="657224" y="1754729"/>
            <a:ext cx="105003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exemplo()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'oi'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cursor-pointer active:bg-blue-800"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={exemplo}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Salvar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6571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8210B7-5375-5F45-2C87-4D69B4C83F40}"/>
              </a:ext>
            </a:extLst>
          </p:cNvPr>
          <p:cNvSpPr txBox="1"/>
          <p:nvPr/>
        </p:nvSpPr>
        <p:spPr>
          <a:xfrm>
            <a:off x="657224" y="1754729"/>
            <a:ext cx="105003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exemplo =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'oi'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cursor-pointer active:bg-blue-800"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={exemplo}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Salvar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9749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Ciclo de vida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541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Quando um componente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é renderizado, seu código é executado e seus elementos são montados ou desmontados no DOM, de acordo com o código e a instrução 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return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Uma vez montados os componentes, uma nova execução do código (sem carregar a página por completo) </a:t>
            </a:r>
            <a:r>
              <a:rPr lang="pt-BR" sz="3600" b="1" spc="-1" dirty="0">
                <a:solidFill>
                  <a:srgbClr val="FF0000"/>
                </a:solidFill>
                <a:latin typeface="Calibri Light"/>
              </a:rPr>
              <a:t>não </a:t>
            </a:r>
            <a:r>
              <a:rPr lang="pt-BR" sz="3600" spc="-1" dirty="0">
                <a:solidFill>
                  <a:srgbClr val="FF0000"/>
                </a:solidFill>
                <a:latin typeface="Calibri Light"/>
              </a:rPr>
              <a:t>realiza novas montagens/desmontagens dos componentes.</a:t>
            </a:r>
            <a:endParaRPr lang="pt-BR" sz="3600" b="1" strike="noStrike" spc="-1" dirty="0">
              <a:solidFill>
                <a:srgbClr val="FF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71353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0" y="1653309"/>
            <a:ext cx="12192000" cy="489989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Criar uma página que exibe quantas vezes um botão foi clicado.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23C51C-EB93-6E42-FCB2-5282AC49A127}"/>
              </a:ext>
            </a:extLst>
          </p:cNvPr>
          <p:cNvSpPr txBox="1"/>
          <p:nvPr/>
        </p:nvSpPr>
        <p:spPr>
          <a:xfrm>
            <a:off x="0" y="2352838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cliques = 0;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clicar = () =&gt;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cliques = cliques + 1;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cursor-pointer active:bg-blue-800"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={clicar}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Clicar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botão foi clicado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{cliques}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vezes.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1176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76800" y="1976582"/>
            <a:ext cx="10753200" cy="457661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O código anterior funciona?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A variável é incrementada, no entanto, o componente não é renderizado novamente, e o elemento que indica a quantidade de cliques não é atualizado no DOM.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Como realizar uma nova renderização do componente?</a:t>
            </a:r>
          </a:p>
        </p:txBody>
      </p:sp>
    </p:spTree>
    <p:extLst>
      <p:ext uri="{BB962C8B-B14F-4D97-AF65-F5344CB8AC3E}">
        <p14:creationId xmlns:p14="http://schemas.microsoft.com/office/powerpoint/2010/main" val="103346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 dirty="0">
                <a:solidFill>
                  <a:srgbClr val="549E39"/>
                </a:solidFill>
                <a:latin typeface="Calibri Light"/>
              </a:rPr>
              <a:t>States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541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4000" b="0" i="1" strike="noStrike" spc="-1" dirty="0">
                <a:solidFill>
                  <a:srgbClr val="262626"/>
                </a:solidFill>
                <a:latin typeface="Calibri Light"/>
              </a:rPr>
              <a:t>States </a:t>
            </a:r>
            <a:r>
              <a:rPr lang="pt-BR" sz="4000" b="0" strike="noStrike" spc="-1" dirty="0">
                <a:solidFill>
                  <a:srgbClr val="262626"/>
                </a:solidFill>
                <a:latin typeface="Calibri Light"/>
              </a:rPr>
              <a:t>(estados) são valores que podem ser armazenados internamente dentro de um componente;</a:t>
            </a:r>
            <a:endParaRPr lang="en-US" sz="40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4000" b="0" strike="noStrike" spc="-1" dirty="0">
                <a:solidFill>
                  <a:srgbClr val="262626"/>
                </a:solidFill>
                <a:latin typeface="Calibri Light"/>
              </a:rPr>
              <a:t>Eles podem ser de tipos diversos ou até objetos;</a:t>
            </a:r>
            <a:endParaRPr lang="en-US" sz="40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4000" b="0" strike="noStrike" spc="-1" dirty="0">
                <a:solidFill>
                  <a:srgbClr val="262626"/>
                </a:solidFill>
                <a:latin typeface="Calibri Light"/>
              </a:rPr>
              <a:t>Esses valores devem ser utilizados internamente dentro do controle em que foram declarados</a:t>
            </a:r>
            <a:r>
              <a:rPr lang="pt-BR" sz="4000" spc="-1" dirty="0">
                <a:solidFill>
                  <a:srgbClr val="262626"/>
                </a:solidFill>
                <a:latin typeface="Calibri Light"/>
              </a:rPr>
              <a:t>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38408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 dirty="0">
                <a:solidFill>
                  <a:srgbClr val="549E39"/>
                </a:solidFill>
                <a:latin typeface="Calibri Light"/>
              </a:rPr>
              <a:t>States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541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4000" b="0" strike="noStrike" spc="-1" dirty="0">
                <a:solidFill>
                  <a:srgbClr val="262626"/>
                </a:solidFill>
                <a:latin typeface="Calibri Light"/>
              </a:rPr>
              <a:t>Quando um estado é atualizado, </a:t>
            </a:r>
            <a:r>
              <a:rPr lang="pt-BR" sz="4000" b="1" strike="noStrike" spc="-1" dirty="0">
                <a:solidFill>
                  <a:srgbClr val="262626"/>
                </a:solidFill>
                <a:latin typeface="Calibri Light"/>
              </a:rPr>
              <a:t>ocorre uma nova renderização do componente.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4000" spc="-1" dirty="0">
                <a:solidFill>
                  <a:srgbClr val="FF0000"/>
                </a:solidFill>
                <a:latin typeface="Calibri Light"/>
              </a:rPr>
              <a:t>Estados só podem ser usados em componentes renderizados no cliente.</a:t>
            </a:r>
            <a:endParaRPr lang="en-US" sz="3600" b="0" strike="noStrike" spc="-1" dirty="0">
              <a:solidFill>
                <a:srgbClr val="FF0000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>
                <a:solidFill>
                  <a:srgbClr val="549E39"/>
                </a:solidFill>
                <a:latin typeface="Calibri Light"/>
              </a:rPr>
              <a:t>States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 sintaxe para utilização de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state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é da seguinte forma: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const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 [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,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setState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] =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useState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();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Sendo: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state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: atributo </a:t>
            </a:r>
            <a:r>
              <a:rPr lang="pt-BR" sz="3200" b="0" i="1" strike="noStrike" spc="-1" dirty="0" err="1">
                <a:solidFill>
                  <a:srgbClr val="262626"/>
                </a:solidFill>
                <a:latin typeface="Calibri Light"/>
              </a:rPr>
              <a:t>get</a:t>
            </a:r>
            <a:r>
              <a:rPr lang="pt-BR" sz="3200" b="0" i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para obter o estado criado;</a:t>
            </a:r>
            <a:endParaRPr lang="en-US" sz="3200" b="0" i="1" strike="noStrike" spc="-1" dirty="0">
              <a:solidFill>
                <a:srgbClr val="262626"/>
              </a:solidFill>
              <a:latin typeface="Calibri Light"/>
            </a:endParaRP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setState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: método </a:t>
            </a:r>
            <a:r>
              <a:rPr lang="pt-BR" sz="3200" b="0" i="1" strike="noStrike" spc="-1" dirty="0">
                <a:solidFill>
                  <a:srgbClr val="262626"/>
                </a:solidFill>
                <a:latin typeface="Calibri Light"/>
              </a:rPr>
              <a:t>set 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para atualizar o estado criado.</a:t>
            </a: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4320" lvl="1" indent="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Ao utilizar estados, é necessário importar seu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hook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837AA8-4809-B39E-ACAD-947CFCC026DD}"/>
              </a:ext>
            </a:extLst>
          </p:cNvPr>
          <p:cNvSpPr txBox="1"/>
          <p:nvPr/>
        </p:nvSpPr>
        <p:spPr>
          <a:xfrm>
            <a:off x="3005400" y="540830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>
                <a:solidFill>
                  <a:srgbClr val="549E39"/>
                </a:solidFill>
                <a:latin typeface="Calibri Light"/>
              </a:rPr>
              <a:t>States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1515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É possível passar um valor inicial a um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state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. O exemplo a seguir atribui o valor 0 (zero) inicialmente ao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state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const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 [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,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setState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] =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useState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(0);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É possível também passar um objeto a um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state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como seu valor inicial: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const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 [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,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setState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] =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useState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({id:0});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Criar um botão que armazena quantas vezes ele foi clicado.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62186FC-3307-FB68-AC18-F749D2E56721}"/>
              </a:ext>
            </a:extLst>
          </p:cNvPr>
          <p:cNvSpPr txBox="1"/>
          <p:nvPr/>
        </p:nvSpPr>
        <p:spPr>
          <a:xfrm>
            <a:off x="0" y="513507"/>
            <a:ext cx="120903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[cliques, setCliques] = useState(0);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handleClicar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setCliques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(cliques + 1);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cursor-pointer active:bg-blue-800"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handleClicar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Clicar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botão foi clicado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{cliques}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vezes.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5751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dos estados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 função </a:t>
            </a:r>
            <a:r>
              <a:rPr lang="pt-BR" sz="3200" i="1" dirty="0"/>
              <a:t>set </a:t>
            </a:r>
            <a:r>
              <a:rPr lang="pt-BR" sz="3200" dirty="0"/>
              <a:t>de um estado é assíncrona, ou seja, o restante do código não espera a sua execução para poder executar.</a:t>
            </a:r>
          </a:p>
          <a:p>
            <a:endParaRPr lang="pt-BR" sz="3200" i="1" dirty="0"/>
          </a:p>
          <a:p>
            <a:r>
              <a:rPr lang="pt-BR" sz="3200" dirty="0"/>
              <a:t>O código a seguir funciona como esperado.</a:t>
            </a:r>
          </a:p>
        </p:txBody>
      </p:sp>
    </p:spTree>
    <p:extLst>
      <p:ext uri="{BB962C8B-B14F-4D97-AF65-F5344CB8AC3E}">
        <p14:creationId xmlns:p14="http://schemas.microsoft.com/office/powerpoint/2010/main" val="1387804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72A3D-9255-EC24-F55E-BECDD3E0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FE13FA-EAEE-5193-DAB5-2BCC6C266B2D}"/>
              </a:ext>
            </a:extLst>
          </p:cNvPr>
          <p:cNvSpPr txBox="1"/>
          <p:nvPr/>
        </p:nvSpPr>
        <p:spPr>
          <a:xfrm>
            <a:off x="657224" y="1599822"/>
            <a:ext cx="1087755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[cliques, setCliques] = useState(0);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handleClicar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setCliques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(cliques + 1);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cursor-pointer active:bg-blue-800"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handleClicar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Clicar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botão foi clicado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{cliques}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vezes.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0235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dos estados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O código a seguir, no entanto, não funciona como esperado.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BAD321-5673-B38C-6E5C-60624807CF0B}"/>
              </a:ext>
            </a:extLst>
          </p:cNvPr>
          <p:cNvSpPr txBox="1"/>
          <p:nvPr/>
        </p:nvSpPr>
        <p:spPr>
          <a:xfrm>
            <a:off x="761619" y="2532199"/>
            <a:ext cx="101484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[cliques, setCliques] = useState(0);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handleClicar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setCliques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(cliques + 1);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setCliques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(cliques + 1);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cursor-pointer active:bg-blue-800"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handleClicar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Clicar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botão foi clicado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{cliques}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vezes.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183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dos estados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Como a função </a:t>
            </a:r>
            <a:r>
              <a:rPr lang="pt-BR" sz="3200" i="1" dirty="0"/>
              <a:t>set </a:t>
            </a:r>
            <a:r>
              <a:rPr lang="pt-BR" sz="3200" dirty="0"/>
              <a:t>é assíncrona, antes da primeira terminar a segunda inicia, e o valor de início da variável </a:t>
            </a:r>
            <a:r>
              <a:rPr lang="pt-BR" sz="3200" b="1" dirty="0"/>
              <a:t>cliques</a:t>
            </a:r>
            <a:r>
              <a:rPr lang="pt-BR" sz="3200" dirty="0"/>
              <a:t>, para ambas, é o mesmo.</a:t>
            </a:r>
          </a:p>
          <a:p>
            <a:r>
              <a:rPr lang="pt-BR" sz="3200" dirty="0"/>
              <a:t>Dessa forma, o resultado é o incremento da variável em uma unidade, ao invés de uma, como o esperado.</a:t>
            </a:r>
          </a:p>
          <a:p>
            <a:r>
              <a:rPr lang="pt-BR" sz="3200" dirty="0"/>
              <a:t>Para a função, </a:t>
            </a:r>
            <a:r>
              <a:rPr lang="pt-BR" sz="3200" i="1" dirty="0"/>
              <a:t>set</a:t>
            </a:r>
            <a:r>
              <a:rPr lang="pt-BR" sz="3200" dirty="0"/>
              <a:t>, podemos “resolver” este “problema” da seguinte forma:</a:t>
            </a:r>
          </a:p>
        </p:txBody>
      </p:sp>
    </p:spTree>
    <p:extLst>
      <p:ext uri="{BB962C8B-B14F-4D97-AF65-F5344CB8AC3E}">
        <p14:creationId xmlns:p14="http://schemas.microsoft.com/office/powerpoint/2010/main" val="365022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dos estados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05F2C9-2C05-143E-2A70-D3494DE532C8}"/>
              </a:ext>
            </a:extLst>
          </p:cNvPr>
          <p:cNvSpPr txBox="1"/>
          <p:nvPr/>
        </p:nvSpPr>
        <p:spPr>
          <a:xfrm>
            <a:off x="786563" y="1581941"/>
            <a:ext cx="1061887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[cliques, setCliques] = useState(0);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handleClicar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setCliques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(cliques + 1);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setCliques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p + 1);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ml-4 mt-4"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px-4 py-2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cursor-pointer active:bg-blue-800"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handleClicar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Clicar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 botão foi clicado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{cliques}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vezes.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6266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DD76-72DC-FDB7-D7E8-02B291B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dos estados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A7CF0-AABF-13D0-ACA2-4B68FAE2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 expressão </a:t>
            </a:r>
            <a:r>
              <a:rPr lang="pt-BR" sz="3200" b="1" dirty="0">
                <a:solidFill>
                  <a:srgbClr val="FF0000"/>
                </a:solidFill>
              </a:rPr>
              <a:t>p =&gt; p + 1 </a:t>
            </a:r>
            <a:r>
              <a:rPr lang="pt-BR" sz="3200" dirty="0">
                <a:solidFill>
                  <a:schemeClr val="tx1"/>
                </a:solidFill>
              </a:rPr>
              <a:t>indica que a alteração de estado depende da última versão deste mesmo estado, fazendo com que uma próxima alteração de estado espere o resultado de alguma alteração que está sendo realizada.</a:t>
            </a:r>
          </a:p>
          <a:p>
            <a:r>
              <a:rPr lang="pt-BR" sz="3200" dirty="0">
                <a:solidFill>
                  <a:schemeClr val="tx1"/>
                </a:solidFill>
              </a:rPr>
              <a:t>Isso não se aplica para outras instruções.</a:t>
            </a:r>
          </a:p>
          <a:p>
            <a:r>
              <a:rPr lang="pt-BR" sz="3200" dirty="0">
                <a:solidFill>
                  <a:schemeClr val="tx1"/>
                </a:solidFill>
              </a:rPr>
              <a:t>Devemos ter isso em mente para programar utilizando estados.</a:t>
            </a:r>
          </a:p>
        </p:txBody>
      </p:sp>
    </p:spTree>
    <p:extLst>
      <p:ext uri="{BB962C8B-B14F-4D97-AF65-F5344CB8AC3E}">
        <p14:creationId xmlns:p14="http://schemas.microsoft.com/office/powerpoint/2010/main" val="541015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Exercício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Crie um aplicativo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 para "ajustar o volume" de três entradas de áudio de um equipamento. Cada entrada de áudio possui volume mínimo de zero e máximo de 10, sendo que o incremento/decremento utilizado é de 1. Exibir o volume de cada entrada de áudio juntamente com o seu nome (usar nomes fictícios).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1539</TotalTime>
  <Words>1992</Words>
  <Application>Microsoft Office PowerPoint</Application>
  <PresentationFormat>Widescreen</PresentationFormat>
  <Paragraphs>265</Paragraphs>
  <Slides>31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Cascadia Mono</vt:lpstr>
      <vt:lpstr>Consolas</vt:lpstr>
      <vt:lpstr>Metropolitano</vt:lpstr>
      <vt:lpstr>Desenvolvimento Web 3</vt:lpstr>
      <vt:lpstr>Ciclo de vida</vt:lpstr>
      <vt:lpstr>Ciclo de vida</vt:lpstr>
      <vt:lpstr>Ciclo de vida</vt:lpstr>
      <vt:lpstr>Local de renderização de componentes</vt:lpstr>
      <vt:lpstr>Local de renderização de componentes</vt:lpstr>
      <vt:lpstr>Local de renderização de componentes</vt:lpstr>
      <vt:lpstr>Local de renderização de componentes</vt:lpstr>
      <vt:lpstr>Local de renderização de componentes</vt:lpstr>
      <vt:lpstr>Local de renderização de componentes</vt:lpstr>
      <vt:lpstr>Eventos</vt:lpstr>
      <vt:lpstr>Exemplo</vt:lpstr>
      <vt:lpstr>Exemplo</vt:lpstr>
      <vt:lpstr>Exemplo</vt:lpstr>
      <vt:lpstr>Exemplo</vt:lpstr>
      <vt:lpstr>Ciclo de vida</vt:lpstr>
      <vt:lpstr>Exemplo</vt:lpstr>
      <vt:lpstr>Exemplo</vt:lpstr>
      <vt:lpstr>States</vt:lpstr>
      <vt:lpstr>States</vt:lpstr>
      <vt:lpstr>States</vt:lpstr>
      <vt:lpstr>States</vt:lpstr>
      <vt:lpstr>Exemplo</vt:lpstr>
      <vt:lpstr>Apresentação do PowerPoint</vt:lpstr>
      <vt:lpstr>Características dos estados</vt:lpstr>
      <vt:lpstr>Exemplo</vt:lpstr>
      <vt:lpstr>Características dos estados</vt:lpstr>
      <vt:lpstr>Características dos estados</vt:lpstr>
      <vt:lpstr>Características dos estados</vt:lpstr>
      <vt:lpstr>Características dos estados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creator>Tiago Docusse</dc:creator>
  <cp:lastModifiedBy>Tiago Docusse</cp:lastModifiedBy>
  <cp:revision>290</cp:revision>
  <dcterms:created xsi:type="dcterms:W3CDTF">2020-10-26T16:07:06Z</dcterms:created>
  <dcterms:modified xsi:type="dcterms:W3CDTF">2026-02-12T02:10:50Z</dcterms:modified>
</cp:coreProperties>
</file>