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81" r:id="rId3"/>
    <p:sldId id="282" r:id="rId4"/>
    <p:sldId id="286" r:id="rId5"/>
    <p:sldId id="287" r:id="rId6"/>
    <p:sldId id="508" r:id="rId7"/>
    <p:sldId id="509" r:id="rId8"/>
    <p:sldId id="510" r:id="rId9"/>
    <p:sldId id="511" r:id="rId10"/>
    <p:sldId id="512" r:id="rId11"/>
    <p:sldId id="513" r:id="rId12"/>
    <p:sldId id="535" r:id="rId13"/>
    <p:sldId id="514" r:id="rId14"/>
    <p:sldId id="515" r:id="rId15"/>
    <p:sldId id="536" r:id="rId16"/>
    <p:sldId id="516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37" r:id="rId27"/>
    <p:sldId id="538" r:id="rId28"/>
    <p:sldId id="527" r:id="rId29"/>
    <p:sldId id="540" r:id="rId30"/>
    <p:sldId id="528" r:id="rId31"/>
    <p:sldId id="529" r:id="rId32"/>
    <p:sldId id="543" r:id="rId33"/>
    <p:sldId id="542" r:id="rId34"/>
    <p:sldId id="544" r:id="rId35"/>
    <p:sldId id="545" r:id="rId36"/>
    <p:sldId id="531" r:id="rId37"/>
    <p:sldId id="547" r:id="rId38"/>
    <p:sldId id="548" r:id="rId39"/>
    <p:sldId id="549" r:id="rId40"/>
    <p:sldId id="550" r:id="rId41"/>
    <p:sldId id="551" r:id="rId42"/>
    <p:sldId id="552" r:id="rId43"/>
    <p:sldId id="553" r:id="rId44"/>
    <p:sldId id="554" r:id="rId45"/>
    <p:sldId id="555" r:id="rId46"/>
    <p:sldId id="556" r:id="rId47"/>
    <p:sldId id="557" r:id="rId48"/>
    <p:sldId id="558" r:id="rId49"/>
    <p:sldId id="559" r:id="rId50"/>
    <p:sldId id="560" r:id="rId51"/>
    <p:sldId id="561" r:id="rId52"/>
    <p:sldId id="539" r:id="rId53"/>
    <p:sldId id="562" r:id="rId54"/>
    <p:sldId id="563" r:id="rId55"/>
    <p:sldId id="564" r:id="rId56"/>
    <p:sldId id="565" r:id="rId57"/>
    <p:sldId id="566" r:id="rId58"/>
    <p:sldId id="567" r:id="rId59"/>
    <p:sldId id="568" r:id="rId60"/>
    <p:sldId id="569" r:id="rId61"/>
    <p:sldId id="570" r:id="rId62"/>
    <p:sldId id="571" r:id="rId63"/>
    <p:sldId id="572" r:id="rId64"/>
    <p:sldId id="573" r:id="rId65"/>
    <p:sldId id="574" r:id="rId66"/>
    <p:sldId id="575" r:id="rId67"/>
    <p:sldId id="526" r:id="rId68"/>
    <p:sldId id="534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E39"/>
    <a:srgbClr val="C0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949C9-9CE7-4F3E-9D45-43DA33BA51FD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82CE-1854-4397-8FED-D567AEDD370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65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api/docent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xios.rest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III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/>
          <p:cNvSpPr txBox="1"/>
          <p:nvPr/>
        </p:nvSpPr>
        <p:spPr>
          <a:xfrm>
            <a:off x="3007157" y="6220047"/>
            <a:ext cx="6746444" cy="4433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anose="020B0604020202020204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Aula 12 – Criação de </a:t>
            </a:r>
            <a:r>
              <a:rPr lang="pt-BR" sz="2800" i="1" dirty="0">
                <a:solidFill>
                  <a:srgbClr val="FEFFFF"/>
                </a:solidFill>
              </a:rPr>
              <a:t>web </a:t>
            </a:r>
            <a:r>
              <a:rPr lang="pt-BR" sz="2800" i="1" dirty="0" err="1">
                <a:solidFill>
                  <a:srgbClr val="FEFFFF"/>
                </a:solidFill>
              </a:rPr>
              <a:t>services</a:t>
            </a:r>
            <a:r>
              <a:rPr lang="pt-BR" sz="2800" i="1" dirty="0">
                <a:solidFill>
                  <a:srgbClr val="FEFFFF"/>
                </a:solidFill>
              </a:rPr>
              <a:t> </a:t>
            </a:r>
            <a:r>
              <a:rPr lang="pt-BR" sz="2800" dirty="0">
                <a:solidFill>
                  <a:srgbClr val="FEFFFF"/>
                </a:solidFill>
              </a:rPr>
              <a:t>e consumo de APIs</a:t>
            </a:r>
            <a:endParaRPr lang="pt-BR" sz="2800" i="1" dirty="0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i="1" dirty="0"/>
              <a:t>Web </a:t>
            </a:r>
            <a:r>
              <a:rPr lang="pt-BR" sz="3600" i="1" dirty="0" err="1"/>
              <a:t>services</a:t>
            </a:r>
            <a:r>
              <a:rPr lang="pt-BR" sz="3600" dirty="0"/>
              <a:t> são serviços que executam na </a:t>
            </a:r>
            <a:r>
              <a:rPr lang="pt-BR" sz="3600" i="1" dirty="0"/>
              <a:t>internet</a:t>
            </a:r>
            <a:r>
              <a:rPr lang="pt-BR" sz="3600" dirty="0"/>
              <a:t> e disponibilizam suas funcionalidades através de um endereço válido.</a:t>
            </a:r>
          </a:p>
          <a:p>
            <a:r>
              <a:rPr lang="pt-BR" sz="3600" dirty="0"/>
              <a:t>Utilizaremos um </a:t>
            </a:r>
            <a:r>
              <a:rPr lang="pt-BR" sz="3600" i="1" dirty="0" err="1"/>
              <a:t>web-service</a:t>
            </a:r>
            <a:r>
              <a:rPr lang="pt-BR" sz="3600" i="1" dirty="0"/>
              <a:t> </a:t>
            </a:r>
            <a:r>
              <a:rPr lang="pt-BR" sz="3600" dirty="0"/>
              <a:t>com uma </a:t>
            </a:r>
            <a:r>
              <a:rPr lang="pt-BR" sz="3600" i="1" dirty="0" err="1"/>
              <a:t>Application</a:t>
            </a:r>
            <a:r>
              <a:rPr lang="pt-BR" sz="3600" i="1" dirty="0"/>
              <a:t> </a:t>
            </a:r>
            <a:r>
              <a:rPr lang="pt-BR" sz="3600" i="1" dirty="0" err="1"/>
              <a:t>Programable</a:t>
            </a:r>
            <a:r>
              <a:rPr lang="pt-BR" sz="3600" i="1" dirty="0"/>
              <a:t> Interface </a:t>
            </a:r>
            <a:r>
              <a:rPr lang="pt-BR" sz="3600" dirty="0"/>
              <a:t>(API) para gerenciar o </a:t>
            </a:r>
            <a:r>
              <a:rPr lang="pt-BR" sz="3600" i="1" dirty="0" err="1"/>
              <a:t>back-end</a:t>
            </a:r>
            <a:r>
              <a:rPr lang="pt-BR" sz="3600" dirty="0"/>
              <a:t> do sistema, que pode ser consumido por um </a:t>
            </a:r>
            <a:r>
              <a:rPr lang="pt-BR" sz="3600" i="1" dirty="0"/>
              <a:t>site</a:t>
            </a:r>
            <a:r>
              <a:rPr lang="pt-BR" sz="3600" dirty="0"/>
              <a:t> </a:t>
            </a:r>
            <a:r>
              <a:rPr lang="pt-BR" sz="3600" i="1" dirty="0"/>
              <a:t>web</a:t>
            </a:r>
            <a:r>
              <a:rPr lang="pt-BR" sz="3600" dirty="0"/>
              <a:t>, um aplicativo (</a:t>
            </a:r>
            <a:r>
              <a:rPr lang="pt-BR" sz="3600" i="1" dirty="0"/>
              <a:t>desktop</a:t>
            </a:r>
            <a:r>
              <a:rPr lang="pt-BR" sz="3600" dirty="0"/>
              <a:t> ou </a:t>
            </a:r>
            <a:r>
              <a:rPr lang="pt-BR" sz="3600" i="1" dirty="0"/>
              <a:t>mobile</a:t>
            </a:r>
            <a:r>
              <a:rPr lang="pt-BR" sz="3600" dirty="0"/>
              <a:t>), etc.</a:t>
            </a:r>
          </a:p>
          <a:p>
            <a:endParaRPr lang="pt-BR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5468644" y="3142695"/>
            <a:ext cx="790113" cy="165819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API</a:t>
            </a:r>
          </a:p>
        </p:txBody>
      </p:sp>
      <p:sp>
        <p:nvSpPr>
          <p:cNvPr id="5" name="Cilindro 4"/>
          <p:cNvSpPr/>
          <p:nvPr/>
        </p:nvSpPr>
        <p:spPr>
          <a:xfrm>
            <a:off x="10284780" y="3304189"/>
            <a:ext cx="1381785" cy="1335207"/>
          </a:xfrm>
          <a:prstGeom prst="can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Armazenamento</a:t>
            </a:r>
          </a:p>
        </p:txBody>
      </p:sp>
      <p:sp>
        <p:nvSpPr>
          <p:cNvPr id="6" name="Retângulo 5"/>
          <p:cNvSpPr/>
          <p:nvPr/>
        </p:nvSpPr>
        <p:spPr>
          <a:xfrm>
            <a:off x="525435" y="3345917"/>
            <a:ext cx="1580226" cy="1251752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Cliente</a:t>
            </a:r>
          </a:p>
        </p:txBody>
      </p:sp>
      <p:cxnSp>
        <p:nvCxnSpPr>
          <p:cNvPr id="8" name="Conector de Seta Reta 7"/>
          <p:cNvCxnSpPr>
            <a:stCxn id="4" idx="3"/>
            <a:endCxn id="5" idx="2"/>
          </p:cNvCxnSpPr>
          <p:nvPr/>
        </p:nvCxnSpPr>
        <p:spPr>
          <a:xfrm flipV="1">
            <a:off x="6258757" y="3971793"/>
            <a:ext cx="402602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3"/>
            <a:endCxn id="4" idx="1"/>
          </p:cNvCxnSpPr>
          <p:nvPr/>
        </p:nvCxnSpPr>
        <p:spPr>
          <a:xfrm>
            <a:off x="2105661" y="3971793"/>
            <a:ext cx="336298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2334344" y="3983975"/>
            <a:ext cx="3159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Realiza a requisição</a:t>
            </a:r>
          </a:p>
          <a:p>
            <a:pPr algn="ctr"/>
            <a:r>
              <a:rPr lang="pt-BR" sz="2400" dirty="0"/>
              <a:t>através de um endereço</a:t>
            </a:r>
          </a:p>
          <a:p>
            <a:pPr algn="ctr"/>
            <a:r>
              <a:rPr lang="pt-BR" sz="2400" dirty="0"/>
              <a:t>conhecido da API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410746" y="3983975"/>
            <a:ext cx="37220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Acessa o armazenamento</a:t>
            </a:r>
          </a:p>
          <a:p>
            <a:pPr algn="ctr"/>
            <a:r>
              <a:rPr lang="pt-BR" sz="2400" dirty="0"/>
              <a:t>para retornar uma resposta</a:t>
            </a:r>
          </a:p>
          <a:p>
            <a:pPr algn="ctr"/>
            <a:r>
              <a:rPr lang="pt-BR" sz="2400" dirty="0"/>
              <a:t>a quem realizou a solicitação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API </a:t>
            </a:r>
            <a:r>
              <a:rPr lang="pt-BR" dirty="0" err="1"/>
              <a:t>Restful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1425697" cy="4774602"/>
          </a:xfrm>
        </p:spPr>
        <p:txBody>
          <a:bodyPr>
            <a:normAutofit/>
          </a:bodyPr>
          <a:lstStyle/>
          <a:p>
            <a:r>
              <a:rPr lang="pt-BR" sz="3600" dirty="0"/>
              <a:t>API em conformidade com a arquitetura REST;</a:t>
            </a:r>
          </a:p>
          <a:p>
            <a:r>
              <a:rPr lang="pt-BR" sz="3600" dirty="0"/>
              <a:t>Características: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Arquitetura cliente/servidor com solicitações HTTP;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Comunicação </a:t>
            </a:r>
            <a:r>
              <a:rPr lang="pt-BR" sz="3200" dirty="0" err="1"/>
              <a:t>stateless</a:t>
            </a:r>
            <a:r>
              <a:rPr lang="pt-BR" sz="3200" i="0" dirty="0"/>
              <a:t>: não armazena dados entre solicitações GET e solicitações são separadas e desconectadas. Cada solicitação é autossuficiente para sua execução;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Armazenamento de dados em </a:t>
            </a:r>
            <a:r>
              <a:rPr lang="pt-BR" sz="3200" dirty="0"/>
              <a:t>cache </a:t>
            </a:r>
            <a:r>
              <a:rPr lang="pt-BR" sz="3200" i="0" dirty="0"/>
              <a:t>para otimizar transações;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Interface uniforme entre os componentes, sem definir o formato.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API </a:t>
            </a:r>
            <a:r>
              <a:rPr lang="pt-BR" dirty="0" err="1"/>
              <a:t>Restful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API em conformidade com a arquitetura REST;</a:t>
            </a:r>
          </a:p>
          <a:p>
            <a:r>
              <a:rPr lang="pt-BR" sz="3600" dirty="0"/>
              <a:t>Características: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Utilização de camadas para separar serviços;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Dados acessados por </a:t>
            </a:r>
            <a:r>
              <a:rPr lang="pt-BR" sz="3200" i="0" dirty="0" err="1"/>
              <a:t>URIs</a:t>
            </a:r>
            <a:r>
              <a:rPr lang="pt-BR" sz="3200" i="0" dirty="0"/>
              <a:t>;</a:t>
            </a:r>
          </a:p>
          <a:p>
            <a:pPr marL="662940" lvl="2" indent="-457200">
              <a:buFont typeface="Wingdings" panose="05000000000000000000" pitchFamily="2" charset="2"/>
              <a:buChar char="§"/>
            </a:pPr>
            <a:r>
              <a:rPr lang="pt-BR" sz="3200" i="0" dirty="0"/>
              <a:t>Utilização do protocolo HTTP para escrita (requisição POST), leitura (requisição GET), atualização (requisição PUT) e remoção (requisição DELETE).</a:t>
            </a:r>
          </a:p>
          <a:p>
            <a:pPr marL="205740" lvl="2" indent="0">
              <a:buNone/>
            </a:pPr>
            <a:endParaRPr lang="pt-BR" sz="2800" i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API com o Next.js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600" dirty="0"/>
              <a:t>É possível criar APIs em diversas linguagens, inclusive em Javascript com </a:t>
            </a:r>
            <a:r>
              <a:rPr lang="pt-BR" sz="3600" i="1" dirty="0"/>
              <a:t>frameworks </a:t>
            </a:r>
            <a:r>
              <a:rPr lang="pt-BR" sz="3600" dirty="0"/>
              <a:t>próprios, como o Express e o </a:t>
            </a:r>
            <a:r>
              <a:rPr lang="pt-BR" sz="3600" dirty="0" err="1"/>
              <a:t>NestJS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r>
              <a:rPr lang="pt-BR" sz="3600" dirty="0"/>
              <a:t>Também é possível utilizar o Next.js para tal atividade.</a:t>
            </a:r>
          </a:p>
          <a:p>
            <a:pPr marL="0" indent="0">
              <a:buNone/>
            </a:pPr>
            <a:r>
              <a:rPr lang="pt-BR" sz="3600" dirty="0"/>
              <a:t>Dentro da pasta app, qualquer pasta que tenha um arquivo “route.js” utiliza o caminho da estrutura de arquivos como um caminha para um</a:t>
            </a:r>
            <a:r>
              <a:rPr lang="pt-BR" sz="3600" i="1" dirty="0"/>
              <a:t> web </a:t>
            </a:r>
            <a:r>
              <a:rPr lang="pt-BR" sz="3600" i="1" dirty="0" err="1"/>
              <a:t>service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r>
              <a:rPr lang="pt-BR" sz="3600" dirty="0"/>
              <a:t>Porém, este caminho não pode ter um arquivo chamado “page.js”.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570915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API com o Next.js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Crie um novo projeto do Next.js que utiliza o </a:t>
            </a:r>
            <a:r>
              <a:rPr lang="pt-BR" sz="3600" dirty="0" err="1"/>
              <a:t>AppDir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r>
              <a:rPr lang="pt-BR" sz="3600" dirty="0"/>
              <a:t>Dentro de app, crie a pasta “api”.</a:t>
            </a:r>
          </a:p>
          <a:p>
            <a:pPr marL="0" indent="0">
              <a:buNone/>
            </a:pPr>
            <a:r>
              <a:rPr lang="pt-BR" sz="3600" dirty="0"/>
              <a:t>Dentro da pasta api, crie uma pasta chamada “docentes”.</a:t>
            </a:r>
          </a:p>
          <a:p>
            <a:pPr marL="0" indent="0">
              <a:buNone/>
            </a:pPr>
            <a:r>
              <a:rPr lang="pt-BR" sz="3600" dirty="0"/>
              <a:t>Dentro da pasta docentes, crie um arquivo chamado “route.js”.</a:t>
            </a: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5444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i="1" dirty="0" err="1"/>
              <a:t>endpoint</a:t>
            </a:r>
            <a:r>
              <a:rPr lang="pt-BR" i="1" dirty="0"/>
              <a:t> </a:t>
            </a:r>
            <a:r>
              <a:rPr lang="pt-BR" dirty="0"/>
              <a:t>GET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600" dirty="0"/>
              <a:t>O código a seguir exibe um exemplo de </a:t>
            </a:r>
            <a:r>
              <a:rPr lang="pt-BR" sz="3600" i="1" dirty="0" err="1"/>
              <a:t>endpoint</a:t>
            </a:r>
            <a:r>
              <a:rPr lang="pt-BR" sz="3600" i="1" dirty="0"/>
              <a:t> </a:t>
            </a:r>
            <a:r>
              <a:rPr lang="pt-BR" sz="3600" dirty="0"/>
              <a:t>que utiliza o verbo GET:</a:t>
            </a:r>
          </a:p>
          <a:p>
            <a:pPr marL="0" indent="0">
              <a:buNone/>
            </a:pPr>
            <a:endParaRPr lang="pt-BR" sz="3600" i="1" dirty="0"/>
          </a:p>
          <a:p>
            <a:pPr marL="0" indent="0">
              <a:buNone/>
            </a:pPr>
            <a:endParaRPr lang="pt-BR" sz="3600" i="1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Ao acessar o endereço </a:t>
            </a:r>
            <a:r>
              <a:rPr lang="pt-BR" sz="3600" dirty="0">
                <a:hlinkClick r:id="rId2"/>
              </a:rPr>
              <a:t>http://localhost:3000/api/docentes</a:t>
            </a:r>
            <a:r>
              <a:rPr lang="pt-BR" sz="3600" dirty="0"/>
              <a:t>, será exibida a mensagem “Olá mundo”.</a:t>
            </a: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A03F69-A16E-F6BA-DBBD-0892D6D0E9E7}"/>
              </a:ext>
            </a:extLst>
          </p:cNvPr>
          <p:cNvSpPr txBox="1"/>
          <p:nvPr/>
        </p:nvSpPr>
        <p:spPr>
          <a:xfrm>
            <a:off x="761619" y="3208213"/>
            <a:ext cx="9869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GET()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mundo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304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Iremos trabalhar com os seguintes tipos de requisição: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GET, para retorno de dados;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POST, para criação de dados;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PUT, para atualização de dados;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DELETE, para remoção de dados.</a:t>
            </a: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56192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retorno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Iremos utilizar os seguintes códigos de retorno da requisição realizada: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200, para OK;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400, para </a:t>
            </a:r>
            <a:r>
              <a:rPr lang="pt-BR" sz="3000" i="1" dirty="0" err="1"/>
              <a:t>Bad</a:t>
            </a:r>
            <a:r>
              <a:rPr lang="pt-BR" sz="3000" i="1" dirty="0"/>
              <a:t> </a:t>
            </a:r>
            <a:r>
              <a:rPr lang="pt-BR" sz="3000" i="1" dirty="0" err="1"/>
              <a:t>request</a:t>
            </a:r>
            <a:r>
              <a:rPr lang="pt-BR" sz="3000" dirty="0"/>
              <a:t>;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pt-BR" sz="3000" dirty="0"/>
              <a:t>404, para </a:t>
            </a:r>
            <a:r>
              <a:rPr lang="pt-BR" sz="3000" i="1" dirty="0" err="1"/>
              <a:t>Not</a:t>
            </a:r>
            <a:r>
              <a:rPr lang="pt-BR" sz="3000" i="1" dirty="0"/>
              <a:t> </a:t>
            </a:r>
            <a:r>
              <a:rPr lang="pt-BR" sz="3000" i="1" dirty="0" err="1"/>
              <a:t>found</a:t>
            </a:r>
            <a:r>
              <a:rPr lang="pt-BR" sz="3000" dirty="0"/>
              <a:t>.</a:t>
            </a: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4979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Como exemplo, vamos criar um cadastro de docentes, que armazena de cada docente seu nome e e-mail.</a:t>
            </a:r>
          </a:p>
          <a:p>
            <a:pPr marL="0" indent="0">
              <a:buNone/>
            </a:pPr>
            <a:r>
              <a:rPr lang="pt-BR" sz="3600" dirty="0"/>
              <a:t>Instale o prisma: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E faça sua inicialização:</a:t>
            </a:r>
          </a:p>
          <a:p>
            <a:endParaRPr lang="pt-BR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FCA175-0C08-3EC1-CCFC-D09DAF47F866}"/>
              </a:ext>
            </a:extLst>
          </p:cNvPr>
          <p:cNvSpPr txBox="1"/>
          <p:nvPr/>
        </p:nvSpPr>
        <p:spPr bwMode="auto">
          <a:xfrm>
            <a:off x="676656" y="3741618"/>
            <a:ext cx="10529455" cy="88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nb-NO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npm install prisma @types/pg --save-dev</a:t>
            </a:r>
            <a:endParaRPr dirty="0"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sv-SE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npm install @prisma/client @prisma/adapter-pg pg dotenv</a:t>
            </a:r>
            <a:endParaRPr lang="nb-NO" sz="2400" b="1" spc="-1" dirty="0">
              <a:solidFill>
                <a:srgbClr val="262626"/>
              </a:solidFill>
              <a:latin typeface="Cascadia Code"/>
              <a:cs typeface="Cascadia Code"/>
            </a:endParaRPr>
          </a:p>
        </p:txBody>
      </p:sp>
      <p:sp>
        <p:nvSpPr>
          <p:cNvPr id="5" name="CaixaDeTexto 6">
            <a:extLst>
              <a:ext uri="{FF2B5EF4-FFF2-40B4-BE49-F238E27FC236}">
                <a16:creationId xmlns:a16="http://schemas.microsoft.com/office/drawing/2014/main" id="{416B5F84-27C9-687A-400E-81371460E785}"/>
              </a:ext>
            </a:extLst>
          </p:cNvPr>
          <p:cNvSpPr txBox="1"/>
          <p:nvPr/>
        </p:nvSpPr>
        <p:spPr bwMode="auto">
          <a:xfrm>
            <a:off x="676656" y="5638270"/>
            <a:ext cx="10331840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2400" b="1" spc="-1" dirty="0" err="1">
                <a:solidFill>
                  <a:srgbClr val="262626"/>
                </a:solidFill>
                <a:latin typeface="Cascadia Code"/>
                <a:cs typeface="Cascadia Code"/>
              </a:rPr>
              <a:t>npx</a:t>
            </a:r>
            <a:r>
              <a:rPr lang="pt-BR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 prisma </a:t>
            </a:r>
            <a:r>
              <a:rPr lang="pt-BR" sz="2400" b="1" spc="-1" dirty="0" err="1">
                <a:solidFill>
                  <a:srgbClr val="262626"/>
                </a:solidFill>
                <a:latin typeface="Cascadia Code"/>
                <a:cs typeface="Cascadia Code"/>
              </a:rPr>
              <a:t>init</a:t>
            </a:r>
            <a:r>
              <a:rPr lang="pt-BR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 --</a:t>
            </a:r>
            <a:r>
              <a:rPr lang="pt-BR" sz="2400" b="1" spc="-1" dirty="0" err="1">
                <a:solidFill>
                  <a:srgbClr val="262626"/>
                </a:solidFill>
                <a:latin typeface="Cascadia Code"/>
                <a:cs typeface="Cascadia Code"/>
              </a:rPr>
              <a:t>datasource-provider</a:t>
            </a:r>
            <a:r>
              <a:rPr lang="pt-BR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sz="2400" b="1" spc="-1" dirty="0" err="1">
                <a:solidFill>
                  <a:srgbClr val="262626"/>
                </a:solidFill>
                <a:latin typeface="Cascadia Code"/>
                <a:cs typeface="Cascadia Code"/>
              </a:rPr>
              <a:t>postgresql</a:t>
            </a:r>
            <a:r>
              <a:rPr lang="pt-BR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 --output ../</a:t>
            </a:r>
            <a:r>
              <a:rPr lang="pt-BR" sz="2400" b="1" spc="-1" dirty="0" err="1">
                <a:solidFill>
                  <a:srgbClr val="262626"/>
                </a:solidFill>
                <a:latin typeface="Cascadia Code"/>
                <a:cs typeface="Cascadia Code"/>
              </a:rPr>
              <a:t>generated</a:t>
            </a:r>
            <a:r>
              <a:rPr lang="pt-BR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/prisma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7705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Inicie o Docker e suba um </a:t>
            </a:r>
            <a:r>
              <a:rPr lang="pt-BR" sz="3600" i="1" dirty="0"/>
              <a:t>container </a:t>
            </a:r>
            <a:r>
              <a:rPr lang="pt-BR" sz="3600" dirty="0"/>
              <a:t>do </a:t>
            </a:r>
            <a:r>
              <a:rPr lang="pt-BR" sz="3600" dirty="0" err="1"/>
              <a:t>Postgree</a:t>
            </a:r>
            <a:r>
              <a:rPr lang="pt-BR" sz="3600" dirty="0"/>
              <a:t>: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No arquivo “.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env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”, altere a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 conexão para se conectar ao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pc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local: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25817F-9B8E-3A11-565E-BD3F7F6EB733}"/>
              </a:ext>
            </a:extLst>
          </p:cNvPr>
          <p:cNvSpPr txBox="1"/>
          <p:nvPr/>
        </p:nvSpPr>
        <p:spPr bwMode="auto">
          <a:xfrm>
            <a:off x="761619" y="2635174"/>
            <a:ext cx="10123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-e POSTGRES_PASSWORD=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senhadobanco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-p 5432:5432 -v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:/var/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/data -d postgres:17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36AB77-5C4F-D59C-6C6A-B84EAEDBD3CA}"/>
              </a:ext>
            </a:extLst>
          </p:cNvPr>
          <p:cNvSpPr txBox="1"/>
          <p:nvPr/>
        </p:nvSpPr>
        <p:spPr>
          <a:xfrm>
            <a:off x="157300" y="4946227"/>
            <a:ext cx="11792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DATABASE_URL=</a:t>
            </a:r>
            <a:r>
              <a:rPr lang="nn-NO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"postgresql://postgres:senhadobanco@localhost:5432/mydb?schema=public"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4782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201295" indent="0"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“prisma/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”, crie a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 docente:</a:t>
            </a: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61E42D-1A03-0809-E297-911EE7BA3DDB}"/>
              </a:ext>
            </a:extLst>
          </p:cNvPr>
          <p:cNvSpPr txBox="1"/>
          <p:nvPr/>
        </p:nvSpPr>
        <p:spPr>
          <a:xfrm>
            <a:off x="932873" y="2707745"/>
            <a:ext cx="85898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docente {</a:t>
            </a: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Int @id @default(autoincrement())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nome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@unique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5409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Envie as alterações para o banco de dados:</a:t>
            </a:r>
          </a:p>
          <a:p>
            <a:pPr marL="0" indent="0">
              <a:buNone/>
            </a:pPr>
            <a:r>
              <a:rPr lang="pt-BR" sz="2800" b="1" i="0" dirty="0" err="1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28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2800" b="1" i="0" dirty="0" err="1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sz="28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b="1" i="0" dirty="0" err="1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endParaRPr lang="pt-BR" sz="2800" b="1" i="0" dirty="0"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pt-BR" sz="28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28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28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endParaRPr lang="pt-BR" sz="28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endParaRPr lang="pt-BR" sz="36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08358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Crie na raiz do projeto a pasta “</a:t>
            </a:r>
            <a:r>
              <a:rPr lang="pt-BR" sz="3600" dirty="0" err="1"/>
              <a:t>lib</a:t>
            </a:r>
            <a:r>
              <a:rPr lang="pt-BR" sz="3600" dirty="0"/>
              <a:t>” e o arquivo prisma.js, com o seguinte conteúdo:</a:t>
            </a:r>
          </a:p>
          <a:p>
            <a:endParaRPr lang="pt-BR" sz="3200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84FC948A-AE0D-E011-6D5C-90F9C9606453}"/>
              </a:ext>
            </a:extLst>
          </p:cNvPr>
          <p:cNvSpPr txBox="1"/>
          <p:nvPr/>
        </p:nvSpPr>
        <p:spPr bwMode="auto">
          <a:xfrm>
            <a:off x="1249455" y="3136451"/>
            <a:ext cx="100743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dotenv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config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PrismaPg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"@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prisma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/adapter-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pg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PrismaClient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generated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/prisma/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client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connectionString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`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${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process.env.DATABASE_URL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`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adapter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PrismaPg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connectionString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});</a:t>
            </a:r>
            <a:endParaRPr dirty="0"/>
          </a:p>
          <a:p>
            <a:pPr>
              <a:defRPr/>
            </a:pP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 = 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PrismaClient({ adapter });</a:t>
            </a:r>
            <a:endParaRPr dirty="0"/>
          </a:p>
          <a:p>
            <a:pPr>
              <a:defRPr/>
            </a:pP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 };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312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Listagem de todos os docentes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Para retornar todos os docentes, crie um método com o nome GET, que retorna um arquivo </a:t>
            </a:r>
            <a:r>
              <a:rPr lang="pt-BR" sz="3600" dirty="0" err="1"/>
              <a:t>json</a:t>
            </a:r>
            <a:r>
              <a:rPr lang="pt-BR" sz="3600" dirty="0"/>
              <a:t> com os dados obtidos no banco de dados.</a:t>
            </a:r>
            <a:endParaRPr lang="pt-BR" sz="3200" dirty="0"/>
          </a:p>
          <a:p>
            <a:pPr marL="0" indent="0">
              <a:buNone/>
            </a:pPr>
            <a:r>
              <a:rPr lang="pt-BR" sz="3600" dirty="0"/>
              <a:t>Opcionalmente, retorne um código de erro caso haja uma falha na execução do método.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6795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Listagem de todos os docentes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6D03B9-F3F8-AB3F-0DD7-91AC1B2ADEED}"/>
              </a:ext>
            </a:extLst>
          </p:cNvPr>
          <p:cNvSpPr txBox="1"/>
          <p:nvPr/>
        </p:nvSpPr>
        <p:spPr>
          <a:xfrm>
            <a:off x="762001" y="2009753"/>
            <a:ext cx="108775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"next/server"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"../../../../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prisma.docente.findMany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816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Cadastro de docente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3600" dirty="0"/>
              <a:t>Para cadastrar o docente, crie um método com o nome POST, que recebe uma requisição como argumento.</a:t>
            </a:r>
          </a:p>
          <a:p>
            <a:pPr marL="0" indent="0">
              <a:buNone/>
            </a:pPr>
            <a:r>
              <a:rPr lang="pt-BR" sz="3600" dirty="0"/>
              <a:t>É necessário transformar o objeto recebido como argumento em um JSON.</a:t>
            </a:r>
          </a:p>
          <a:p>
            <a:pPr marL="0" indent="0">
              <a:buNone/>
            </a:pPr>
            <a:r>
              <a:rPr lang="pt-BR" sz="3600" dirty="0"/>
              <a:t>Opcionalmente, verifique campos únicos antes de fazer a inserção.</a:t>
            </a:r>
          </a:p>
          <a:p>
            <a:pPr marL="0" indent="0">
              <a:buNone/>
            </a:pPr>
            <a:r>
              <a:rPr lang="pt-BR" sz="3600" dirty="0"/>
              <a:t>Retorne um código de sucesso ou o objeto cadastrado.</a:t>
            </a:r>
          </a:p>
          <a:p>
            <a:pPr marL="0" indent="0">
              <a:buNone/>
            </a:pPr>
            <a:r>
              <a:rPr lang="pt-BR" sz="3600" dirty="0"/>
              <a:t>Opcionalmente, retorne um código de erro para solicitações inválidas.</a:t>
            </a:r>
          </a:p>
        </p:txBody>
      </p:sp>
    </p:spTree>
    <p:extLst>
      <p:ext uri="{BB962C8B-B14F-4D97-AF65-F5344CB8AC3E}">
        <p14:creationId xmlns:p14="http://schemas.microsoft.com/office/powerpoint/2010/main" val="3821276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Cadastro de docente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7A558A-5496-314A-3D2E-D3D859E67EC7}"/>
              </a:ext>
            </a:extLst>
          </p:cNvPr>
          <p:cNvSpPr txBox="1"/>
          <p:nvPr/>
        </p:nvSpPr>
        <p:spPr>
          <a:xfrm>
            <a:off x="456332" y="1927223"/>
            <a:ext cx="1117455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POST(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dados = </a:t>
            </a:r>
            <a:r>
              <a:rPr lang="fr-F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request.json();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(existe)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'Já existe um docente com o e-mail informado'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prisma.docente.create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dados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 &amp;&amp; resultado.id)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salvar o docente informado'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65118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Retorno de docente por id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3600" dirty="0"/>
              <a:t>Para retornar um docente pelo seu id, crie a pasta [id] dentro de “app/docentes”, dentro desta pasta crie um arquivo chamado “route.js”.</a:t>
            </a:r>
          </a:p>
          <a:p>
            <a:pPr marL="0" indent="0">
              <a:buNone/>
            </a:pPr>
            <a:r>
              <a:rPr lang="pt-BR" sz="3600" dirty="0"/>
              <a:t>Crie um método com o nome GET, que recebe como argumento um objeto chamado </a:t>
            </a:r>
            <a:r>
              <a:rPr lang="pt-BR" sz="3600" b="1" dirty="0" err="1"/>
              <a:t>request</a:t>
            </a:r>
            <a:r>
              <a:rPr lang="pt-BR" sz="3600" dirty="0"/>
              <a:t> e outro com um atributo chamado </a:t>
            </a:r>
            <a:r>
              <a:rPr lang="pt-BR" sz="3600" b="1" dirty="0" err="1"/>
              <a:t>params</a:t>
            </a:r>
            <a:r>
              <a:rPr lang="pt-BR" sz="3600" dirty="0"/>
              <a:t>, e retorna o objeto obtido no banco de dados;</a:t>
            </a:r>
            <a:endParaRPr lang="pt-BR" sz="3200" dirty="0"/>
          </a:p>
          <a:p>
            <a:pPr marL="0" indent="0">
              <a:buNone/>
            </a:pPr>
            <a:r>
              <a:rPr lang="pt-BR" sz="3200" dirty="0"/>
              <a:t>Opcionalmente, retorne um código de erro caso haja uma falha na execução do método, ou um </a:t>
            </a:r>
            <a:r>
              <a:rPr lang="pt-BR" sz="3200" dirty="0" err="1"/>
              <a:t>NotFound</a:t>
            </a:r>
            <a:r>
              <a:rPr lang="pt-BR" sz="3200" dirty="0"/>
              <a:t>, caso o docente não seja encontrado.</a:t>
            </a:r>
            <a:endParaRPr lang="pt-BR" sz="3600" dirty="0"/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13992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Retorno de docente por id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9931AC-6759-A345-4B25-10BCAFE3BFC0}"/>
              </a:ext>
            </a:extLst>
          </p:cNvPr>
          <p:cNvSpPr txBox="1"/>
          <p:nvPr/>
        </p:nvSpPr>
        <p:spPr>
          <a:xfrm>
            <a:off x="762000" y="1964031"/>
            <a:ext cx="1077277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"next/server"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"../../../../../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GET(request, { params })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560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de docente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Em “app/api/docente/[id]/route.js”, crie um método chamado PUT, que recebe como argumentos </a:t>
            </a:r>
            <a:r>
              <a:rPr lang="pt-BR" sz="3600" b="1" dirty="0" err="1"/>
              <a:t>request</a:t>
            </a:r>
            <a:r>
              <a:rPr lang="pt-BR" sz="3600" dirty="0"/>
              <a:t> e </a:t>
            </a:r>
            <a:r>
              <a:rPr lang="pt-BR" sz="3600" b="1" dirty="0"/>
              <a:t>{param}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r>
              <a:rPr lang="pt-BR" sz="3600" dirty="0"/>
              <a:t>Opcionalmente, retorne erros caso os ids sejam diferentes, o docente não exista, ou haja um erro geral na execução do método.</a:t>
            </a:r>
          </a:p>
          <a:p>
            <a:pPr marL="0" indent="0">
              <a:buNone/>
            </a:pPr>
            <a:r>
              <a:rPr lang="pt-BR" sz="3600" dirty="0"/>
              <a:t>Retorne o objeto atualizado ou uma mensagem de sucesso.</a:t>
            </a:r>
          </a:p>
        </p:txBody>
      </p:sp>
    </p:spTree>
    <p:extLst>
      <p:ext uri="{BB962C8B-B14F-4D97-AF65-F5344CB8AC3E}">
        <p14:creationId xmlns:p14="http://schemas.microsoft.com/office/powerpoint/2010/main" val="4292390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de docente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1215ED-0468-8593-B9BA-A9F943571F67}"/>
              </a:ext>
            </a:extLst>
          </p:cNvPr>
          <p:cNvSpPr txBox="1"/>
          <p:nvPr/>
        </p:nvSpPr>
        <p:spPr>
          <a:xfrm>
            <a:off x="657223" y="1770665"/>
            <a:ext cx="10989831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PUT(request, { params })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fr-F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dados = </a:t>
            </a:r>
            <a:r>
              <a:rPr lang="fr-F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request.json();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 !==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dados.id.toString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id: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(dados.id) } });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(!existe)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prisma.docente.update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{ ...dados, id: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undefined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(dados.id)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atualizar o docente informado'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3391118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Remoção de docente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Em “app/api/docente/[id]/route.js”, crie um método chamado DELETE, que recebe como argumentos </a:t>
            </a:r>
            <a:r>
              <a:rPr lang="pt-BR" sz="3600" b="1" dirty="0" err="1"/>
              <a:t>request</a:t>
            </a:r>
            <a:r>
              <a:rPr lang="pt-BR" sz="3600" dirty="0"/>
              <a:t> e </a:t>
            </a:r>
            <a:r>
              <a:rPr lang="pt-BR" sz="3600" b="1" dirty="0"/>
              <a:t>{param}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r>
              <a:rPr lang="pt-BR" sz="3600" dirty="0"/>
              <a:t>Opcionalmente, retorne erros caso o docente não exista, ou haja um erro geral na execução do método.</a:t>
            </a:r>
          </a:p>
          <a:p>
            <a:pPr marL="0" indent="0">
              <a:buNone/>
            </a:pPr>
            <a:r>
              <a:rPr lang="pt-BR" sz="3600" dirty="0"/>
              <a:t>Retorne o objeto removido ou uma mensagem de sucesso.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717958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Remoção de docente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043EAC-048B-FF19-2D6E-B977BDD6FA37}"/>
              </a:ext>
            </a:extLst>
          </p:cNvPr>
          <p:cNvSpPr txBox="1"/>
          <p:nvPr/>
        </p:nvSpPr>
        <p:spPr>
          <a:xfrm>
            <a:off x="762001" y="1825762"/>
            <a:ext cx="107727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DELETE(request, { params })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id: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 }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(!existe)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prisma.docente.delete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'Docente removido com sucesso'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200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remover o docente informado'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250849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de docente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Para criar uma rota em que um docente será </a:t>
            </a:r>
            <a:r>
              <a:rPr lang="pt-BR" sz="3600" dirty="0" err="1"/>
              <a:t>pesquisdo</a:t>
            </a:r>
            <a:r>
              <a:rPr lang="pt-BR" sz="3600" dirty="0"/>
              <a:t>, crie a pasta “app/api/docente/pesquisar”, e dentro desta pasta, um arquivo chamado route.js.</a:t>
            </a:r>
          </a:p>
          <a:p>
            <a:pPr marL="0" indent="0">
              <a:buNone/>
            </a:pPr>
            <a:r>
              <a:rPr lang="pt-BR" sz="3600" dirty="0"/>
              <a:t>Crie um método do tipo POST, que irá receber pelo corpo (</a:t>
            </a:r>
            <a:r>
              <a:rPr lang="pt-BR" sz="3600" i="1" dirty="0"/>
              <a:t>body</a:t>
            </a:r>
            <a:r>
              <a:rPr lang="pt-BR" sz="3600" dirty="0"/>
              <a:t>) da requisição um objeto </a:t>
            </a:r>
            <a:r>
              <a:rPr lang="pt-BR" sz="3600" dirty="0" err="1"/>
              <a:t>Json</a:t>
            </a:r>
            <a:r>
              <a:rPr lang="pt-BR" sz="3600" dirty="0"/>
              <a:t> com os dados opcionais de busca (nome por semelhança e e-mail por igualdade).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82330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de docente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043EAC-048B-FF19-2D6E-B977BDD6FA37}"/>
              </a:ext>
            </a:extLst>
          </p:cNvPr>
          <p:cNvSpPr txBox="1"/>
          <p:nvPr/>
        </p:nvSpPr>
        <p:spPr>
          <a:xfrm>
            <a:off x="762001" y="1825762"/>
            <a:ext cx="107727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"next/server"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"../../../../../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POST(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data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request.json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().catch(() =&gt; {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prisma.docente.findMany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...(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data?.nome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nome: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data.nome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insensitive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...(data?.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data.email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insensitive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3067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realizar uma chamada a um </a:t>
            </a:r>
            <a:r>
              <a:rPr lang="pt-BR" sz="3200" i="1" dirty="0" err="1"/>
              <a:t>endpoint</a:t>
            </a:r>
            <a:r>
              <a:rPr lang="pt-BR" sz="3200" i="1" dirty="0"/>
              <a:t> </a:t>
            </a:r>
            <a:r>
              <a:rPr lang="pt-BR" sz="3200" dirty="0"/>
              <a:t>da API, podemos utilizar uma biblioteca (</a:t>
            </a:r>
            <a:r>
              <a:rPr lang="pt-BR" sz="3200" dirty="0" err="1"/>
              <a:t>Axios</a:t>
            </a:r>
            <a:r>
              <a:rPr lang="pt-BR" sz="3200" dirty="0"/>
              <a:t>, por exemplo) (</a:t>
            </a:r>
            <a:r>
              <a:rPr lang="pt-BR" sz="3200" dirty="0">
                <a:hlinkClick r:id="rId2"/>
              </a:rPr>
              <a:t>https://axios.rest</a:t>
            </a:r>
            <a:r>
              <a:rPr lang="pt-BR" sz="3200" dirty="0"/>
              <a:t>) ou a própria função </a:t>
            </a:r>
            <a:r>
              <a:rPr lang="pt-BR" sz="3200" dirty="0" err="1"/>
              <a:t>fetch</a:t>
            </a:r>
            <a:r>
              <a:rPr lang="pt-BR" sz="3200" dirty="0"/>
              <a:t>: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0D109B-1000-39B3-8D8B-BAAC8713CA69}"/>
              </a:ext>
            </a:extLst>
          </p:cNvPr>
          <p:cNvSpPr txBox="1"/>
          <p:nvPr/>
        </p:nvSpPr>
        <p:spPr>
          <a:xfrm>
            <a:off x="761619" y="34999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url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</a:t>
            </a:r>
            <a:r>
              <a:rPr lang="pt-BR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/*opções*/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86544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um novo projeto Next.js, deixe apenas a primeira linha do arquivos globals.css, e em “app/page.js”, crie um componente renderizado no cliente com apenas um botão para fazer a chamada a um </a:t>
            </a:r>
            <a:r>
              <a:rPr lang="pt-BR" sz="3200" i="1" dirty="0" err="1"/>
              <a:t>endpoint</a:t>
            </a:r>
            <a:r>
              <a:rPr lang="pt-BR" sz="3200" i="1" dirty="0"/>
              <a:t> </a:t>
            </a:r>
            <a:r>
              <a:rPr lang="pt-BR" sz="3200" dirty="0"/>
              <a:t>da API.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29992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414B6F-61C5-4EBB-7D25-DD97DBF7B098}"/>
              </a:ext>
            </a:extLst>
          </p:cNvPr>
          <p:cNvSpPr txBox="1"/>
          <p:nvPr/>
        </p:nvSpPr>
        <p:spPr>
          <a:xfrm>
            <a:off x="762002" y="1849540"/>
            <a:ext cx="1077277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handlePesquisar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//chamar API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"p-2"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handlePesquisar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" dirty="0"/>
          </a:p>
        </p:txBody>
      </p:sp>
    </p:spTree>
    <p:extLst>
      <p:ext uri="{BB962C8B-B14F-4D97-AF65-F5344CB8AC3E}">
        <p14:creationId xmlns:p14="http://schemas.microsoft.com/office/powerpoint/2010/main" val="4289159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o arquivo “app/actions.js”, com as funções que farão as chamadas para a API: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AEB0EE-6558-AEB4-696D-A4E73797F2B8}"/>
              </a:ext>
            </a:extLst>
          </p:cNvPr>
          <p:cNvSpPr txBox="1"/>
          <p:nvPr/>
        </p:nvSpPr>
        <p:spPr>
          <a:xfrm>
            <a:off x="761619" y="3090882"/>
            <a:ext cx="104328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server'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Pesquisar()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fetch(</a:t>
            </a:r>
            <a:r>
              <a:rPr lang="fr-F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"http://localhost:3000/api/docentes"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).then(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6069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o arquivo “app/page.js” para fazer a chamada da função criada anteriormente: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AEB0EE-6558-AEB4-696D-A4E73797F2B8}"/>
              </a:ext>
            </a:extLst>
          </p:cNvPr>
          <p:cNvSpPr txBox="1"/>
          <p:nvPr/>
        </p:nvSpPr>
        <p:spPr>
          <a:xfrm>
            <a:off x="761619" y="3100118"/>
            <a:ext cx="1043285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Pesquisar }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handlePesquisar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.log(resultado);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handlePesquisar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383774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facilitar a utilização do endereço do API, podemos declarar este valor como uma variável de ambiente.</a:t>
            </a:r>
          </a:p>
          <a:p>
            <a:r>
              <a:rPr lang="pt-BR" sz="3200" dirty="0"/>
              <a:t>Para isso, crie o arquivo .</a:t>
            </a:r>
            <a:r>
              <a:rPr lang="pt-BR" sz="3200" dirty="0" err="1"/>
              <a:t>env</a:t>
            </a:r>
            <a:r>
              <a:rPr lang="pt-BR" sz="3200" dirty="0"/>
              <a:t>, e defina a URL da api: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7D3506-26E2-B6BA-1D12-F4BA5EE6380E}"/>
              </a:ext>
            </a:extLst>
          </p:cNvPr>
          <p:cNvSpPr txBox="1"/>
          <p:nvPr/>
        </p:nvSpPr>
        <p:spPr>
          <a:xfrm>
            <a:off x="761619" y="4087152"/>
            <a:ext cx="9490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API_URL=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"http://localhost:3000/api"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69370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a função em “app/actions.js” para utilizar o valor presente no arquivo .</a:t>
            </a:r>
            <a:r>
              <a:rPr lang="pt-BR" sz="3200" dirty="0" err="1"/>
              <a:t>env</a:t>
            </a:r>
            <a:r>
              <a:rPr lang="pt-BR" sz="3200" dirty="0"/>
              <a:t>.</a:t>
            </a:r>
          </a:p>
          <a:p>
            <a:r>
              <a:rPr lang="pt-BR" sz="3200" dirty="0"/>
              <a:t>Para recuperar variáveis definidas no arquivo .</a:t>
            </a:r>
            <a:r>
              <a:rPr lang="pt-BR" sz="3200" dirty="0" err="1"/>
              <a:t>env</a:t>
            </a:r>
            <a:r>
              <a:rPr lang="pt-BR" sz="3200" dirty="0"/>
              <a:t>, utilize </a:t>
            </a:r>
            <a:r>
              <a:rPr lang="pt-BR" sz="3200" b="1" dirty="0" err="1"/>
              <a:t>process.env.nome_da_variável</a:t>
            </a:r>
            <a:r>
              <a:rPr lang="pt-BR" sz="3200" dirty="0"/>
              <a:t> .</a:t>
            </a:r>
          </a:p>
          <a:p>
            <a:r>
              <a:rPr lang="pt-BR" sz="3200" dirty="0"/>
              <a:t>Esses valores só podem ser acessados no servidor.</a:t>
            </a:r>
          </a:p>
          <a:p>
            <a:r>
              <a:rPr lang="pt-BR" sz="3200" dirty="0"/>
              <a:t>Caso queira que uma variável seja acessível no cliente, seu nome deve começar com o prefixo </a:t>
            </a:r>
            <a:r>
              <a:rPr lang="pt-BR" sz="3200" b="1" dirty="0"/>
              <a:t>NEXT_PUBLIC</a:t>
            </a:r>
            <a:r>
              <a:rPr lang="pt-BR" sz="3200" dirty="0"/>
              <a:t>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05436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Pesquisa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414B6F-61C5-4EBB-7D25-DD97DBF7B098}"/>
              </a:ext>
            </a:extLst>
          </p:cNvPr>
          <p:cNvSpPr txBox="1"/>
          <p:nvPr/>
        </p:nvSpPr>
        <p:spPr>
          <a:xfrm>
            <a:off x="762002" y="1849540"/>
            <a:ext cx="107727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server'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" dirty="0"/>
          </a:p>
        </p:txBody>
      </p:sp>
    </p:spTree>
    <p:extLst>
      <p:ext uri="{BB962C8B-B14F-4D97-AF65-F5344CB8AC3E}">
        <p14:creationId xmlns:p14="http://schemas.microsoft.com/office/powerpoint/2010/main" val="1084399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armazenar valores, devemos fazer uma requisição do tipo POST para a rota “/docentes”, informando no cabeçalho da requisição os dados a serem inseridos.</a:t>
            </a:r>
          </a:p>
          <a:p>
            <a:r>
              <a:rPr lang="pt-BR" sz="3200" dirty="0"/>
              <a:t>No projeto com o </a:t>
            </a:r>
            <a:r>
              <a:rPr lang="pt-BR" sz="3200" i="1" dirty="0"/>
              <a:t>site</a:t>
            </a:r>
            <a:r>
              <a:rPr lang="pt-BR" sz="3200" dirty="0"/>
              <a:t>, crie um botão que executa uma função no seu clique: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BCD69B-8780-7601-73B5-C30E79C3DC00}"/>
              </a:ext>
            </a:extLst>
          </p:cNvPr>
          <p:cNvSpPr txBox="1"/>
          <p:nvPr/>
        </p:nvSpPr>
        <p:spPr>
          <a:xfrm>
            <a:off x="923637" y="4700270"/>
            <a:ext cx="10506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ml-2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handleInserir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Inserir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71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3609870"/>
            <a:ext cx="10753725" cy="2883294"/>
          </a:xfrm>
        </p:spPr>
        <p:txBody>
          <a:bodyPr>
            <a:normAutofit/>
          </a:bodyPr>
          <a:lstStyle/>
          <a:p>
            <a:r>
              <a:rPr lang="pt-BR" sz="3200" dirty="0"/>
              <a:t>Em “actions.js”, crie uma função para fazer a requisição do tipo POST à API, alterando o verbo utilizado no parâmetro </a:t>
            </a:r>
            <a:r>
              <a:rPr lang="pt-BR" sz="3200" b="1" dirty="0" err="1"/>
              <a:t>method</a:t>
            </a:r>
            <a:r>
              <a:rPr lang="pt-BR" sz="3200" dirty="0"/>
              <a:t> e informando dados no corpo da requisição, como um objeto </a:t>
            </a:r>
            <a:r>
              <a:rPr lang="pt-BR" sz="3200" dirty="0" err="1"/>
              <a:t>Json</a:t>
            </a:r>
            <a:r>
              <a:rPr lang="pt-BR" sz="3200" dirty="0"/>
              <a:t>.</a:t>
            </a:r>
          </a:p>
          <a:p>
            <a:r>
              <a:rPr lang="pt-BR" sz="3200" dirty="0"/>
              <a:t>Opcionalmente, retorne um código de sucesso ou o objeto inserido para função que chamar essa função, e a atualize.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handleInserir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9870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Inserção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Salvar(dados)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'POST'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Accept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body: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/docentes`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7277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o componente de </a:t>
            </a:r>
            <a:r>
              <a:rPr lang="pt-BR" sz="3200" i="1" dirty="0"/>
              <a:t>interface </a:t>
            </a:r>
            <a:r>
              <a:rPr lang="pt-BR" sz="3200" dirty="0"/>
              <a:t>para fazer uma chamada à função escrita anteriormente.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D3E3A8-0B57-E2F1-B770-8F7E9CA2FC2B}"/>
              </a:ext>
            </a:extLst>
          </p:cNvPr>
          <p:cNvSpPr txBox="1"/>
          <p:nvPr/>
        </p:nvSpPr>
        <p:spPr>
          <a:xfrm>
            <a:off x="761619" y="3023547"/>
            <a:ext cx="9777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Pesquisar, Salvar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3D697-4A38-9DC8-0ECA-4EB033EB17AA}"/>
              </a:ext>
            </a:extLst>
          </p:cNvPr>
          <p:cNvSpPr txBox="1"/>
          <p:nvPr/>
        </p:nvSpPr>
        <p:spPr>
          <a:xfrm>
            <a:off x="761618" y="3828810"/>
            <a:ext cx="112179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handleInserir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'Tiago'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email: 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'tad@ifsp.du.br'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.log(resultado);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8229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Obter por 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obter um docente pelo seu ID, devemos fazer uma requisição do tipo GET para a rota “/docentes/id”, informando o ID desejado na rota da requisição.</a:t>
            </a:r>
          </a:p>
          <a:p>
            <a:r>
              <a:rPr lang="pt-BR" sz="3200" dirty="0"/>
              <a:t>No projeto com o </a:t>
            </a:r>
            <a:r>
              <a:rPr lang="pt-BR" sz="3200" i="1" dirty="0"/>
              <a:t>site</a:t>
            </a:r>
            <a:r>
              <a:rPr lang="pt-BR" sz="3200" dirty="0"/>
              <a:t>, crie um botão que executa uma função no seu clique: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BCD69B-8780-7601-73B5-C30E79C3DC00}"/>
              </a:ext>
            </a:extLst>
          </p:cNvPr>
          <p:cNvSpPr txBox="1"/>
          <p:nvPr/>
        </p:nvSpPr>
        <p:spPr>
          <a:xfrm>
            <a:off x="923637" y="4700270"/>
            <a:ext cx="10506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ml-2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handleObter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Obter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8670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Obter por 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3609870"/>
            <a:ext cx="10753725" cy="2883294"/>
          </a:xfrm>
        </p:spPr>
        <p:txBody>
          <a:bodyPr>
            <a:normAutofit/>
          </a:bodyPr>
          <a:lstStyle/>
          <a:p>
            <a:r>
              <a:rPr lang="pt-BR" sz="3200" dirty="0"/>
              <a:t>Em “actions.js”, crie uma função para fazer a requisição do tipo GET à API, informando o ID desejado no própria rota.</a:t>
            </a:r>
          </a:p>
          <a:p>
            <a:r>
              <a:rPr lang="pt-BR" sz="3200" dirty="0"/>
              <a:t>Opcionalmente, retorne um código de sucesso ou o objeto atualizado para função que chamar essa função, e a atualize.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handleObter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0939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Obter por ID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3" y="1951672"/>
            <a:ext cx="10772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Obter(id)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66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Obter por 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o componente de </a:t>
            </a:r>
            <a:r>
              <a:rPr lang="pt-BR" sz="3200" i="1" dirty="0"/>
              <a:t>interface </a:t>
            </a:r>
            <a:r>
              <a:rPr lang="pt-BR" sz="3200" dirty="0"/>
              <a:t>para fazer uma chamada à função escrita anteriormente.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D3E3A8-0B57-E2F1-B770-8F7E9CA2FC2B}"/>
              </a:ext>
            </a:extLst>
          </p:cNvPr>
          <p:cNvSpPr txBox="1"/>
          <p:nvPr/>
        </p:nvSpPr>
        <p:spPr>
          <a:xfrm>
            <a:off x="761619" y="3023547"/>
            <a:ext cx="9777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Obter, Pesquisar, Salvar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3D697-4A38-9DC8-0ECA-4EB033EB17AA}"/>
              </a:ext>
            </a:extLst>
          </p:cNvPr>
          <p:cNvSpPr txBox="1"/>
          <p:nvPr/>
        </p:nvSpPr>
        <p:spPr>
          <a:xfrm>
            <a:off x="761618" y="3828810"/>
            <a:ext cx="112179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handleObter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Obter(3); 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//usar id que existe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.log(resultado);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72969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Atualização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atualizar valores, devemos fazer uma requisição do tipo PUT para a rota “/docentes/id”, informando no cabeçalho da requisição os dados a serem atualizados e na rota o ID do docente a ser atualizado.</a:t>
            </a:r>
          </a:p>
          <a:p>
            <a:r>
              <a:rPr lang="pt-BR" sz="3200" dirty="0"/>
              <a:t>No projeto com o </a:t>
            </a:r>
            <a:r>
              <a:rPr lang="pt-BR" sz="3200" i="1" dirty="0"/>
              <a:t>site</a:t>
            </a:r>
            <a:r>
              <a:rPr lang="pt-BR" sz="3200" dirty="0"/>
              <a:t>, crie um botão que executa uma função no seu clique: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BCD69B-8780-7601-73B5-C30E79C3DC00}"/>
              </a:ext>
            </a:extLst>
          </p:cNvPr>
          <p:cNvSpPr txBox="1"/>
          <p:nvPr/>
        </p:nvSpPr>
        <p:spPr>
          <a:xfrm>
            <a:off x="923637" y="4931179"/>
            <a:ext cx="10506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ml-2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Atualizar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89082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Atualização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3609870"/>
            <a:ext cx="10753725" cy="2883294"/>
          </a:xfrm>
        </p:spPr>
        <p:txBody>
          <a:bodyPr>
            <a:normAutofit/>
          </a:bodyPr>
          <a:lstStyle/>
          <a:p>
            <a:r>
              <a:rPr lang="pt-BR" sz="3200" dirty="0"/>
              <a:t>Em “actions.js”, crie uma função para fazer a requisição do tipo PUT à API, alterando o verbo utilizado no parâmetro </a:t>
            </a:r>
            <a:r>
              <a:rPr lang="pt-BR" sz="3200" b="1" dirty="0" err="1"/>
              <a:t>method</a:t>
            </a:r>
            <a:r>
              <a:rPr lang="pt-BR" sz="3200" dirty="0"/>
              <a:t>, informando o ID desejado na rota e informando os dados do objeto atualizado no corpo da requisição, como um objeto </a:t>
            </a:r>
            <a:r>
              <a:rPr lang="pt-BR" sz="3200" dirty="0" err="1"/>
              <a:t>Json</a:t>
            </a:r>
            <a:r>
              <a:rPr lang="pt-BR" sz="3200" dirty="0"/>
              <a:t>.</a:t>
            </a:r>
          </a:p>
          <a:p>
            <a:r>
              <a:rPr lang="pt-BR" sz="3200" dirty="0"/>
              <a:t>Opcionalmente, retorne um código de sucesso ou o objeto atualizado para função que chamar essa função, e a atualize.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7438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Atualização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Atualizar(dados)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'PUT'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Accept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body: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dados.id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493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Atualização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o componente de </a:t>
            </a:r>
            <a:r>
              <a:rPr lang="pt-BR" sz="3200" i="1" dirty="0"/>
              <a:t>interface </a:t>
            </a:r>
            <a:r>
              <a:rPr lang="pt-BR" sz="3200" dirty="0"/>
              <a:t>para fazer uma chamada à função escrita anteriormente.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D3E3A8-0B57-E2F1-B770-8F7E9CA2FC2B}"/>
              </a:ext>
            </a:extLst>
          </p:cNvPr>
          <p:cNvSpPr txBox="1"/>
          <p:nvPr/>
        </p:nvSpPr>
        <p:spPr>
          <a:xfrm>
            <a:off x="761619" y="3023547"/>
            <a:ext cx="9777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Atualizar, Obter, Pesquisar, Salvar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3D697-4A38-9DC8-0ECA-4EB033EB17AA}"/>
              </a:ext>
            </a:extLst>
          </p:cNvPr>
          <p:cNvSpPr txBox="1"/>
          <p:nvPr/>
        </p:nvSpPr>
        <p:spPr>
          <a:xfrm>
            <a:off x="761619" y="3669878"/>
            <a:ext cx="112179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6,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nome: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TiagoAtualizado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email: 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'tadAtualizado@ifsp.du.br'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.log(resultado);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313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Remoção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remover um valor, devemos fazer uma requisição do tipo DELETE para a rota “/docentes/id”, informando na rota o ID do docente a ser removido.</a:t>
            </a:r>
          </a:p>
          <a:p>
            <a:r>
              <a:rPr lang="pt-BR" sz="3200" dirty="0"/>
              <a:t>No projeto com o </a:t>
            </a:r>
            <a:r>
              <a:rPr lang="pt-BR" sz="3200" i="1" dirty="0"/>
              <a:t>site</a:t>
            </a:r>
            <a:r>
              <a:rPr lang="pt-BR" sz="3200" dirty="0"/>
              <a:t>, crie um botão que executa uma função no seu clique: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BCD69B-8780-7601-73B5-C30E79C3DC00}"/>
              </a:ext>
            </a:extLst>
          </p:cNvPr>
          <p:cNvSpPr txBox="1"/>
          <p:nvPr/>
        </p:nvSpPr>
        <p:spPr>
          <a:xfrm>
            <a:off x="842819" y="4700270"/>
            <a:ext cx="10506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ml-2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bg-blue-600 hover:bg-blue-700 active:bg-blue-800 cursor-pointer disabled:bg-blue-200"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0291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Remoção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3609870"/>
            <a:ext cx="10753725" cy="2883294"/>
          </a:xfrm>
        </p:spPr>
        <p:txBody>
          <a:bodyPr>
            <a:normAutofit/>
          </a:bodyPr>
          <a:lstStyle/>
          <a:p>
            <a:r>
              <a:rPr lang="pt-BR" sz="3200" dirty="0"/>
              <a:t>Em “actions.js”, crie uma função para fazer a requisição do tipo DELETE à API, alterando o verbo utilizado no parâmetro </a:t>
            </a:r>
            <a:r>
              <a:rPr lang="pt-BR" sz="3200" b="1" dirty="0" err="1"/>
              <a:t>method</a:t>
            </a:r>
            <a:r>
              <a:rPr lang="pt-BR" sz="3200" dirty="0"/>
              <a:t>, informando o ID desejado na.</a:t>
            </a:r>
          </a:p>
          <a:p>
            <a:r>
              <a:rPr lang="pt-BR" sz="3200" dirty="0"/>
              <a:t>Opcionalmente, retorne um código de sucesso ou o ID do objeto removido para função que chamar essa função, e a atualize.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86801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1155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Remoção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175214-BAFC-F79F-3B19-6F0EC5ABC614}"/>
              </a:ext>
            </a:extLst>
          </p:cNvPr>
          <p:cNvSpPr txBox="1"/>
          <p:nvPr/>
        </p:nvSpPr>
        <p:spPr>
          <a:xfrm>
            <a:off x="676274" y="1951672"/>
            <a:ext cx="77749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'DELETE'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p.text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42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B938-BC0E-2517-78F3-9ABA291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Chamando a API – Remoção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BBF65-798F-D307-7353-14DCA5B3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Atualize o componente de </a:t>
            </a:r>
            <a:r>
              <a:rPr lang="pt-BR" sz="3200" i="1" dirty="0"/>
              <a:t>interface </a:t>
            </a:r>
            <a:r>
              <a:rPr lang="pt-BR" sz="3200" dirty="0"/>
              <a:t>para fazer uma chamada à função escrita anteriormente.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D3E3A8-0B57-E2F1-B770-8F7E9CA2FC2B}"/>
              </a:ext>
            </a:extLst>
          </p:cNvPr>
          <p:cNvSpPr txBox="1"/>
          <p:nvPr/>
        </p:nvSpPr>
        <p:spPr>
          <a:xfrm>
            <a:off x="761619" y="3023547"/>
            <a:ext cx="10839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Atualizar, Obter, Pesquisar, Remover, Salvar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3D697-4A38-9DC8-0ECA-4EB033EB17AA}"/>
              </a:ext>
            </a:extLst>
          </p:cNvPr>
          <p:cNvSpPr txBox="1"/>
          <p:nvPr/>
        </p:nvSpPr>
        <p:spPr>
          <a:xfrm>
            <a:off x="761619" y="3669878"/>
            <a:ext cx="112179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Remover(1);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.log(resultado);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80659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EC1DF-0F8E-C80F-73FB-F8DA2B23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200" dirty="0"/>
              <a:t>O serviços providos por uma API podem ser públicos, ou seja, podem ser acessados por qualquer aplicação, ou podem ser protegidos, o que indica que apenas determinadas aplicações podem acessá-los. Há quatro principais formas de proteger uma API:</a:t>
            </a:r>
          </a:p>
          <a:p>
            <a:pPr marL="1163638" lvl="2" indent="-547688">
              <a:buFont typeface="Arial" panose="020B0604020202020204" pitchFamily="34" charset="0"/>
              <a:buChar char="•"/>
            </a:pPr>
            <a:r>
              <a:rPr lang="pt-BR" sz="2800" i="0" dirty="0"/>
              <a:t>Limitar requisições recebidas a endereços autorizados;</a:t>
            </a:r>
          </a:p>
          <a:p>
            <a:pPr marL="1163638" lvl="2" indent="-547688">
              <a:buFont typeface="Arial" panose="020B0604020202020204" pitchFamily="34" charset="0"/>
              <a:buChar char="•"/>
            </a:pPr>
            <a:r>
              <a:rPr lang="pt-BR" sz="2800" i="0" dirty="0"/>
              <a:t>Realizar autenticação na API e permitir apenas requisições que tenham informação da autenticação realizada;</a:t>
            </a:r>
          </a:p>
          <a:p>
            <a:pPr marL="1163638" lvl="2" indent="-547688">
              <a:buFont typeface="Arial" panose="020B0604020202020204" pitchFamily="34" charset="0"/>
              <a:buChar char="•"/>
            </a:pPr>
            <a:r>
              <a:rPr lang="pt-BR" sz="2800" i="0" dirty="0"/>
              <a:t>Permitir apenas requisições que informem uma chave de acesso;</a:t>
            </a:r>
          </a:p>
          <a:p>
            <a:pPr marL="1163638" lvl="2" indent="-547688">
              <a:buFont typeface="Arial" panose="020B0604020202020204" pitchFamily="34" charset="0"/>
              <a:buChar char="•"/>
            </a:pPr>
            <a:r>
              <a:rPr lang="pt-BR" sz="2800" i="0" dirty="0"/>
              <a:t>Restringir acesso ao hospedar a API.</a:t>
            </a:r>
          </a:p>
        </p:txBody>
      </p:sp>
    </p:spTree>
    <p:extLst>
      <p:ext uri="{BB962C8B-B14F-4D97-AF65-F5344CB8AC3E}">
        <p14:creationId xmlns:p14="http://schemas.microsoft.com/office/powerpoint/2010/main" val="29846889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EC1DF-0F8E-C80F-73FB-F8DA2B23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200" dirty="0"/>
              <a:t>Adicione a chave desejada da API como uma variável no arquivo “.</a:t>
            </a:r>
            <a:r>
              <a:rPr lang="pt-BR" sz="3200" dirty="0" err="1"/>
              <a:t>env</a:t>
            </a:r>
            <a:r>
              <a:rPr lang="pt-BR" sz="3200" dirty="0"/>
              <a:t>”:</a:t>
            </a:r>
          </a:p>
          <a:p>
            <a:endParaRPr lang="pt-BR" sz="3200" i="0" dirty="0"/>
          </a:p>
          <a:p>
            <a:endParaRPr lang="pt-BR" sz="3200" dirty="0"/>
          </a:p>
          <a:p>
            <a:r>
              <a:rPr lang="pt-BR" sz="3200" dirty="0"/>
              <a:t>Em todas as funções de </a:t>
            </a:r>
            <a:r>
              <a:rPr lang="pt-BR" sz="3200" i="1" dirty="0" err="1"/>
              <a:t>endpoints</a:t>
            </a:r>
            <a:r>
              <a:rPr lang="pt-BR" sz="3200" dirty="0"/>
              <a:t>, verifique se a chave informada no cabeçalho com o nome “x-api-</a:t>
            </a:r>
            <a:r>
              <a:rPr lang="pt-BR" sz="3200" dirty="0" err="1"/>
              <a:t>key</a:t>
            </a:r>
            <a:r>
              <a:rPr lang="pt-BR" sz="3200" dirty="0"/>
              <a:t>” (ou outro, se </a:t>
            </a:r>
            <a:r>
              <a:rPr lang="pt-BR" sz="3200" dirty="0" err="1"/>
              <a:t>desajado</a:t>
            </a:r>
            <a:r>
              <a:rPr lang="pt-BR" sz="3200" dirty="0"/>
              <a:t>) é a mesma que a presente no arquivo .</a:t>
            </a:r>
            <a:r>
              <a:rPr lang="pt-BR" sz="3200" dirty="0" err="1"/>
              <a:t>env</a:t>
            </a:r>
            <a:r>
              <a:rPr lang="pt-BR" sz="3200" dirty="0"/>
              <a:t>. Só permita execução da função em caso positivo.</a:t>
            </a:r>
            <a:endParaRPr lang="pt-BR" sz="2800" i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4095A2-89C3-7F85-4B9B-8641984B79B1}"/>
              </a:ext>
            </a:extLst>
          </p:cNvPr>
          <p:cNvSpPr txBox="1"/>
          <p:nvPr/>
        </p:nvSpPr>
        <p:spPr>
          <a:xfrm>
            <a:off x="761619" y="3087361"/>
            <a:ext cx="10772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API_KEY=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"nf872n38f72n3d7823hd8723edw8ehd6wegd"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207174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GET(request)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prisma.docente.findMany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610774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POST(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dados = </a:t>
            </a:r>
            <a:r>
              <a:rPr lang="fr-F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request.json();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(existe)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'Já existe um docente com o e-mail informado'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prisma.docente.create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dados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 &amp;&amp; resultado.id)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salvar o docente informado'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94733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POST(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data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request.json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().catch(() =&gt; { });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prisma.docente.findMany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...(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data?.nome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nome: {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data.nome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insensitive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...(data?.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data.email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insensitive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681671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GET(request, { params })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1014598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PUT(request, { params })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fr-F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dados = </a:t>
            </a:r>
            <a:r>
              <a:rPr lang="fr-F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request.json();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 !==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dados.id.toString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id: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(dados.id) } });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(!existe)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prisma.docente.update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{ ...dados, id: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undefined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(dados.id)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NextResponse.json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atualizar o docente informado'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3357667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4BCF3E-7E9D-F8E3-2335-AB09E38DE723}"/>
              </a:ext>
            </a:extLst>
          </p:cNvPr>
          <p:cNvSpPr txBox="1"/>
          <p:nvPr/>
        </p:nvSpPr>
        <p:spPr>
          <a:xfrm>
            <a:off x="762001" y="2056348"/>
            <a:ext cx="106679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DELETE(request, { params })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request.headers.get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"x-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Response(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error: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"Unauthorized"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}),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status: 403,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'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existe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prisma.docente.findUnique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id: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 }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(!existe)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404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prisma.docente.delete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'Docente removido com sucesso'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200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ao remover o docente informado'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.log(e);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NextResponse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Falha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geral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 status: 400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622284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EC1DF-0F8E-C80F-73FB-F8DA2B23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200" dirty="0"/>
              <a:t>Todas as operações do </a:t>
            </a:r>
            <a:r>
              <a:rPr lang="pt-BR" sz="3200" i="1" dirty="0"/>
              <a:t>site </a:t>
            </a:r>
            <a:r>
              <a:rPr lang="pt-BR" sz="3200" dirty="0"/>
              <a:t>de acesso à API não devem funcionar mais, pois não está enviando, no cabeçalho de cada requisição dele, a chave esperada da API.</a:t>
            </a:r>
          </a:p>
          <a:p>
            <a:r>
              <a:rPr lang="pt-BR" sz="2800" i="0" dirty="0"/>
              <a:t>Armazene a chave de acesso à API como uma variável de ambiente no arquivo “.</a:t>
            </a:r>
            <a:r>
              <a:rPr lang="pt-BR" sz="2800" i="0" dirty="0" err="1"/>
              <a:t>env</a:t>
            </a:r>
            <a:r>
              <a:rPr lang="pt-BR" sz="2800" i="0" dirty="0"/>
              <a:t>”: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5516D1-34D6-ACE7-840E-650D65825652}"/>
              </a:ext>
            </a:extLst>
          </p:cNvPr>
          <p:cNvSpPr txBox="1"/>
          <p:nvPr/>
        </p:nvSpPr>
        <p:spPr>
          <a:xfrm>
            <a:off x="761619" y="4438180"/>
            <a:ext cx="9762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API_KEY=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"nf872n38f72n3d7823hd8723edw8ehd6wegd"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715559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EC1DF-0F8E-C80F-73FB-F8DA2B23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200" dirty="0"/>
              <a:t>Todas as operações do </a:t>
            </a:r>
            <a:r>
              <a:rPr lang="pt-BR" sz="3200" i="1" dirty="0"/>
              <a:t>site </a:t>
            </a:r>
            <a:r>
              <a:rPr lang="pt-BR" sz="3200" dirty="0"/>
              <a:t>de acesso à API não devem funcionar mais, pois não está enviando, no cabeçalho de cada requisição dele, a chave esperada da API.</a:t>
            </a:r>
          </a:p>
          <a:p>
            <a:r>
              <a:rPr lang="pt-BR" sz="2800" i="0" dirty="0"/>
              <a:t>Armazene a chave de acesso à API como uma variável de ambiente no arquivo “.</a:t>
            </a:r>
            <a:r>
              <a:rPr lang="pt-BR" sz="2800" i="0" dirty="0" err="1"/>
              <a:t>env</a:t>
            </a:r>
            <a:r>
              <a:rPr lang="pt-BR" sz="2800" i="0" dirty="0"/>
              <a:t>”:</a:t>
            </a:r>
          </a:p>
          <a:p>
            <a:endParaRPr lang="pt-BR" sz="2800" dirty="0"/>
          </a:p>
          <a:p>
            <a:endParaRPr lang="pt-BR" sz="2800" i="0" dirty="0"/>
          </a:p>
          <a:p>
            <a:r>
              <a:rPr lang="pt-BR" sz="2800" dirty="0"/>
              <a:t>Atualize todas as chamadas do arquivo “actions.js” para enviar, pelo cabeçalho da requisição, a chave armazenada no arquivo .</a:t>
            </a:r>
            <a:r>
              <a:rPr lang="pt-BR" sz="2800" dirty="0" err="1"/>
              <a:t>env</a:t>
            </a:r>
            <a:r>
              <a:rPr lang="pt-BR" sz="2800" dirty="0"/>
              <a:t>.</a:t>
            </a:r>
            <a:endParaRPr lang="pt-BR" sz="2800" i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5516D1-34D6-ACE7-840E-650D65825652}"/>
              </a:ext>
            </a:extLst>
          </p:cNvPr>
          <p:cNvSpPr txBox="1"/>
          <p:nvPr/>
        </p:nvSpPr>
        <p:spPr>
          <a:xfrm>
            <a:off x="761619" y="4438180"/>
            <a:ext cx="9762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API_KEY=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"nf872n38f72n3d7823hd8723edw8ehd6wegd"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923531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38F938-4FCC-AF15-DC38-3CCAC92033CF}"/>
              </a:ext>
            </a:extLst>
          </p:cNvPr>
          <p:cNvSpPr txBox="1"/>
          <p:nvPr/>
        </p:nvSpPr>
        <p:spPr>
          <a:xfrm>
            <a:off x="762001" y="1917342"/>
            <a:ext cx="85113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'x-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-key':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55726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38F938-4FCC-AF15-DC38-3CCAC92033CF}"/>
              </a:ext>
            </a:extLst>
          </p:cNvPr>
          <p:cNvSpPr txBox="1"/>
          <p:nvPr/>
        </p:nvSpPr>
        <p:spPr>
          <a:xfrm>
            <a:off x="762001" y="1917342"/>
            <a:ext cx="105525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Salvar(dados)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'POST'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Accept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'x-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-key':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body: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/docentes`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725848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38F938-4FCC-AF15-DC38-3CCAC92033CF}"/>
              </a:ext>
            </a:extLst>
          </p:cNvPr>
          <p:cNvSpPr txBox="1"/>
          <p:nvPr/>
        </p:nvSpPr>
        <p:spPr>
          <a:xfrm>
            <a:off x="762001" y="1917342"/>
            <a:ext cx="85113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Obter(id)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'x-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-key':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7220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38F938-4FCC-AF15-DC38-3CCAC92033CF}"/>
              </a:ext>
            </a:extLst>
          </p:cNvPr>
          <p:cNvSpPr txBox="1"/>
          <p:nvPr/>
        </p:nvSpPr>
        <p:spPr>
          <a:xfrm>
            <a:off x="762001" y="1917342"/>
            <a:ext cx="97397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Atualizar(dados)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'PUT'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Accept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Content-Type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'x-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-key':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body: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JSON.stringify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dados.id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p.json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771803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6876-2258-15D1-6457-41A120D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Protegendo a API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38F938-4FCC-AF15-DC38-3CCAC92033CF}"/>
              </a:ext>
            </a:extLst>
          </p:cNvPr>
          <p:cNvSpPr txBox="1"/>
          <p:nvPr/>
        </p:nvSpPr>
        <p:spPr>
          <a:xfrm>
            <a:off x="762001" y="1917342"/>
            <a:ext cx="85113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process.env.API_URL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/docentes/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'DELETE'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'x-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-key':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process.env.API_KEY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p.status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200)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p.text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().then(q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resultado = q;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91487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BB586-7D8F-A78F-A716-C9514BFA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56152-4F71-1A98-1D5C-F0BB2A67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3200" dirty="0"/>
              <a:t>Escreva uma API que, no </a:t>
            </a:r>
            <a:r>
              <a:rPr lang="pt-BR" sz="3200" i="1" dirty="0" err="1"/>
              <a:t>endpoint</a:t>
            </a:r>
            <a:r>
              <a:rPr lang="pt-BR" sz="3200" i="1" dirty="0"/>
              <a:t> </a:t>
            </a:r>
            <a:r>
              <a:rPr lang="pt-BR" sz="3200" dirty="0"/>
              <a:t>/dobro, receba um número inteiro, pela URL, e retorne o dobro do seu valor.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Escreva uma API que, no </a:t>
            </a:r>
            <a:r>
              <a:rPr lang="pt-BR" sz="3200" i="1" dirty="0" err="1"/>
              <a:t>endpoint</a:t>
            </a:r>
            <a:r>
              <a:rPr lang="pt-BR" sz="3200" i="1" dirty="0"/>
              <a:t> </a:t>
            </a:r>
            <a:r>
              <a:rPr lang="pt-BR" sz="3200" dirty="0"/>
              <a:t>/metade, receba um número inteiro, pela URL, e retorne a metade do seu valor.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Escreva uma API que, no </a:t>
            </a:r>
            <a:r>
              <a:rPr lang="pt-BR" sz="3200" i="1" dirty="0" err="1"/>
              <a:t>endpoint</a:t>
            </a:r>
            <a:r>
              <a:rPr lang="pt-BR" sz="3200" i="1" dirty="0"/>
              <a:t> </a:t>
            </a:r>
            <a:r>
              <a:rPr lang="pt-BR" sz="3200" dirty="0"/>
              <a:t>/calculo, receba pelo corpo da requisição um objeto, contendo dois números inteiros e um caractere indicando a operação a ser realizada entre o primeiro e segundo número.</a:t>
            </a:r>
          </a:p>
          <a:p>
            <a:pPr marL="457200" indent="-457200">
              <a:buFont typeface="+mj-lt"/>
              <a:buAutoNum type="arabicPeriod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252241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BB586-7D8F-A78F-A716-C9514BFA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56152-4F71-1A98-1D5C-F0BB2A67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pt-BR" sz="3200" dirty="0"/>
              <a:t>Escreva uma API que contenha os </a:t>
            </a:r>
            <a:r>
              <a:rPr lang="pt-BR" sz="3200" i="1" dirty="0" err="1"/>
              <a:t>endpoints</a:t>
            </a:r>
            <a:r>
              <a:rPr lang="pt-BR" sz="3200" dirty="0"/>
              <a:t> para as operações CRUD básicas de um curso de ensino, em que são informados seu nome e seu ano inicial de oferta.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pt-BR" sz="3200" dirty="0"/>
              <a:t>Na API anterior, adicione os </a:t>
            </a:r>
            <a:r>
              <a:rPr lang="pt-BR" sz="3200" i="1" dirty="0" err="1"/>
              <a:t>endpoints</a:t>
            </a:r>
            <a:r>
              <a:rPr lang="pt-BR" sz="3200" dirty="0"/>
              <a:t> para as operações CRUD básicas de disciplinas de um curso de ensino, que sempre devem ser relacionadas a um curso. De cada uma delas se conhece seu nome e sua carga horária, em minutos.</a:t>
            </a:r>
          </a:p>
          <a:p>
            <a:pPr marL="457200" indent="-457200">
              <a:buFont typeface="+mj-lt"/>
              <a:buAutoNum type="arabicPeriod" startAt="4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02908234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2044</TotalTime>
  <Words>6353</Words>
  <Application>Microsoft Office PowerPoint</Application>
  <PresentationFormat>Widescreen</PresentationFormat>
  <Paragraphs>848</Paragraphs>
  <Slides>68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5" baseType="lpstr">
      <vt:lpstr>Arial</vt:lpstr>
      <vt:lpstr>Calibri</vt:lpstr>
      <vt:lpstr>Calibri Light</vt:lpstr>
      <vt:lpstr>Cascadia Code</vt:lpstr>
      <vt:lpstr>Cascadia Mono</vt:lpstr>
      <vt:lpstr>Wingdings</vt:lpstr>
      <vt:lpstr>Metropolitano</vt:lpstr>
      <vt:lpstr>Desenvolvimento Web III</vt:lpstr>
      <vt:lpstr>Introdução</vt:lpstr>
      <vt:lpstr>Introdução</vt:lpstr>
      <vt:lpstr>API Restful</vt:lpstr>
      <vt:lpstr>API Restful</vt:lpstr>
      <vt:lpstr>API com o Next.js</vt:lpstr>
      <vt:lpstr>API com o Next.js</vt:lpstr>
      <vt:lpstr>Exemplo de endpoint GET</vt:lpstr>
      <vt:lpstr>Tipos de requisição</vt:lpstr>
      <vt:lpstr>Tipos de retorno</vt:lpstr>
      <vt:lpstr>Exemplo</vt:lpstr>
      <vt:lpstr>Exemplo</vt:lpstr>
      <vt:lpstr>Exemplo</vt:lpstr>
      <vt:lpstr>Exemplo</vt:lpstr>
      <vt:lpstr>Exemplo</vt:lpstr>
      <vt:lpstr>Listagem de todos os docentes</vt:lpstr>
      <vt:lpstr>Listagem de todos os docentes</vt:lpstr>
      <vt:lpstr>Cadastro de docente</vt:lpstr>
      <vt:lpstr>Cadastro de docente</vt:lpstr>
      <vt:lpstr>Retorno de docente por id</vt:lpstr>
      <vt:lpstr>Retorno de docente por id</vt:lpstr>
      <vt:lpstr>Atualização de docente</vt:lpstr>
      <vt:lpstr>Atualização de docente</vt:lpstr>
      <vt:lpstr>Remoção de docente</vt:lpstr>
      <vt:lpstr>Remoção de docente</vt:lpstr>
      <vt:lpstr>Pesquisa de docente</vt:lpstr>
      <vt:lpstr>Pesquisa de docente</vt:lpstr>
      <vt:lpstr>Chamando a API</vt:lpstr>
      <vt:lpstr>Chamando a API – Pesquisa</vt:lpstr>
      <vt:lpstr>Chamando a API – Pesquisa</vt:lpstr>
      <vt:lpstr>Chamando a API – Pesquisa</vt:lpstr>
      <vt:lpstr>Chamando a API – Pesquisa</vt:lpstr>
      <vt:lpstr>Chamando a API – Pesquisa</vt:lpstr>
      <vt:lpstr>Chamando a API – Pesquisa</vt:lpstr>
      <vt:lpstr>Chamando a API – Pesquisa</vt:lpstr>
      <vt:lpstr>Chamando a API – Inserção</vt:lpstr>
      <vt:lpstr>Chamando a API – Inserção</vt:lpstr>
      <vt:lpstr>Chamando a API – Inserção</vt:lpstr>
      <vt:lpstr>Chamando a API – Inserção</vt:lpstr>
      <vt:lpstr>Chamando a API – Obter por ID</vt:lpstr>
      <vt:lpstr>Chamando a API – Obter por ID</vt:lpstr>
      <vt:lpstr>Chamando a API – Obter por ID</vt:lpstr>
      <vt:lpstr>Chamando a API – Obter por ID</vt:lpstr>
      <vt:lpstr>Chamando a API – Atualização</vt:lpstr>
      <vt:lpstr>Chamando a API – Atualização</vt:lpstr>
      <vt:lpstr>Chamando a API – Atualização</vt:lpstr>
      <vt:lpstr>Chamando a API – Atualização</vt:lpstr>
      <vt:lpstr>Chamando a API – Remoção</vt:lpstr>
      <vt:lpstr>Chamando a API – Remoção</vt:lpstr>
      <vt:lpstr>Chamando a API – Remoção</vt:lpstr>
      <vt:lpstr>Chamando a API – Remoção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Protegendo a API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306</cp:revision>
  <dcterms:created xsi:type="dcterms:W3CDTF">2020-10-26T16:07:00Z</dcterms:created>
  <dcterms:modified xsi:type="dcterms:W3CDTF">2026-05-02T17:57:52Z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E70745523BDA4723BCE751111FC1C6B0_12</vt:lpwstr>
  </property>
  <property fmtid="{D5CDD505-2E9C-101B-9397-08002B2CF9AE}" pid="3" name="KSOProductBuildVer">
    <vt:lpwstr>1046-12.2.0.18283</vt:lpwstr>
  </property>
</Properties>
</file>