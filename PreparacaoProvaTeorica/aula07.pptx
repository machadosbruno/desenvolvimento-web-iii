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37"/>
  </p:notesMasterIdLst>
  <p:sldIdLst>
    <p:sldId id="256" r:id="rId3"/>
    <p:sldId id="257" r:id="rId4"/>
    <p:sldId id="266" r:id="rId5"/>
    <p:sldId id="293" r:id="rId6"/>
    <p:sldId id="267" r:id="rId7"/>
    <p:sldId id="268" r:id="rId8"/>
    <p:sldId id="269" r:id="rId9"/>
    <p:sldId id="270" r:id="rId10"/>
    <p:sldId id="272" r:id="rId11"/>
    <p:sldId id="273" r:id="rId12"/>
    <p:sldId id="274" r:id="rId13"/>
    <p:sldId id="275" r:id="rId14"/>
    <p:sldId id="276" r:id="rId15"/>
    <p:sldId id="277" r:id="rId16"/>
    <p:sldId id="278" r:id="rId17"/>
    <p:sldId id="279" r:id="rId18"/>
    <p:sldId id="280" r:id="rId19"/>
    <p:sldId id="296" r:id="rId20"/>
    <p:sldId id="294" r:id="rId21"/>
    <p:sldId id="295" r:id="rId22"/>
    <p:sldId id="297" r:id="rId23"/>
    <p:sldId id="282" r:id="rId24"/>
    <p:sldId id="283" r:id="rId25"/>
    <p:sldId id="284" r:id="rId26"/>
    <p:sldId id="285" r:id="rId27"/>
    <p:sldId id="286" r:id="rId28"/>
    <p:sldId id="291" r:id="rId29"/>
    <p:sldId id="292" r:id="rId30"/>
    <p:sldId id="298" r:id="rId31"/>
    <p:sldId id="281" r:id="rId32"/>
    <p:sldId id="287" r:id="rId33"/>
    <p:sldId id="288" r:id="rId34"/>
    <p:sldId id="289" r:id="rId35"/>
    <p:sldId id="290" r:id="rId3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rgbClr val="000000"/>
                </a:solidFill>
                <a:latin typeface="Calibri Light"/>
              </a:rPr>
              <a:t>Clique para mover o slide</a:t>
            </a:r>
          </a:p>
        </p:txBody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pt-BR" sz="2000" b="0" strike="noStrike" spc="-1">
                <a:latin typeface="Arial"/>
              </a:rPr>
              <a:t>Clique para editar o formato de notas</a:t>
            </a:r>
          </a:p>
        </p:txBody>
      </p:sp>
      <p:sp>
        <p:nvSpPr>
          <p:cNvPr id="85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pt-BR" sz="1400" b="0" strike="noStrike" spc="-1">
                <a:latin typeface="Times New Roman"/>
              </a:rPr>
              <a:t>&lt;cabeçalho&gt;</a:t>
            </a:r>
          </a:p>
        </p:txBody>
      </p:sp>
      <p:sp>
        <p:nvSpPr>
          <p:cNvPr id="86" name="PlaceHolder 4"/>
          <p:cNvSpPr>
            <a:spLocks noGrp="1"/>
          </p:cNvSpPr>
          <p:nvPr>
            <p:ph type="dt" idx="7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r">
              <a:buNone/>
              <a:defRPr lang="pt-BR" sz="1400" b="0" strike="noStrike" spc="-1">
                <a:latin typeface="Times New Roman"/>
              </a:defRPr>
            </a:lvl1pPr>
          </a:lstStyle>
          <a:p>
            <a:pPr algn="r">
              <a:buNone/>
            </a:pPr>
            <a:r>
              <a:rPr lang="pt-BR" sz="1400" b="0" strike="noStrike" spc="-1">
                <a:latin typeface="Times New Roman"/>
              </a:rPr>
              <a:t>&lt;data/hora&gt;</a:t>
            </a:r>
          </a:p>
        </p:txBody>
      </p:sp>
      <p:sp>
        <p:nvSpPr>
          <p:cNvPr id="87" name="PlaceHolder 5"/>
          <p:cNvSpPr>
            <a:spLocks noGrp="1"/>
          </p:cNvSpPr>
          <p:nvPr>
            <p:ph type="ftr" idx="8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>
              <a:defRPr lang="pt-BR" sz="1400" b="0" strike="noStrike" spc="-1">
                <a:latin typeface="Times New Roman"/>
              </a:defRPr>
            </a:lvl1pPr>
          </a:lstStyle>
          <a:p>
            <a:r>
              <a:rPr lang="pt-BR" sz="1400" b="0" strike="noStrike" spc="-1">
                <a:latin typeface="Times New Roman"/>
              </a:rPr>
              <a:t>&lt;rodapé&gt;</a:t>
            </a:r>
          </a:p>
        </p:txBody>
      </p:sp>
      <p:sp>
        <p:nvSpPr>
          <p:cNvPr id="88" name="PlaceHolder 6"/>
          <p:cNvSpPr>
            <a:spLocks noGrp="1"/>
          </p:cNvSpPr>
          <p:nvPr>
            <p:ph type="sldNum" idx="9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algn="r">
              <a:buNone/>
              <a:defRPr lang="pt-BR" sz="1400" b="0" strike="noStrike" spc="-1">
                <a:latin typeface="Times New Roman"/>
              </a:defRPr>
            </a:lvl1pPr>
          </a:lstStyle>
          <a:p>
            <a:pPr algn="r">
              <a:buNone/>
            </a:pPr>
            <a:fld id="{A63D4C2E-EC0D-4981-84CB-9A49398E8F6E}" type="slidenum">
              <a:rPr lang="pt-BR" sz="1400" b="0" strike="noStrike" spc="-1">
                <a:latin typeface="Times New Roman"/>
              </a:rPr>
              <a:t>‹nº›</a:t>
            </a:fld>
            <a:endParaRPr lang="pt-BR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pt-BR" sz="2000" b="0" strike="noStrike" spc="-1">
              <a:latin typeface="Arial"/>
            </a:endParaRPr>
          </a:p>
        </p:txBody>
      </p:sp>
      <p:sp>
        <p:nvSpPr>
          <p:cNvPr id="446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lang="pt-BR" sz="12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2ADE51A-6925-4658-BF5D-320EB1FAED69}" type="slidenum">
              <a:rPr lang="pt-BR" sz="1200" b="0" strike="noStrike" spc="-1">
                <a:latin typeface="Times New Roman"/>
              </a:rPr>
              <a:t>1</a:t>
            </a:fld>
            <a:endParaRPr lang="pt-BR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C9B14809-837C-4D37-946B-9E15846CADED}" type="slidenum">
              <a:t>‹nº›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676800" y="2011680"/>
            <a:ext cx="10753200" cy="3765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pt-BR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5E9D9544-AEBF-443B-BAF0-3C204FBEEF04}" type="slidenum">
              <a:t>‹nº›</a:t>
            </a:fld>
            <a:endParaRPr/>
          </a:p>
        </p:txBody>
      </p:sp>
      <p:sp>
        <p:nvSpPr>
          <p:cNvPr id="2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10753200" cy="3765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EA145D91-A0AA-49D7-B5CB-905E4F0F9BF6}" type="slidenum">
              <a:t>‹nº›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5247360" cy="3765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/>
          </p:nvPr>
        </p:nvSpPr>
        <p:spPr>
          <a:xfrm>
            <a:off x="6186960" y="2011680"/>
            <a:ext cx="5247360" cy="3765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70805917-36F6-4349-8A18-140F9176ADC9}" type="slidenum">
              <a:t>‹nº›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31A8880B-38A2-4427-AAAB-64C4AA22CD31}" type="slidenum">
              <a:t>‹nº›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subTitle"/>
          </p:nvPr>
        </p:nvSpPr>
        <p:spPr>
          <a:xfrm>
            <a:off x="657360" y="499680"/>
            <a:ext cx="10772280" cy="768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pt-BR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0C2CBB90-F26C-46B4-BA37-274104690AFE}" type="slidenum">
              <a:t>‹nº›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524736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186960" y="2011680"/>
            <a:ext cx="5247360" cy="3765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676800" y="3978720"/>
            <a:ext cx="524736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F08AA5D2-BD98-4F89-B166-EFE371AA385D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5247360" cy="3765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186960" y="2011680"/>
            <a:ext cx="524736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6186960" y="3978720"/>
            <a:ext cx="524736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0D0C0A58-2BA3-4977-BB5B-B374E350E1E3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524736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186960" y="2011680"/>
            <a:ext cx="524736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676800" y="3978720"/>
            <a:ext cx="1075320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F6CEAFB5-CC54-4E99-9397-14067843D92A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1075320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676800" y="3978720"/>
            <a:ext cx="1075320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0D958FBE-DFFE-43B0-A2F7-4E760D1C75EC}" type="slidenum">
              <a:t>‹nº›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524736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/>
          </p:nvPr>
        </p:nvSpPr>
        <p:spPr>
          <a:xfrm>
            <a:off x="6186960" y="2011680"/>
            <a:ext cx="524736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/>
          </p:nvPr>
        </p:nvSpPr>
        <p:spPr>
          <a:xfrm>
            <a:off x="676800" y="3978720"/>
            <a:ext cx="524736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/>
          </p:nvPr>
        </p:nvSpPr>
        <p:spPr>
          <a:xfrm>
            <a:off x="6186960" y="3978720"/>
            <a:ext cx="524736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1BE59253-D3D8-4877-920F-59EDB6FE77FF}" type="slidenum">
              <a:t>‹nº›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346212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4312440" y="2011680"/>
            <a:ext cx="346212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/>
          </p:nvPr>
        </p:nvSpPr>
        <p:spPr>
          <a:xfrm>
            <a:off x="7948080" y="2011680"/>
            <a:ext cx="346212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/>
          </p:nvPr>
        </p:nvSpPr>
        <p:spPr>
          <a:xfrm>
            <a:off x="676800" y="3978720"/>
            <a:ext cx="346212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40" name="PlaceHolder 6"/>
          <p:cNvSpPr>
            <a:spLocks noGrp="1"/>
          </p:cNvSpPr>
          <p:nvPr>
            <p:ph/>
          </p:nvPr>
        </p:nvSpPr>
        <p:spPr>
          <a:xfrm>
            <a:off x="4312440" y="3978720"/>
            <a:ext cx="346212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41" name="PlaceHolder 7"/>
          <p:cNvSpPr>
            <a:spLocks noGrp="1"/>
          </p:cNvSpPr>
          <p:nvPr>
            <p:ph/>
          </p:nvPr>
        </p:nvSpPr>
        <p:spPr>
          <a:xfrm>
            <a:off x="7948080" y="3978720"/>
            <a:ext cx="346212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CC77A697-010B-41E5-AD09-8F6908BCD089}" type="slidenum">
              <a:t>‹nº›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A5AD1F37-5351-49D5-9A90-62319FCCF222}" type="slidenum">
              <a:t>‹nº›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ubTitle"/>
          </p:nvPr>
        </p:nvSpPr>
        <p:spPr>
          <a:xfrm>
            <a:off x="676800" y="2011680"/>
            <a:ext cx="10753200" cy="3765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pt-BR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80E86B8A-75C0-428B-ADD9-F62E5EEE2793}" type="slidenum">
              <a:t>‹nº›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10753200" cy="3765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0D6B4ED2-AAA2-4055-9C1D-BEF13DF91887}" type="slidenum">
              <a:t>‹nº›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5247360" cy="3765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/>
          </p:nvPr>
        </p:nvSpPr>
        <p:spPr>
          <a:xfrm>
            <a:off x="6186960" y="2011680"/>
            <a:ext cx="5247360" cy="3765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3A170694-B6AB-490C-B834-C60A50018902}" type="slidenum">
              <a:t>‹nº›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A5F636C1-4470-4E06-B388-6082420AE6CC}" type="slidenum">
              <a:t>‹nº›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subTitle"/>
          </p:nvPr>
        </p:nvSpPr>
        <p:spPr>
          <a:xfrm>
            <a:off x="657360" y="499680"/>
            <a:ext cx="10772280" cy="768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pt-BR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EB7233D5-B52E-4951-A2CB-218CA54530E6}" type="slidenum">
              <a:t>‹nº›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524736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/>
          </p:nvPr>
        </p:nvSpPr>
        <p:spPr>
          <a:xfrm>
            <a:off x="6186960" y="2011680"/>
            <a:ext cx="5247360" cy="3765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/>
          </p:nvPr>
        </p:nvSpPr>
        <p:spPr>
          <a:xfrm>
            <a:off x="676800" y="3978720"/>
            <a:ext cx="524736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A5A9C711-42C2-4AFE-B9BE-DF12941C9320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5247360" cy="3765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/>
          </p:nvPr>
        </p:nvSpPr>
        <p:spPr>
          <a:xfrm>
            <a:off x="6186960" y="2011680"/>
            <a:ext cx="524736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/>
          </p:nvPr>
        </p:nvSpPr>
        <p:spPr>
          <a:xfrm>
            <a:off x="6186960" y="3978720"/>
            <a:ext cx="524736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C4CA64AB-E28D-4EB9-87EE-AF4B23CEB3DE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524736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/>
          </p:nvPr>
        </p:nvSpPr>
        <p:spPr>
          <a:xfrm>
            <a:off x="6186960" y="2011680"/>
            <a:ext cx="524736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/>
          </p:nvPr>
        </p:nvSpPr>
        <p:spPr>
          <a:xfrm>
            <a:off x="676800" y="3978720"/>
            <a:ext cx="1075320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2B71710A-62C6-454D-8BD0-450F5A11D02A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1075320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/>
          </p:nvPr>
        </p:nvSpPr>
        <p:spPr>
          <a:xfrm>
            <a:off x="676800" y="3978720"/>
            <a:ext cx="1075320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C90AD442-888E-4F94-9BE8-1F62A1435333}" type="slidenum">
              <a:t>‹nº›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524736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6186960" y="2011680"/>
            <a:ext cx="524736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676800" y="3978720"/>
            <a:ext cx="524736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/>
          </p:nvPr>
        </p:nvSpPr>
        <p:spPr>
          <a:xfrm>
            <a:off x="6186960" y="3978720"/>
            <a:ext cx="524736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F47940B9-3180-4B95-AE0C-D826DC382C91}" type="slidenum">
              <a:t>‹nº›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346212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/>
          </p:nvPr>
        </p:nvSpPr>
        <p:spPr>
          <a:xfrm>
            <a:off x="4312440" y="2011680"/>
            <a:ext cx="346212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/>
          </p:nvPr>
        </p:nvSpPr>
        <p:spPr>
          <a:xfrm>
            <a:off x="7948080" y="2011680"/>
            <a:ext cx="346212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80" name="PlaceHolder 5"/>
          <p:cNvSpPr>
            <a:spLocks noGrp="1"/>
          </p:cNvSpPr>
          <p:nvPr>
            <p:ph/>
          </p:nvPr>
        </p:nvSpPr>
        <p:spPr>
          <a:xfrm>
            <a:off x="676800" y="3978720"/>
            <a:ext cx="346212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81" name="PlaceHolder 6"/>
          <p:cNvSpPr>
            <a:spLocks noGrp="1"/>
          </p:cNvSpPr>
          <p:nvPr>
            <p:ph/>
          </p:nvPr>
        </p:nvSpPr>
        <p:spPr>
          <a:xfrm>
            <a:off x="4312440" y="3978720"/>
            <a:ext cx="346212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82" name="PlaceHolder 7"/>
          <p:cNvSpPr>
            <a:spLocks noGrp="1"/>
          </p:cNvSpPr>
          <p:nvPr>
            <p:ph/>
          </p:nvPr>
        </p:nvSpPr>
        <p:spPr>
          <a:xfrm>
            <a:off x="7948080" y="3978720"/>
            <a:ext cx="346212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98D67ADE-E27E-4BD8-9FFD-F82C6B9057F2}" type="slidenum">
              <a:t>‹nº›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49E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549E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3360" y="770400"/>
            <a:ext cx="10782000" cy="335232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>
              <a:lnSpc>
                <a:spcPct val="80000"/>
              </a:lnSpc>
              <a:buNone/>
            </a:pPr>
            <a:r>
              <a:rPr lang="pt-BR" sz="8800" b="0" strike="noStrike" spc="-120">
                <a:solidFill>
                  <a:srgbClr val="FFFFFF"/>
                </a:solidFill>
                <a:latin typeface="Calibri Light"/>
              </a:rPr>
              <a:t>Clique para editar o título Mestre</a:t>
            </a:r>
            <a:endParaRPr lang="en-US" sz="8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dt" idx="1"/>
          </p:nvPr>
        </p:nvSpPr>
        <p:spPr>
          <a:xfrm>
            <a:off x="685800" y="6412320"/>
            <a:ext cx="4114440" cy="2282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lang="pt-BR" sz="950" b="0" strike="noStrike" spc="-1">
                <a:solidFill>
                  <a:srgbClr val="FFFFFF">
                    <a:alpha val="80000"/>
                  </a:srgbClr>
                </a:solidFill>
                <a:latin typeface="Calibri Light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pt-BR" sz="950" b="0" strike="noStrike" spc="-1">
                <a:solidFill>
                  <a:srgbClr val="FFFFFF">
                    <a:alpha val="80000"/>
                  </a:srgbClr>
                </a:solidFill>
                <a:latin typeface="Calibri Light"/>
              </a:rPr>
              <a:t>&lt;data/hora&gt;</a:t>
            </a:r>
            <a:endParaRPr lang="pt-BR" sz="950" b="0" strike="noStrike" spc="-1">
              <a:latin typeface="Times New Roman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ftr" idx="2"/>
          </p:nvPr>
        </p:nvSpPr>
        <p:spPr>
          <a:xfrm>
            <a:off x="685800" y="6554520"/>
            <a:ext cx="5028840" cy="2282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lang="pt-BR" sz="1400" b="0" strike="noStrike" spc="-1">
                <a:latin typeface="Times New Roman"/>
              </a:defRPr>
            </a:lvl1pPr>
          </a:lstStyle>
          <a:p>
            <a:pPr algn="ctr">
              <a:buNone/>
            </a:pPr>
            <a:r>
              <a:rPr lang="pt-BR" sz="1400" b="0" strike="noStrike" spc="-1">
                <a:latin typeface="Times New Roman"/>
              </a:rPr>
              <a:t>&lt;rodapé&gt;</a:t>
            </a:r>
          </a:p>
        </p:txBody>
      </p:sp>
      <p:sp>
        <p:nvSpPr>
          <p:cNvPr id="4" name="PlaceHolder 4"/>
          <p:cNvSpPr>
            <a:spLocks noGrp="1"/>
          </p:cNvSpPr>
          <p:nvPr>
            <p:ph type="sldNum" idx="3"/>
          </p:nvPr>
        </p:nvSpPr>
        <p:spPr>
          <a:xfrm>
            <a:off x="8763840" y="5876280"/>
            <a:ext cx="2925720" cy="139680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lang="pt-BR" sz="10300" b="0" strike="noStrike" spc="-1">
                <a:solidFill>
                  <a:srgbClr val="FFFFFF">
                    <a:alpha val="25000"/>
                  </a:srgbClr>
                </a:solidFill>
                <a:latin typeface="Calibri Light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687F324-676B-4E9B-85A3-A764F18BEED5}" type="slidenum">
              <a:rPr lang="pt-BR" sz="10300" b="0" strike="noStrike" spc="-1">
                <a:solidFill>
                  <a:srgbClr val="FFFFFF">
                    <a:alpha val="25000"/>
                  </a:srgbClr>
                </a:solidFill>
                <a:latin typeface="Calibri Light"/>
              </a:rPr>
              <a:t>‹nº›</a:t>
            </a:fld>
            <a:endParaRPr lang="pt-BR" sz="10300" b="0" strike="noStrike" spc="-1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85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262626"/>
                </a:solidFill>
                <a:latin typeface="Calibri Light"/>
              </a:rPr>
              <a:t>Clique para editar o formato do texto da estrutura de tópicos</a:t>
            </a:r>
          </a:p>
          <a:p>
            <a:pPr marL="864000" lvl="1" indent="-324000">
              <a:lnSpc>
                <a:spcPct val="85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i="1" strike="noStrike" spc="-1">
                <a:solidFill>
                  <a:srgbClr val="262626"/>
                </a:solidFill>
                <a:latin typeface="Calibri Light"/>
              </a:rPr>
              <a:t>2.º nível da estrutura de tópicos</a:t>
            </a:r>
          </a:p>
          <a:p>
            <a:pPr marL="1296000" lvl="2" indent="-288000">
              <a:lnSpc>
                <a:spcPct val="85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262626"/>
                </a:solidFill>
                <a:latin typeface="Calibri Light"/>
              </a:rPr>
              <a:t>3.º nível da estrutura de tópicos</a:t>
            </a:r>
          </a:p>
          <a:p>
            <a:pPr marL="1728000" lvl="3" indent="-216000">
              <a:lnSpc>
                <a:spcPct val="85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262626"/>
                </a:solidFill>
                <a:latin typeface="Calibri Light"/>
              </a:rPr>
              <a:t>4.º nível da estrutura de tópicos</a:t>
            </a:r>
          </a:p>
          <a:p>
            <a:pPr marL="2160000" lvl="4" indent="-216000">
              <a:lnSpc>
                <a:spcPct val="8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262626"/>
                </a:solidFill>
                <a:latin typeface="Calibri Light"/>
              </a:rPr>
              <a:t>5.º nível da estrutura de tópicos</a:t>
            </a:r>
          </a:p>
          <a:p>
            <a:pPr marL="2592000" lvl="5" indent="-216000">
              <a:lnSpc>
                <a:spcPct val="8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262626"/>
                </a:solidFill>
                <a:latin typeface="Calibri Light"/>
              </a:rPr>
              <a:t>6.º nível da estrutura de tópicos</a:t>
            </a:r>
          </a:p>
          <a:p>
            <a:pPr marL="3024000" lvl="6" indent="-216000">
              <a:lnSpc>
                <a:spcPct val="8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262626"/>
                </a:solidFill>
                <a:latin typeface="Calibri Light"/>
              </a:rPr>
              <a:t>7.º nível da estrutura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>
                <a:solidFill>
                  <a:srgbClr val="549E39"/>
                </a:solidFill>
                <a:latin typeface="Calibri Light"/>
              </a:rPr>
              <a:t>Clique para editar o título Mestre</a:t>
            </a:r>
            <a:endParaRPr lang="en-US" sz="5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676800" y="2011680"/>
            <a:ext cx="10753200" cy="3765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2400" b="0" strike="noStrike" spc="-1">
                <a:solidFill>
                  <a:srgbClr val="262626"/>
                </a:solidFill>
                <a:latin typeface="Calibri Light"/>
              </a:rPr>
              <a:t>Clique para editar os estilos de texto Mestres</a:t>
            </a: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  <a:p>
            <a:pPr marL="347400" lvl="1" indent="-343080">
              <a:lnSpc>
                <a:spcPct val="85000"/>
              </a:lnSpc>
              <a:spcBef>
                <a:spcPts val="601"/>
              </a:spcBef>
              <a:buClr>
                <a:srgbClr val="262626"/>
              </a:buClr>
              <a:buFont typeface="Arial"/>
              <a:buChar char=" "/>
            </a:pPr>
            <a:r>
              <a:rPr lang="pt-BR" sz="2400" b="0" strike="noStrike" spc="-1">
                <a:solidFill>
                  <a:srgbClr val="262626"/>
                </a:solidFill>
                <a:latin typeface="Calibri Light"/>
              </a:rPr>
              <a:t>Segundo nível</a:t>
            </a:r>
            <a:endParaRPr lang="en-US" sz="2400" b="0" i="1" strike="noStrike" spc="-1">
              <a:solidFill>
                <a:srgbClr val="262626"/>
              </a:solidFill>
              <a:latin typeface="Calibri Light"/>
            </a:endParaRPr>
          </a:p>
          <a:p>
            <a:pPr marL="548640" lvl="2" indent="-548640">
              <a:lnSpc>
                <a:spcPct val="85000"/>
              </a:lnSpc>
              <a:spcBef>
                <a:spcPts val="601"/>
              </a:spcBef>
              <a:buClr>
                <a:srgbClr val="262626"/>
              </a:buClr>
              <a:buFont typeface="Arial"/>
              <a:buChar char=" "/>
            </a:pPr>
            <a:r>
              <a:rPr lang="pt-BR" sz="2000" b="0" i="1" strike="noStrike" spc="-1">
                <a:solidFill>
                  <a:srgbClr val="262626"/>
                </a:solidFill>
                <a:latin typeface="Calibri Light"/>
              </a:rPr>
              <a:t>Terceiro nível</a:t>
            </a:r>
            <a:endParaRPr lang="en-US" sz="2000" b="0" strike="noStrike" spc="-1">
              <a:solidFill>
                <a:srgbClr val="262626"/>
              </a:solidFill>
              <a:latin typeface="Calibri Light"/>
            </a:endParaRPr>
          </a:p>
          <a:p>
            <a:pPr marL="822960" lvl="3" indent="-822960">
              <a:lnSpc>
                <a:spcPct val="85000"/>
              </a:lnSpc>
              <a:spcBef>
                <a:spcPts val="601"/>
              </a:spcBef>
              <a:buClr>
                <a:srgbClr val="262626"/>
              </a:buClr>
              <a:buFont typeface="Arial"/>
              <a:buChar char=" "/>
            </a:pPr>
            <a:r>
              <a:rPr lang="pt-BR" sz="1800" b="0" strike="noStrike" spc="-1">
                <a:solidFill>
                  <a:srgbClr val="262626"/>
                </a:solidFill>
                <a:latin typeface="Calibri Light"/>
              </a:rPr>
              <a:t>Quarto nível</a:t>
            </a:r>
            <a:endParaRPr lang="en-US" sz="1800" b="0" strike="noStrike" spc="-1">
              <a:solidFill>
                <a:srgbClr val="262626"/>
              </a:solidFill>
              <a:latin typeface="Calibri Light"/>
            </a:endParaRPr>
          </a:p>
          <a:p>
            <a:pPr marL="1097280" lvl="4" indent="-1097280">
              <a:lnSpc>
                <a:spcPct val="85000"/>
              </a:lnSpc>
              <a:spcBef>
                <a:spcPts val="601"/>
              </a:spcBef>
              <a:buClr>
                <a:srgbClr val="262626"/>
              </a:buClr>
              <a:buFont typeface="Arial"/>
              <a:buChar char=" "/>
            </a:pPr>
            <a:r>
              <a:rPr lang="pt-BR" sz="1800" b="0" strike="noStrike" spc="-1">
                <a:solidFill>
                  <a:srgbClr val="262626"/>
                </a:solidFill>
                <a:latin typeface="Calibri Light"/>
              </a:rPr>
              <a:t>Quinto nível</a:t>
            </a:r>
            <a:endParaRPr lang="en-US" sz="18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dt" idx="4"/>
          </p:nvPr>
        </p:nvSpPr>
        <p:spPr>
          <a:xfrm>
            <a:off x="685800" y="6412320"/>
            <a:ext cx="4114440" cy="2282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lang="pt-BR" sz="950" b="0" strike="noStrike" spc="-1">
                <a:solidFill>
                  <a:srgbClr val="000000">
                    <a:alpha val="80000"/>
                  </a:srgbClr>
                </a:solidFill>
                <a:latin typeface="Calibri Light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pt-BR" sz="950" b="0" strike="noStrike" spc="-1">
                <a:solidFill>
                  <a:srgbClr val="000000">
                    <a:alpha val="80000"/>
                  </a:srgbClr>
                </a:solidFill>
                <a:latin typeface="Calibri Light"/>
              </a:rPr>
              <a:t>&lt;data/hora&gt;</a:t>
            </a:r>
            <a:endParaRPr lang="pt-BR" sz="950" b="0" strike="noStrike" spc="-1"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ftr" idx="5"/>
          </p:nvPr>
        </p:nvSpPr>
        <p:spPr>
          <a:xfrm>
            <a:off x="685800" y="6554520"/>
            <a:ext cx="5028840" cy="2282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lang="pt-BR" sz="1400" b="0" strike="noStrike" spc="-1">
                <a:latin typeface="Times New Roman"/>
              </a:defRPr>
            </a:lvl1pPr>
          </a:lstStyle>
          <a:p>
            <a:pPr algn="ctr">
              <a:buNone/>
            </a:pPr>
            <a:r>
              <a:rPr lang="pt-BR" sz="1400" b="0" strike="noStrike" spc="-1">
                <a:latin typeface="Times New Roman"/>
              </a:rPr>
              <a:t>&lt;rodapé&gt;</a:t>
            </a:r>
          </a:p>
        </p:txBody>
      </p:sp>
      <p:sp>
        <p:nvSpPr>
          <p:cNvPr id="46" name="PlaceHolder 5"/>
          <p:cNvSpPr>
            <a:spLocks noGrp="1"/>
          </p:cNvSpPr>
          <p:nvPr>
            <p:ph type="sldNum" idx="6"/>
          </p:nvPr>
        </p:nvSpPr>
        <p:spPr>
          <a:xfrm>
            <a:off x="8763840" y="5876280"/>
            <a:ext cx="2925720" cy="139680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lang="pt-BR" sz="10300" b="0" strike="noStrike" spc="-1">
                <a:solidFill>
                  <a:srgbClr val="549E39">
                    <a:alpha val="25000"/>
                  </a:srgbClr>
                </a:solidFill>
                <a:latin typeface="Calibri Light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7C4E7D6-E39B-4324-9914-DEA6C4F58F7E}" type="slidenum">
              <a:rPr lang="pt-BR" sz="10300" b="0" strike="noStrike" spc="-1">
                <a:solidFill>
                  <a:srgbClr val="549E39">
                    <a:alpha val="25000"/>
                  </a:srgbClr>
                </a:solidFill>
                <a:latin typeface="Calibri Light"/>
              </a:rPr>
              <a:t>‹nº›</a:t>
            </a:fld>
            <a:endParaRPr lang="pt-BR" sz="103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reactrouter.com/en/main" TargetMode="Externa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795240" y="637920"/>
            <a:ext cx="10416960" cy="31892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/>
          </a:bodyPr>
          <a:lstStyle/>
          <a:p>
            <a:pPr>
              <a:lnSpc>
                <a:spcPct val="80000"/>
              </a:lnSpc>
              <a:buNone/>
            </a:pPr>
            <a:r>
              <a:rPr lang="pt-BR" sz="8000" b="0" strike="noStrike" spc="-120">
                <a:solidFill>
                  <a:srgbClr val="FFFFFF"/>
                </a:solidFill>
                <a:latin typeface="Calibri Light"/>
              </a:rPr>
              <a:t>Desenvolvimento </a:t>
            </a:r>
            <a:r>
              <a:rPr lang="pt-BR" sz="8000" b="0" i="1" strike="noStrike" spc="-120">
                <a:solidFill>
                  <a:srgbClr val="FFFFFF"/>
                </a:solidFill>
                <a:latin typeface="Calibri Light"/>
              </a:rPr>
              <a:t>Web</a:t>
            </a:r>
            <a:r>
              <a:rPr lang="pt-BR" sz="8000" b="0" strike="noStrike" spc="-120">
                <a:solidFill>
                  <a:srgbClr val="FFFFFF"/>
                </a:solidFill>
                <a:latin typeface="Calibri Light"/>
              </a:rPr>
              <a:t> III</a:t>
            </a:r>
            <a:endParaRPr lang="en-US" sz="80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subTitle"/>
          </p:nvPr>
        </p:nvSpPr>
        <p:spPr>
          <a:xfrm>
            <a:off x="795240" y="4377240"/>
            <a:ext cx="10558800" cy="442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7000"/>
          </a:bodyPr>
          <a:lstStyle/>
          <a:p>
            <a:pPr>
              <a:lnSpc>
                <a:spcPct val="85000"/>
              </a:lnSpc>
              <a:spcBef>
                <a:spcPts val="1301"/>
              </a:spcBef>
              <a:buNone/>
              <a:tabLst>
                <a:tab pos="0" algn="l"/>
              </a:tabLst>
            </a:pPr>
            <a:r>
              <a:rPr lang="pt-BR" sz="2800" b="0" strike="noStrike" spc="-1">
                <a:solidFill>
                  <a:srgbClr val="FEFFFF"/>
                </a:solidFill>
                <a:latin typeface="Calibri Light"/>
              </a:rPr>
              <a:t>Tecnologia em Análise e Desenvolvimento de Sistemas</a:t>
            </a:r>
            <a:endParaRPr lang="pt-BR" sz="2800" b="0" strike="noStrike" spc="-1">
              <a:latin typeface="Arial"/>
            </a:endParaRPr>
          </a:p>
        </p:txBody>
      </p:sp>
      <p:sp>
        <p:nvSpPr>
          <p:cNvPr id="91" name="Subtítulo 2"/>
          <p:cNvSpPr/>
          <p:nvPr/>
        </p:nvSpPr>
        <p:spPr>
          <a:xfrm>
            <a:off x="4369662" y="6194883"/>
            <a:ext cx="5060665" cy="44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7000"/>
          </a:bodyPr>
          <a:lstStyle/>
          <a:p>
            <a:pPr>
              <a:lnSpc>
                <a:spcPct val="85000"/>
              </a:lnSpc>
              <a:spcBef>
                <a:spcPts val="1301"/>
              </a:spcBef>
              <a:buNone/>
              <a:tabLst>
                <a:tab pos="0" algn="l"/>
              </a:tabLst>
            </a:pPr>
            <a:r>
              <a:rPr lang="pt-BR" sz="2800" b="0" strike="noStrike" spc="-1" dirty="0">
                <a:solidFill>
                  <a:srgbClr val="FEFFFF"/>
                </a:solidFill>
                <a:latin typeface="Calibri Light"/>
              </a:rPr>
              <a:t>Aula 7 – Navegação e rotas</a:t>
            </a:r>
            <a:endParaRPr lang="pt-BR" sz="28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>
                <a:solidFill>
                  <a:srgbClr val="549E39"/>
                </a:solidFill>
                <a:latin typeface="Calibri Light"/>
              </a:rPr>
              <a:t>Introdução</a:t>
            </a:r>
            <a:endParaRPr lang="en-US" sz="5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10753200" cy="4346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3600" b="0" strike="noStrike" spc="-1" dirty="0">
                <a:solidFill>
                  <a:srgbClr val="262626"/>
                </a:solidFill>
                <a:latin typeface="Calibri Light"/>
              </a:rPr>
              <a:t>Até agora, vimos apenas como criar componentes </a:t>
            </a:r>
            <a:r>
              <a:rPr lang="pt-BR" sz="3600" b="0" strike="noStrike" spc="-1" dirty="0" err="1">
                <a:solidFill>
                  <a:srgbClr val="262626"/>
                </a:solidFill>
                <a:latin typeface="Calibri Light"/>
              </a:rPr>
              <a:t>React</a:t>
            </a:r>
            <a:r>
              <a:rPr lang="pt-BR" sz="3600" b="0" strike="noStrike" spc="-1" dirty="0">
                <a:solidFill>
                  <a:srgbClr val="262626"/>
                </a:solidFill>
                <a:latin typeface="Calibri Light"/>
              </a:rPr>
              <a:t>, mas não vimos como criar páginas e fazer navegação entre elas;</a:t>
            </a: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Podemos utilizar bibliotecas com este propósito, como o </a:t>
            </a:r>
            <a:r>
              <a:rPr lang="pt-BR" sz="3600" spc="-1" dirty="0" err="1">
                <a:solidFill>
                  <a:srgbClr val="262626"/>
                </a:solidFill>
                <a:latin typeface="Calibri Light"/>
              </a:rPr>
              <a:t>React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 </a:t>
            </a:r>
            <a:r>
              <a:rPr lang="pt-BR" sz="3600" spc="-1" dirty="0" err="1">
                <a:solidFill>
                  <a:srgbClr val="262626"/>
                </a:solidFill>
                <a:latin typeface="Calibri Light"/>
              </a:rPr>
              <a:t>Router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 (</a:t>
            </a:r>
            <a:r>
              <a:rPr lang="pt-BR" sz="3600" spc="-1" dirty="0">
                <a:solidFill>
                  <a:srgbClr val="262626"/>
                </a:solidFill>
                <a:latin typeface="Calibri Light"/>
                <a:hlinkClick r:id="rId2"/>
              </a:rPr>
              <a:t>https://reactrouter.com/</a:t>
            </a:r>
            <a:r>
              <a:rPr lang="pt-BR" sz="3600" spc="-1" dirty="0" err="1">
                <a:solidFill>
                  <a:srgbClr val="262626"/>
                </a:solidFill>
                <a:latin typeface="Calibri Light"/>
                <a:hlinkClick r:id="rId2"/>
              </a:rPr>
              <a:t>en</a:t>
            </a:r>
            <a:r>
              <a:rPr lang="pt-BR" sz="3600" spc="-1" dirty="0">
                <a:solidFill>
                  <a:srgbClr val="262626"/>
                </a:solidFill>
                <a:latin typeface="Calibri Light"/>
                <a:hlinkClick r:id="rId2"/>
              </a:rPr>
              <a:t>/</a:t>
            </a:r>
            <a:r>
              <a:rPr lang="pt-BR" sz="3600" spc="-1" dirty="0" err="1">
                <a:solidFill>
                  <a:srgbClr val="262626"/>
                </a:solidFill>
                <a:latin typeface="Calibri Light"/>
                <a:hlinkClick r:id="rId2"/>
              </a:rPr>
              <a:t>main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);</a:t>
            </a: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3600" b="0" strike="noStrike" spc="-1" dirty="0">
                <a:solidFill>
                  <a:srgbClr val="262626"/>
                </a:solidFill>
                <a:latin typeface="Calibri Light"/>
              </a:rPr>
              <a:t>Outra opção é utilizar as capacidades do Next.js para fazer essas operações.</a:t>
            </a:r>
            <a:endParaRPr lang="en-US" sz="3600" b="0" strike="noStrike" spc="-1" dirty="0">
              <a:solidFill>
                <a:srgbClr val="262626"/>
              </a:solidFill>
              <a:latin typeface="Calibri Ligh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Páginas e roteamento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676800" y="2011679"/>
            <a:ext cx="10753200" cy="4777047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Toda página escrita em Next.js deve ser uma função </a:t>
            </a:r>
            <a:r>
              <a:rPr lang="pt-BR" sz="3600" spc="-1" dirty="0" err="1">
                <a:solidFill>
                  <a:srgbClr val="262626"/>
                </a:solidFill>
                <a:latin typeface="Calibri Light"/>
              </a:rPr>
              <a:t>React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 válida, exportada como padrão.</a:t>
            </a: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3600" strike="noStrike" spc="-1" dirty="0">
                <a:solidFill>
                  <a:srgbClr val="262626"/>
                </a:solidFill>
                <a:latin typeface="Calibri Light"/>
              </a:rPr>
              <a:t>Para definir as rotas utilizadas no </a:t>
            </a:r>
            <a:r>
              <a:rPr lang="pt-BR" sz="3600" i="1" strike="noStrike" spc="-1" dirty="0">
                <a:solidFill>
                  <a:srgbClr val="262626"/>
                </a:solidFill>
                <a:latin typeface="Calibri Light"/>
              </a:rPr>
              <a:t>site</a:t>
            </a:r>
            <a:r>
              <a:rPr lang="pt-BR" sz="3600" strike="noStrike" spc="-1" dirty="0">
                <a:solidFill>
                  <a:srgbClr val="262626"/>
                </a:solidFill>
                <a:latin typeface="Calibri Light"/>
              </a:rPr>
              <a:t>, utilizamos o sistema de arquivos, criando pastas para cada rota.</a:t>
            </a: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3600" strike="noStrike" spc="-1" dirty="0">
                <a:solidFill>
                  <a:srgbClr val="262626"/>
                </a:solidFill>
                <a:latin typeface="Calibri Light"/>
              </a:rPr>
              <a:t>”.</a:t>
            </a:r>
            <a:endParaRPr lang="pt-BR" sz="3200" strike="noStrike" spc="-1" dirty="0">
              <a:solidFill>
                <a:srgbClr val="262626"/>
              </a:solidFill>
              <a:latin typeface="Calibri Light"/>
            </a:endParaRPr>
          </a:p>
          <a:p>
            <a:pPr marL="457200" lvl="1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endParaRPr lang="pt-BR" sz="3200" strike="noStrike" spc="-1" dirty="0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endParaRPr lang="pt-BR" sz="3600" spc="-1" dirty="0">
              <a:solidFill>
                <a:srgbClr val="262626"/>
              </a:solidFill>
              <a:latin typeface="Calibri Light"/>
            </a:endParaRPr>
          </a:p>
          <a:p>
            <a:pPr marL="548640" lvl="1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endParaRPr lang="pt-BR" sz="3200" spc="-1" dirty="0">
              <a:solidFill>
                <a:srgbClr val="262626"/>
              </a:solidFill>
              <a:latin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15335790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Páginas e roteamento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676800" y="2011679"/>
            <a:ext cx="10753200" cy="4777047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Crie uma página inicial em app/page.js:</a:t>
            </a: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endParaRPr lang="pt-BR" sz="3600" strike="noStrike" spc="-1" dirty="0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endParaRPr lang="pt-BR" sz="3600" spc="-1" dirty="0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endParaRPr lang="pt-BR" sz="3600" strike="noStrike" spc="-1" dirty="0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endParaRPr lang="pt-BR" sz="3600" strike="noStrike" spc="-1" dirty="0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3600" strike="noStrike" spc="-1" dirty="0">
                <a:solidFill>
                  <a:srgbClr val="262626"/>
                </a:solidFill>
                <a:latin typeface="Calibri Light"/>
              </a:rPr>
              <a:t>Caso seja necessário que o </a:t>
            </a:r>
            <a:r>
              <a:rPr lang="pt-BR" sz="3600" i="1" strike="noStrike" spc="-1" dirty="0">
                <a:solidFill>
                  <a:srgbClr val="262626"/>
                </a:solidFill>
                <a:latin typeface="Calibri Light"/>
              </a:rPr>
              <a:t>site</a:t>
            </a:r>
            <a:r>
              <a:rPr lang="pt-BR" sz="3600" strike="noStrike" spc="-1" dirty="0">
                <a:solidFill>
                  <a:srgbClr val="262626"/>
                </a:solidFill>
                <a:latin typeface="Calibri Light"/>
              </a:rPr>
              <a:t> tenha uma página na rota “/sobre”, criamos dentro da pasta </a:t>
            </a:r>
            <a:r>
              <a:rPr lang="pt-BR" sz="3600" b="1" strike="noStrike" spc="-1" dirty="0">
                <a:solidFill>
                  <a:srgbClr val="262626"/>
                </a:solidFill>
                <a:latin typeface="Calibri Light"/>
              </a:rPr>
              <a:t>app</a:t>
            </a:r>
            <a:r>
              <a:rPr lang="pt-BR" sz="3600" strike="noStrike" spc="-1" dirty="0">
                <a:solidFill>
                  <a:srgbClr val="262626"/>
                </a:solidFill>
                <a:latin typeface="Calibri Light"/>
              </a:rPr>
              <a:t> uma pasta com o nome “sobre”.</a:t>
            </a:r>
          </a:p>
          <a:p>
            <a:pPr marL="457200" lvl="1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endParaRPr lang="pt-BR" sz="3200" strike="noStrike" spc="-1" dirty="0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endParaRPr lang="pt-BR" sz="3600" spc="-1" dirty="0">
              <a:solidFill>
                <a:srgbClr val="262626"/>
              </a:solidFill>
              <a:latin typeface="Calibri Light"/>
            </a:endParaRPr>
          </a:p>
          <a:p>
            <a:pPr marL="548640" lvl="1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endParaRPr lang="pt-BR" sz="3200" spc="-1" dirty="0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15382A6-5000-2D5B-2C76-27CA50C5C183}"/>
              </a:ext>
            </a:extLst>
          </p:cNvPr>
          <p:cNvSpPr txBox="1"/>
          <p:nvPr/>
        </p:nvSpPr>
        <p:spPr>
          <a:xfrm>
            <a:off x="762000" y="2441777"/>
            <a:ext cx="60960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default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Home() {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&lt;&gt;</a:t>
            </a:r>
            <a:endParaRPr lang="pt-BR" sz="2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2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2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Olá mundo!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2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2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&lt;/&gt;</a:t>
            </a:r>
            <a:endParaRPr lang="pt-BR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)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41476091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Páginas e roteamento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676800" y="2011679"/>
            <a:ext cx="10753200" cy="4777047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Para criar uma página acessível pela rota “/sobre”, criamos um arquivo </a:t>
            </a:r>
            <a:r>
              <a:rPr lang="pt-BR" sz="3600" b="1" spc="-1" dirty="0">
                <a:solidFill>
                  <a:srgbClr val="262626"/>
                </a:solidFill>
                <a:latin typeface="Calibri Light"/>
              </a:rPr>
              <a:t>page.js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 dentro da pasta </a:t>
            </a:r>
            <a:r>
              <a:rPr lang="pt-BR" sz="3600" b="1" spc="-1" dirty="0">
                <a:solidFill>
                  <a:srgbClr val="262626"/>
                </a:solidFill>
                <a:latin typeface="Calibri Light"/>
              </a:rPr>
              <a:t>app/sobre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, e nele criamos uma função </a:t>
            </a:r>
            <a:r>
              <a:rPr lang="pt-BR" sz="3600" spc="-1" dirty="0" err="1">
                <a:solidFill>
                  <a:srgbClr val="262626"/>
                </a:solidFill>
                <a:latin typeface="Calibri Light"/>
              </a:rPr>
              <a:t>React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 válida exportada de forma padrão.</a:t>
            </a:r>
            <a:endParaRPr lang="pt-BR" sz="3200" strike="noStrike" spc="-1" dirty="0">
              <a:solidFill>
                <a:srgbClr val="262626"/>
              </a:solidFill>
              <a:latin typeface="Calibri Light"/>
            </a:endParaRPr>
          </a:p>
          <a:p>
            <a:pPr marL="457200" lvl="1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endParaRPr lang="pt-BR" sz="3200" strike="noStrike" spc="-1" dirty="0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endParaRPr lang="pt-BR" sz="3600" spc="-1" dirty="0">
              <a:solidFill>
                <a:srgbClr val="262626"/>
              </a:solidFill>
              <a:latin typeface="Calibri Light"/>
            </a:endParaRPr>
          </a:p>
          <a:p>
            <a:pPr marL="548640" lvl="1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endParaRPr lang="pt-BR" sz="3200" spc="-1" dirty="0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B128B43-E0DA-16B0-77D9-823679E4065C}"/>
              </a:ext>
            </a:extLst>
          </p:cNvPr>
          <p:cNvSpPr txBox="1"/>
          <p:nvPr/>
        </p:nvSpPr>
        <p:spPr>
          <a:xfrm>
            <a:off x="762000" y="3944816"/>
            <a:ext cx="1096818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default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Sobre() {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&lt;&gt;</a:t>
            </a:r>
            <a:endParaRPr lang="pt-BR" sz="2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2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2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Eu sou uma página de exemplo (SOBRE).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2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2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&lt;/&gt;</a:t>
            </a:r>
            <a:endParaRPr lang="pt-BR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)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sz="32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60576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Páginas e roteamento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676800" y="2011679"/>
            <a:ext cx="10753200" cy="4777047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Visite o endereço “/sobre” do </a:t>
            </a:r>
            <a:r>
              <a:rPr lang="pt-BR" sz="3600" i="1" spc="-1" dirty="0">
                <a:solidFill>
                  <a:srgbClr val="262626"/>
                </a:solidFill>
                <a:latin typeface="Calibri Light"/>
              </a:rPr>
              <a:t>site 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para visualizar a página criada;</a:t>
            </a: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endParaRPr lang="pt-BR" sz="3600" strike="noStrike" spc="-1" dirty="0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Para navegar de uma rota à outra, utilizamos o componente Link do Next.js, alterando seu atributo </a:t>
            </a:r>
            <a:r>
              <a:rPr lang="pt-BR" sz="3600" b="1" spc="-1" dirty="0" err="1">
                <a:solidFill>
                  <a:srgbClr val="262626"/>
                </a:solidFill>
                <a:latin typeface="Calibri Light"/>
              </a:rPr>
              <a:t>href</a:t>
            </a:r>
            <a:r>
              <a:rPr lang="pt-BR" sz="3600" b="1" spc="-1" dirty="0">
                <a:solidFill>
                  <a:srgbClr val="262626"/>
                </a:solidFill>
                <a:latin typeface="Calibri Light"/>
              </a:rPr>
              <a:t> 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para a rota desejada;</a:t>
            </a: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endParaRPr lang="pt-BR" sz="3600" strike="noStrike" spc="-1" dirty="0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Perceba que o </a:t>
            </a:r>
            <a:r>
              <a:rPr lang="pt-BR" sz="3600" i="1" spc="-1" dirty="0">
                <a:solidFill>
                  <a:srgbClr val="262626"/>
                </a:solidFill>
                <a:latin typeface="Calibri Light"/>
              </a:rPr>
              <a:t>site 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é atualizado sem recarregar a página.</a:t>
            </a:r>
            <a:endParaRPr lang="pt-BR" sz="3200" strike="noStrike" spc="-1" dirty="0">
              <a:solidFill>
                <a:srgbClr val="262626"/>
              </a:solidFill>
              <a:latin typeface="Calibri Light"/>
            </a:endParaRPr>
          </a:p>
          <a:p>
            <a:pPr marL="457200" lvl="1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endParaRPr lang="pt-BR" sz="3200" strike="noStrike" spc="-1" dirty="0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endParaRPr lang="pt-BR" sz="3600" spc="-1" dirty="0">
              <a:solidFill>
                <a:srgbClr val="262626"/>
              </a:solidFill>
              <a:latin typeface="Calibri Light"/>
            </a:endParaRPr>
          </a:p>
          <a:p>
            <a:pPr marL="548640" lvl="1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endParaRPr lang="pt-BR" sz="3200" spc="-1" dirty="0">
              <a:solidFill>
                <a:srgbClr val="262626"/>
              </a:solidFill>
              <a:latin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32363863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Páginas e roteamento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676800" y="2011679"/>
            <a:ext cx="10753200" cy="4777047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3600" b="1" spc="-1" dirty="0">
                <a:solidFill>
                  <a:srgbClr val="262626"/>
                </a:solidFill>
                <a:latin typeface="Calibri Light"/>
              </a:rPr>
              <a:t>app/page.js</a:t>
            </a:r>
            <a:endParaRPr lang="pt-BR" sz="3200" b="1" strike="noStrike" spc="-1" dirty="0">
              <a:solidFill>
                <a:srgbClr val="262626"/>
              </a:solidFill>
              <a:latin typeface="Calibri Light"/>
            </a:endParaRPr>
          </a:p>
          <a:p>
            <a:pPr marL="457200" lvl="1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endParaRPr lang="pt-BR" sz="3200" strike="noStrike" spc="-1" dirty="0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endParaRPr lang="pt-BR" sz="3600" spc="-1" dirty="0">
              <a:solidFill>
                <a:srgbClr val="262626"/>
              </a:solidFill>
              <a:latin typeface="Calibri Light"/>
            </a:endParaRPr>
          </a:p>
          <a:p>
            <a:pPr marL="548640" lvl="1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endParaRPr lang="pt-BR" sz="3200" spc="-1" dirty="0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618E540-1E23-E4BB-DA9C-2B6481D1E9F7}"/>
              </a:ext>
            </a:extLst>
          </p:cNvPr>
          <p:cNvSpPr txBox="1"/>
          <p:nvPr/>
        </p:nvSpPr>
        <p:spPr>
          <a:xfrm>
            <a:off x="831272" y="2729867"/>
            <a:ext cx="10520219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Link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"next/link"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pt-BR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default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Home() {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&lt;&gt;</a:t>
            </a:r>
            <a:endParaRPr lang="pt-BR" sz="2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2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2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Olá mundo!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2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2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Link</a:t>
            </a:r>
            <a:r>
              <a:rPr lang="pt-BR" sz="2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href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"/sobre"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2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Sobre mim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Link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2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&lt;/&gt;</a:t>
            </a:r>
            <a:endParaRPr lang="pt-BR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)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sz="32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72669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Páginas e roteamento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676800" y="2011679"/>
            <a:ext cx="10753200" cy="4777047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3600" b="1" spc="-1" dirty="0">
                <a:solidFill>
                  <a:srgbClr val="262626"/>
                </a:solidFill>
                <a:latin typeface="Calibri Light"/>
              </a:rPr>
              <a:t>app/sobre/page.js</a:t>
            </a:r>
            <a:endParaRPr lang="pt-BR" sz="3200" b="1" strike="noStrike" spc="-1" dirty="0">
              <a:solidFill>
                <a:srgbClr val="262626"/>
              </a:solidFill>
              <a:latin typeface="Calibri Light"/>
            </a:endParaRPr>
          </a:p>
          <a:p>
            <a:pPr marL="457200" lvl="1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endParaRPr lang="pt-BR" sz="3200" strike="noStrike" spc="-1" dirty="0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endParaRPr lang="pt-BR" sz="3600" spc="-1" dirty="0">
              <a:solidFill>
                <a:srgbClr val="262626"/>
              </a:solidFill>
              <a:latin typeface="Calibri Light"/>
            </a:endParaRPr>
          </a:p>
          <a:p>
            <a:pPr marL="548640" lvl="1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endParaRPr lang="pt-BR" sz="3200" spc="-1" dirty="0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618E540-1E23-E4BB-DA9C-2B6481D1E9F7}"/>
              </a:ext>
            </a:extLst>
          </p:cNvPr>
          <p:cNvSpPr txBox="1"/>
          <p:nvPr/>
        </p:nvSpPr>
        <p:spPr>
          <a:xfrm>
            <a:off x="831272" y="2729867"/>
            <a:ext cx="1068392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Link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"next/link"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pt-BR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default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Sobre() {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&lt;&gt;</a:t>
            </a:r>
            <a:endParaRPr lang="pt-BR" sz="2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2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2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Eu sou uma página de exemplo (SOBRE).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2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2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Link</a:t>
            </a:r>
            <a:r>
              <a:rPr lang="pt-BR" sz="2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href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"/"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2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Voltar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Link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2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&lt;/&gt;</a:t>
            </a:r>
            <a:endParaRPr lang="pt-BR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)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sz="32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19188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Páginas e roteamento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676800" y="2011679"/>
            <a:ext cx="10753200" cy="4777047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Caso uma pasta não possua um arquivo page.js, o seu caminho não será usado como rota pelo </a:t>
            </a:r>
            <a:r>
              <a:rPr lang="pt-BR" sz="3600" i="1" spc="-1" dirty="0">
                <a:solidFill>
                  <a:srgbClr val="262626"/>
                </a:solidFill>
                <a:latin typeface="Calibri Light"/>
              </a:rPr>
              <a:t>site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;</a:t>
            </a: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3600" strike="noStrike" spc="-1" dirty="0">
                <a:solidFill>
                  <a:srgbClr val="262626"/>
                </a:solidFill>
                <a:latin typeface="Calibri Light"/>
              </a:rPr>
              <a:t>É possível criar pastas que não sejam utilizadas como rota, apenas para melhor organizar o código. Para isso, o nome da pasta deve estar entre parênteses;</a:t>
            </a: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Por exemplo, crie a pasta </a:t>
            </a:r>
            <a:r>
              <a:rPr lang="pt-BR" sz="3600" b="1" spc="-1" dirty="0">
                <a:solidFill>
                  <a:srgbClr val="262626"/>
                </a:solidFill>
                <a:latin typeface="Calibri Light"/>
              </a:rPr>
              <a:t>app/(sistema)/exemplo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, e dentro desta pasta crie o arquivo </a:t>
            </a:r>
            <a:r>
              <a:rPr lang="pt-BR" sz="3600" b="1" spc="-1" dirty="0">
                <a:solidFill>
                  <a:srgbClr val="262626"/>
                </a:solidFill>
                <a:latin typeface="Calibri Light"/>
              </a:rPr>
              <a:t>page.js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.</a:t>
            </a:r>
            <a:endParaRPr lang="pt-BR" sz="3200" strike="noStrike" spc="-1" dirty="0">
              <a:solidFill>
                <a:srgbClr val="262626"/>
              </a:solidFill>
              <a:latin typeface="Calibri Light"/>
            </a:endParaRPr>
          </a:p>
          <a:p>
            <a:pPr marL="457200" lvl="1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endParaRPr lang="pt-BR" sz="3200" strike="noStrike" spc="-1" dirty="0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endParaRPr lang="pt-BR" sz="3600" spc="-1" dirty="0">
              <a:solidFill>
                <a:srgbClr val="262626"/>
              </a:solidFill>
              <a:latin typeface="Calibri Light"/>
            </a:endParaRPr>
          </a:p>
          <a:p>
            <a:pPr marL="548640" lvl="1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endParaRPr lang="pt-BR" sz="3200" spc="-1" dirty="0">
              <a:solidFill>
                <a:srgbClr val="262626"/>
              </a:solidFill>
              <a:latin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26918018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Páginas e roteamento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676800" y="2011679"/>
            <a:ext cx="10753200" cy="4777047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457200" lvl="1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endParaRPr lang="pt-BR" sz="3200" strike="noStrike" spc="-1" dirty="0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endParaRPr lang="pt-BR" sz="3600" spc="-1" dirty="0">
              <a:solidFill>
                <a:srgbClr val="262626"/>
              </a:solidFill>
              <a:latin typeface="Calibri Light"/>
            </a:endParaRPr>
          </a:p>
          <a:p>
            <a:pPr marL="548640" lvl="1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endParaRPr lang="pt-BR" sz="3200" spc="-1" dirty="0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3F409B4-FD38-9DAB-26C9-F8AAB7AE6731}"/>
              </a:ext>
            </a:extLst>
          </p:cNvPr>
          <p:cNvSpPr txBox="1"/>
          <p:nvPr/>
        </p:nvSpPr>
        <p:spPr>
          <a:xfrm>
            <a:off x="762000" y="2157480"/>
            <a:ext cx="11180618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Link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"next/link"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pt-BR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default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Exemplo() {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&lt;&gt;</a:t>
            </a:r>
            <a:endParaRPr lang="pt-BR" sz="2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2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2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Exemplo de utilização de pasta para organização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2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2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Link</a:t>
            </a:r>
            <a:r>
              <a:rPr lang="pt-BR" sz="2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href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"/"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2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Voltar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Link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2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&lt;/&gt;</a:t>
            </a:r>
            <a:endParaRPr lang="pt-BR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)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907214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Páginas e roteamento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676800" y="2011679"/>
            <a:ext cx="10753200" cy="4777047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Atualize </a:t>
            </a:r>
            <a:r>
              <a:rPr lang="pt-BR" sz="3600" b="1" spc="-1" dirty="0">
                <a:solidFill>
                  <a:srgbClr val="262626"/>
                </a:solidFill>
                <a:latin typeface="Calibri Light"/>
              </a:rPr>
              <a:t>app/page.js:</a:t>
            </a:r>
            <a:endParaRPr lang="pt-BR" sz="3200" strike="noStrike" spc="-1" dirty="0">
              <a:solidFill>
                <a:srgbClr val="262626"/>
              </a:solidFill>
              <a:latin typeface="Calibri Light"/>
            </a:endParaRPr>
          </a:p>
          <a:p>
            <a:pPr marL="457200" lvl="1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endParaRPr lang="pt-BR" sz="3200" strike="noStrike" spc="-1" dirty="0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endParaRPr lang="pt-BR" sz="3600" spc="-1" dirty="0">
              <a:solidFill>
                <a:srgbClr val="262626"/>
              </a:solidFill>
              <a:latin typeface="Calibri Light"/>
            </a:endParaRPr>
          </a:p>
          <a:p>
            <a:pPr marL="548640" lvl="1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endParaRPr lang="pt-BR" sz="3200" spc="-1" dirty="0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6D7D90F-FBB7-75B8-D8F5-9EF82D45569E}"/>
              </a:ext>
            </a:extLst>
          </p:cNvPr>
          <p:cNvSpPr txBox="1"/>
          <p:nvPr/>
        </p:nvSpPr>
        <p:spPr>
          <a:xfrm>
            <a:off x="762000" y="2609839"/>
            <a:ext cx="10275455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Link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"next/link"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pt-BR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default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Home() {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&lt;&gt;</a:t>
            </a:r>
            <a:endParaRPr lang="pt-BR" sz="2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2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2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Olá mundo!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2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2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Link</a:t>
            </a:r>
            <a:r>
              <a:rPr lang="pt-BR" sz="2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href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"/sobre"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2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Sobre mim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Link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2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Link</a:t>
            </a:r>
            <a:r>
              <a:rPr lang="pt-BR" sz="2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href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"/exemplo"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2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Exemplo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Link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2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&lt;/&gt;</a:t>
            </a:r>
            <a:endParaRPr lang="pt-BR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)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sz="28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75470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Páginas e roteamento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676800" y="2011679"/>
            <a:ext cx="10753200" cy="4777047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Dentro de uma pasta, além do arquivo page.js, podemos definir outros arquivos especiais:</a:t>
            </a:r>
          </a:p>
          <a:p>
            <a:pPr lvl="1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Wingdings" panose="05000000000000000000" pitchFamily="2" charset="2"/>
              <a:buChar char="§"/>
            </a:pPr>
            <a:r>
              <a:rPr lang="pt-BR" sz="3200" b="1" spc="-1" dirty="0">
                <a:solidFill>
                  <a:srgbClr val="262626"/>
                </a:solidFill>
                <a:latin typeface="Calibri Light"/>
              </a:rPr>
              <a:t>layout.js</a:t>
            </a:r>
            <a:r>
              <a:rPr lang="pt-BR" sz="3200" spc="-1" dirty="0">
                <a:solidFill>
                  <a:srgbClr val="262626"/>
                </a:solidFill>
                <a:latin typeface="Calibri Light"/>
              </a:rPr>
              <a:t>: todos as páginas acessíveis através daquela rota terão aquele código compartilhado;</a:t>
            </a:r>
          </a:p>
          <a:p>
            <a:pPr lvl="1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Wingdings" panose="05000000000000000000" pitchFamily="2" charset="2"/>
              <a:buChar char="§"/>
            </a:pPr>
            <a:r>
              <a:rPr lang="pt-BR" sz="3200" b="1" strike="noStrike" spc="-1" dirty="0">
                <a:solidFill>
                  <a:srgbClr val="262626"/>
                </a:solidFill>
                <a:latin typeface="Calibri Light"/>
              </a:rPr>
              <a:t>loading.js</a:t>
            </a:r>
            <a:r>
              <a:rPr lang="pt-BR" sz="3200" strike="noStrike" spc="-1" dirty="0">
                <a:solidFill>
                  <a:srgbClr val="262626"/>
                </a:solidFill>
                <a:latin typeface="Calibri Light"/>
              </a:rPr>
              <a:t>: componente a ser exibido enquanto a página não é carregada;</a:t>
            </a:r>
          </a:p>
          <a:p>
            <a:pPr lvl="1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Wingdings" panose="05000000000000000000" pitchFamily="2" charset="2"/>
              <a:buChar char="§"/>
            </a:pPr>
            <a:endParaRPr lang="pt-BR" sz="2800" b="1" strike="noStrike" spc="-1" dirty="0">
              <a:solidFill>
                <a:srgbClr val="262626"/>
              </a:solidFill>
              <a:latin typeface="Calibri Light"/>
            </a:endParaRPr>
          </a:p>
          <a:p>
            <a:pPr marL="457200" lvl="1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endParaRPr lang="pt-BR" sz="3200" strike="noStrike" spc="-1" dirty="0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endParaRPr lang="pt-BR" sz="3600" spc="-1" dirty="0">
              <a:solidFill>
                <a:srgbClr val="262626"/>
              </a:solidFill>
              <a:latin typeface="Calibri Light"/>
            </a:endParaRPr>
          </a:p>
          <a:p>
            <a:pPr marL="548640" lvl="1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endParaRPr lang="pt-BR" sz="3200" spc="-1" dirty="0">
              <a:solidFill>
                <a:srgbClr val="262626"/>
              </a:solidFill>
              <a:latin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17782381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Páginas e roteamento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676800" y="2011679"/>
            <a:ext cx="10753200" cy="4777047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3600" strike="noStrike" spc="-1" dirty="0">
                <a:solidFill>
                  <a:srgbClr val="262626"/>
                </a:solidFill>
                <a:latin typeface="Calibri Light"/>
              </a:rPr>
              <a:t>Crie o arquivo </a:t>
            </a:r>
            <a:r>
              <a:rPr lang="pt-BR" sz="3600" b="1" strike="noStrike" spc="-1" dirty="0">
                <a:solidFill>
                  <a:srgbClr val="262626"/>
                </a:solidFill>
                <a:latin typeface="Calibri Light"/>
              </a:rPr>
              <a:t>layout.js</a:t>
            </a:r>
            <a:r>
              <a:rPr lang="pt-BR" sz="3600" strike="noStrike" spc="-1" dirty="0">
                <a:solidFill>
                  <a:srgbClr val="262626"/>
                </a:solidFill>
                <a:latin typeface="Calibri Light"/>
              </a:rPr>
              <a:t> dentro da pasta </a:t>
            </a:r>
            <a:r>
              <a:rPr lang="pt-BR" sz="3600" b="1" strike="noStrike" spc="-1" dirty="0">
                <a:solidFill>
                  <a:srgbClr val="262626"/>
                </a:solidFill>
                <a:latin typeface="Calibri Light"/>
              </a:rPr>
              <a:t>app/sobre</a:t>
            </a:r>
            <a:r>
              <a:rPr lang="pt-BR" sz="3600" strike="noStrike" spc="-1" dirty="0">
                <a:solidFill>
                  <a:srgbClr val="262626"/>
                </a:solidFill>
                <a:latin typeface="Calibri Light"/>
              </a:rPr>
              <a:t>:</a:t>
            </a:r>
            <a:endParaRPr lang="pt-BR" sz="2800" strike="noStrike" spc="-1" dirty="0">
              <a:solidFill>
                <a:srgbClr val="262626"/>
              </a:solidFill>
              <a:latin typeface="Calibri Light"/>
            </a:endParaRPr>
          </a:p>
          <a:p>
            <a:pPr lvl="1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Wingdings" panose="05000000000000000000" pitchFamily="2" charset="2"/>
              <a:buChar char="§"/>
            </a:pPr>
            <a:endParaRPr lang="pt-BR" sz="2800" b="1" strike="noStrike" spc="-1" dirty="0">
              <a:solidFill>
                <a:srgbClr val="262626"/>
              </a:solidFill>
              <a:latin typeface="Calibri Light"/>
            </a:endParaRPr>
          </a:p>
          <a:p>
            <a:pPr marL="457200" lvl="1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endParaRPr lang="pt-BR" sz="3200" strike="noStrike" spc="-1" dirty="0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endParaRPr lang="pt-BR" sz="3600" spc="-1" dirty="0">
              <a:solidFill>
                <a:srgbClr val="262626"/>
              </a:solidFill>
              <a:latin typeface="Calibri Light"/>
            </a:endParaRPr>
          </a:p>
          <a:p>
            <a:pPr marL="548640" lvl="1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endParaRPr lang="pt-BR" sz="3200" spc="-1" dirty="0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EF0986C-6CAF-D2C6-AF3C-05E095AE3BE4}"/>
              </a:ext>
            </a:extLst>
          </p:cNvPr>
          <p:cNvSpPr txBox="1"/>
          <p:nvPr/>
        </p:nvSpPr>
        <p:spPr>
          <a:xfrm>
            <a:off x="854362" y="2876708"/>
            <a:ext cx="834505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default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Layout({ children }) {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&lt;&gt;</a:t>
            </a:r>
            <a:endParaRPr lang="pt-BR" sz="2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2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2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Conteúdo padrão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2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2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2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pt-BR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children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2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2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&lt;/&gt;</a:t>
            </a:r>
            <a:endParaRPr lang="pt-BR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)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944296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Páginas e roteamento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676800" y="2011679"/>
            <a:ext cx="10753200" cy="4777047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3600" strike="noStrike" spc="-1" dirty="0">
                <a:solidFill>
                  <a:srgbClr val="262626"/>
                </a:solidFill>
                <a:latin typeface="Calibri Light"/>
              </a:rPr>
              <a:t>Navegue para a rota “/sobre” e veja que o conteúdo do </a:t>
            </a:r>
            <a:r>
              <a:rPr lang="pt-BR" sz="3600" i="1" strike="noStrike" spc="-1" dirty="0">
                <a:solidFill>
                  <a:srgbClr val="262626"/>
                </a:solidFill>
                <a:latin typeface="Calibri Light"/>
              </a:rPr>
              <a:t>layout</a:t>
            </a:r>
            <a:r>
              <a:rPr lang="pt-BR" sz="3600" strike="noStrike" spc="-1" dirty="0">
                <a:solidFill>
                  <a:srgbClr val="262626"/>
                </a:solidFill>
                <a:latin typeface="Calibri Light"/>
              </a:rPr>
              <a:t> é exibido na página;</a:t>
            </a: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Crie uma nova pasta </a:t>
            </a:r>
            <a:r>
              <a:rPr lang="pt-BR" sz="3600" b="1" spc="-1" dirty="0">
                <a:solidFill>
                  <a:srgbClr val="262626"/>
                </a:solidFill>
                <a:latin typeface="Calibri Light"/>
              </a:rPr>
              <a:t>app/sobre/nome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, e dentro dela um arquivo </a:t>
            </a:r>
            <a:r>
              <a:rPr lang="pt-BR" sz="3600" b="1" spc="-1" dirty="0">
                <a:solidFill>
                  <a:srgbClr val="262626"/>
                </a:solidFill>
                <a:latin typeface="Calibri Light"/>
              </a:rPr>
              <a:t>page.js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;</a:t>
            </a:r>
            <a:endParaRPr lang="pt-BR" sz="2800" strike="noStrike" spc="-1" dirty="0">
              <a:solidFill>
                <a:srgbClr val="262626"/>
              </a:solidFill>
              <a:latin typeface="Calibri Light"/>
            </a:endParaRPr>
          </a:p>
          <a:p>
            <a:pPr lvl="1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Wingdings" panose="05000000000000000000" pitchFamily="2" charset="2"/>
              <a:buChar char="§"/>
            </a:pPr>
            <a:endParaRPr lang="pt-BR" sz="2800" b="1" strike="noStrike" spc="-1" dirty="0">
              <a:solidFill>
                <a:srgbClr val="262626"/>
              </a:solidFill>
              <a:latin typeface="Calibri Light"/>
            </a:endParaRPr>
          </a:p>
          <a:p>
            <a:pPr marL="457200" lvl="1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endParaRPr lang="pt-BR" sz="3200" strike="noStrike" spc="-1" dirty="0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endParaRPr lang="pt-BR" sz="3600" spc="-1" dirty="0">
              <a:solidFill>
                <a:srgbClr val="262626"/>
              </a:solidFill>
              <a:latin typeface="Calibri Light"/>
            </a:endParaRPr>
          </a:p>
          <a:p>
            <a:pPr marL="548640" lvl="1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endParaRPr lang="pt-BR" sz="3200" spc="-1" dirty="0">
              <a:solidFill>
                <a:srgbClr val="262626"/>
              </a:solidFill>
              <a:latin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17288232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Páginas e roteamento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676800" y="2011679"/>
            <a:ext cx="10753200" cy="4777047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lvl="1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Wingdings" panose="05000000000000000000" pitchFamily="2" charset="2"/>
              <a:buChar char="§"/>
            </a:pPr>
            <a:endParaRPr lang="pt-BR" sz="2800" b="1" strike="noStrike" spc="-1" dirty="0">
              <a:solidFill>
                <a:srgbClr val="262626"/>
              </a:solidFill>
              <a:latin typeface="Calibri Light"/>
            </a:endParaRPr>
          </a:p>
          <a:p>
            <a:pPr marL="457200" lvl="1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endParaRPr lang="pt-BR" sz="3200" strike="noStrike" spc="-1" dirty="0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endParaRPr lang="pt-BR" sz="3600" spc="-1" dirty="0">
              <a:solidFill>
                <a:srgbClr val="262626"/>
              </a:solidFill>
              <a:latin typeface="Calibri Light"/>
            </a:endParaRPr>
          </a:p>
          <a:p>
            <a:pPr marL="548640" lvl="1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endParaRPr lang="pt-BR" sz="3200" spc="-1" dirty="0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5CE8E6F-2D04-45B2-A5FB-B3BB7F2AFA67}"/>
              </a:ext>
            </a:extLst>
          </p:cNvPr>
          <p:cNvSpPr txBox="1"/>
          <p:nvPr/>
        </p:nvSpPr>
        <p:spPr>
          <a:xfrm>
            <a:off x="762000" y="1957115"/>
            <a:ext cx="10212873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Link 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0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"next/link"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pt-BR" sz="2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default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Nome() {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&lt;&gt;</a:t>
            </a:r>
            <a:endParaRPr lang="pt-BR" sz="20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0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20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20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Meu nome é Tiago.</a:t>
            </a:r>
            <a:r>
              <a:rPr lang="pt-BR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20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20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0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20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20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0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20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Link</a:t>
            </a:r>
            <a:r>
              <a:rPr lang="pt-BR" sz="20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0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href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20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"/sobre"</a:t>
            </a:r>
            <a:r>
              <a:rPr lang="pt-BR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20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Voltar para sobre</a:t>
            </a:r>
            <a:r>
              <a:rPr lang="pt-BR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20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Link</a:t>
            </a:r>
            <a:r>
              <a:rPr lang="pt-BR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&gt;&lt;/</a:t>
            </a:r>
            <a:r>
              <a:rPr lang="pt-BR" sz="20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20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0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20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20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0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20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Link</a:t>
            </a:r>
            <a:r>
              <a:rPr lang="pt-BR" sz="20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0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href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20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"/"</a:t>
            </a:r>
            <a:r>
              <a:rPr lang="pt-BR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20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Voltar para home</a:t>
            </a:r>
            <a:r>
              <a:rPr lang="pt-BR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20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Link</a:t>
            </a:r>
            <a:r>
              <a:rPr lang="pt-BR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20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0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20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20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0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&lt;/&gt;</a:t>
            </a:r>
            <a:endParaRPr lang="pt-BR" sz="2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)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996088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Páginas e roteamento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676800" y="2011679"/>
            <a:ext cx="10753200" cy="4777047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3600" strike="noStrike" spc="-1" dirty="0">
                <a:solidFill>
                  <a:srgbClr val="262626"/>
                </a:solidFill>
                <a:latin typeface="Calibri Light"/>
              </a:rPr>
              <a:t>Atualize </a:t>
            </a:r>
            <a:r>
              <a:rPr lang="pt-BR" sz="3600" b="1" strike="noStrike" spc="-1" dirty="0">
                <a:solidFill>
                  <a:srgbClr val="262626"/>
                </a:solidFill>
                <a:latin typeface="Calibri Light"/>
              </a:rPr>
              <a:t>app/sobre/page.js</a:t>
            </a:r>
            <a:r>
              <a:rPr lang="pt-BR" sz="3600" strike="noStrike" spc="-1" dirty="0">
                <a:solidFill>
                  <a:srgbClr val="262626"/>
                </a:solidFill>
                <a:latin typeface="Calibri Light"/>
              </a:rPr>
              <a:t>:</a:t>
            </a:r>
            <a:endParaRPr lang="pt-BR" sz="2800" strike="noStrike" spc="-1" dirty="0">
              <a:solidFill>
                <a:srgbClr val="262626"/>
              </a:solidFill>
              <a:latin typeface="Calibri Light"/>
            </a:endParaRPr>
          </a:p>
          <a:p>
            <a:pPr lvl="1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Wingdings" panose="05000000000000000000" pitchFamily="2" charset="2"/>
              <a:buChar char="§"/>
            </a:pPr>
            <a:endParaRPr lang="pt-BR" sz="2800" b="1" strike="noStrike" spc="-1" dirty="0">
              <a:solidFill>
                <a:srgbClr val="262626"/>
              </a:solidFill>
              <a:latin typeface="Calibri Light"/>
            </a:endParaRPr>
          </a:p>
          <a:p>
            <a:pPr marL="457200" lvl="1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endParaRPr lang="pt-BR" sz="3200" strike="noStrike" spc="-1" dirty="0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endParaRPr lang="pt-BR" sz="3600" spc="-1" dirty="0">
              <a:solidFill>
                <a:srgbClr val="262626"/>
              </a:solidFill>
              <a:latin typeface="Calibri Light"/>
            </a:endParaRPr>
          </a:p>
          <a:p>
            <a:pPr marL="548640" lvl="1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endParaRPr lang="pt-BR" sz="3200" spc="-1" dirty="0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47DD05E-1131-6D0B-3E25-C75252958529}"/>
              </a:ext>
            </a:extLst>
          </p:cNvPr>
          <p:cNvSpPr txBox="1"/>
          <p:nvPr/>
        </p:nvSpPr>
        <p:spPr>
          <a:xfrm>
            <a:off x="762000" y="2748432"/>
            <a:ext cx="9453418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Link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"next/link"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pt-BR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default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Sobre() {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&lt;&gt;</a:t>
            </a:r>
            <a:endParaRPr lang="pt-BR" sz="1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1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Eu sou uma página de exemplo (SOBRE).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8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18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flex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flex-col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8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Link</a:t>
            </a:r>
            <a:r>
              <a:rPr lang="pt-BR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href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"/sobre/nome"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1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Meu nome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8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Link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8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Link</a:t>
            </a:r>
            <a:r>
              <a:rPr lang="pt-BR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href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"/"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1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Voltar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8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Link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8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&lt;/&gt;</a:t>
            </a:r>
            <a:endParaRPr lang="pt-BR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)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sz="20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94633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Páginas e roteamento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676800" y="2011679"/>
            <a:ext cx="10753200" cy="4777047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500" lnSpcReduction="10000"/>
          </a:bodyPr>
          <a:lstStyle/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3600" strike="noStrike" spc="-1" dirty="0">
                <a:solidFill>
                  <a:srgbClr val="262626"/>
                </a:solidFill>
                <a:latin typeface="Calibri Light"/>
              </a:rPr>
              <a:t>Crie o arquivo </a:t>
            </a:r>
            <a:r>
              <a:rPr lang="pt-BR" sz="3600" b="1" strike="noStrike" spc="-1" dirty="0">
                <a:solidFill>
                  <a:srgbClr val="262626"/>
                </a:solidFill>
                <a:latin typeface="Calibri Light"/>
              </a:rPr>
              <a:t>app/sobre/loading.js</a:t>
            </a:r>
            <a:r>
              <a:rPr lang="pt-BR" sz="3600" strike="noStrike" spc="-1" dirty="0">
                <a:solidFill>
                  <a:srgbClr val="262626"/>
                </a:solidFill>
                <a:latin typeface="Calibri Light"/>
              </a:rPr>
              <a:t>:</a:t>
            </a: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endParaRPr lang="pt-BR" sz="3600" spc="-1" dirty="0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endParaRPr lang="pt-BR" sz="3600" strike="noStrike" spc="-1" dirty="0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endParaRPr lang="pt-BR" sz="3600" spc="-1" dirty="0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endParaRPr lang="pt-BR" sz="3600" strike="noStrike" spc="-1" dirty="0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endParaRPr lang="pt-BR" sz="3600" spc="-1" dirty="0">
              <a:solidFill>
                <a:srgbClr val="262626"/>
              </a:solidFill>
              <a:latin typeface="Calibri Light"/>
            </a:endParaRPr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r>
              <a:rPr lang="pt-BR" sz="3600" strike="noStrike" spc="-1" dirty="0">
                <a:solidFill>
                  <a:srgbClr val="262626"/>
                </a:solidFill>
                <a:latin typeface="Calibri Light"/>
              </a:rPr>
              <a:t>Pare a compilação e inicie o servidor novamente. Perceba que esse conteúdo é exibido a primeira vez que a página na rota “/sobre” é acessada.</a:t>
            </a:r>
            <a:endParaRPr lang="pt-BR" sz="2800" strike="noStrike" spc="-1" dirty="0">
              <a:solidFill>
                <a:srgbClr val="262626"/>
              </a:solidFill>
              <a:latin typeface="Calibri Light"/>
            </a:endParaRPr>
          </a:p>
          <a:p>
            <a:pPr lvl="1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Wingdings" panose="05000000000000000000" pitchFamily="2" charset="2"/>
              <a:buChar char="§"/>
            </a:pPr>
            <a:endParaRPr lang="pt-BR" sz="2800" b="1" strike="noStrike" spc="-1" dirty="0">
              <a:solidFill>
                <a:srgbClr val="262626"/>
              </a:solidFill>
              <a:latin typeface="Calibri Light"/>
            </a:endParaRPr>
          </a:p>
          <a:p>
            <a:pPr marL="457200" lvl="1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endParaRPr lang="pt-BR" sz="3200" strike="noStrike" spc="-1" dirty="0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endParaRPr lang="pt-BR" sz="3600" spc="-1" dirty="0">
              <a:solidFill>
                <a:srgbClr val="262626"/>
              </a:solidFill>
              <a:latin typeface="Calibri Light"/>
            </a:endParaRPr>
          </a:p>
          <a:p>
            <a:pPr marL="548640" lvl="1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endParaRPr lang="pt-BR" sz="3200" spc="-1" dirty="0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9762A82-7E4B-88D7-7EAD-C43FBD34E12E}"/>
              </a:ext>
            </a:extLst>
          </p:cNvPr>
          <p:cNvSpPr txBox="1"/>
          <p:nvPr/>
        </p:nvSpPr>
        <p:spPr>
          <a:xfrm>
            <a:off x="762000" y="2437950"/>
            <a:ext cx="736138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default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Loading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 {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&lt;&gt;</a:t>
            </a:r>
            <a:endParaRPr lang="pt-BR" sz="2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2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2400" dirty="0" err="1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Loading</a:t>
            </a:r>
            <a:r>
              <a:rPr lang="pt-BR" sz="2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...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2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2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&lt;/&gt;</a:t>
            </a:r>
            <a:endParaRPr lang="pt-BR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)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558371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Páginas e roteamento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676800" y="2011679"/>
            <a:ext cx="10753200" cy="4777047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3600" strike="noStrike" spc="-1" dirty="0">
                <a:solidFill>
                  <a:srgbClr val="262626"/>
                </a:solidFill>
                <a:latin typeface="Calibri Light"/>
              </a:rPr>
              <a:t>Se quiser simular um carregamento, altere o arquivo </a:t>
            </a:r>
            <a:r>
              <a:rPr lang="pt-BR" sz="3600" b="1" strike="noStrike" spc="-1" dirty="0">
                <a:solidFill>
                  <a:srgbClr val="262626"/>
                </a:solidFill>
                <a:latin typeface="Calibri Light"/>
              </a:rPr>
              <a:t>app/sobre/page.js</a:t>
            </a:r>
            <a:r>
              <a:rPr lang="pt-BR" sz="3600" strike="noStrike" spc="-1" dirty="0">
                <a:solidFill>
                  <a:srgbClr val="262626"/>
                </a:solidFill>
                <a:latin typeface="Calibri Light"/>
              </a:rPr>
              <a:t>:</a:t>
            </a: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endParaRPr lang="pt-BR" sz="3600" spc="-1" dirty="0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endParaRPr lang="pt-BR" sz="3600" strike="noStrike" spc="-1" dirty="0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endParaRPr lang="pt-BR" sz="3600" spc="-1" dirty="0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endParaRPr lang="pt-BR" sz="3600" strike="noStrike" spc="-1" dirty="0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endParaRPr lang="pt-BR" sz="3600" spc="-1" dirty="0">
              <a:solidFill>
                <a:srgbClr val="262626"/>
              </a:solidFill>
              <a:latin typeface="Calibri Light"/>
            </a:endParaRPr>
          </a:p>
          <a:p>
            <a:pPr marL="457200" lvl="1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endParaRPr lang="pt-BR" sz="3200" strike="noStrike" spc="-1" dirty="0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endParaRPr lang="pt-BR" sz="3600" spc="-1" dirty="0">
              <a:solidFill>
                <a:srgbClr val="262626"/>
              </a:solidFill>
              <a:latin typeface="Calibri Light"/>
            </a:endParaRPr>
          </a:p>
          <a:p>
            <a:pPr marL="548640" lvl="1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endParaRPr lang="pt-BR" sz="3200" spc="-1" dirty="0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9762A82-7E4B-88D7-7EAD-C43FBD34E12E}"/>
              </a:ext>
            </a:extLst>
          </p:cNvPr>
          <p:cNvSpPr txBox="1"/>
          <p:nvPr/>
        </p:nvSpPr>
        <p:spPr>
          <a:xfrm>
            <a:off x="762000" y="3075366"/>
            <a:ext cx="9222509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Link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"next/link"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pt-BR" sz="1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default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async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Sobre() {</a:t>
            </a:r>
          </a:p>
          <a:p>
            <a:endParaRPr lang="pt-BR" sz="1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await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Promise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(r =&gt;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setTimeout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(r, 2000)) }</a:t>
            </a:r>
          </a:p>
          <a:p>
            <a:endParaRPr lang="pt-BR" sz="1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&lt;&gt;</a:t>
            </a:r>
            <a:endParaRPr lang="pt-BR" sz="1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1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Eu sou uma página de exemplo (SOBRE).</a:t>
            </a:r>
            <a:r>
              <a:rPr lang="pt-BR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1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1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flex</a:t>
            </a:r>
            <a:r>
              <a:rPr lang="pt-BR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flex-col</a:t>
            </a:r>
            <a:r>
              <a:rPr lang="pt-BR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Link</a:t>
            </a:r>
            <a:r>
              <a:rPr lang="pt-BR" sz="1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href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"/sobre/nome"</a:t>
            </a:r>
            <a:r>
              <a:rPr lang="pt-BR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1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Meu nome</a:t>
            </a:r>
            <a:r>
              <a:rPr lang="pt-BR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Link</a:t>
            </a:r>
            <a:r>
              <a:rPr lang="pt-BR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Link</a:t>
            </a:r>
            <a:r>
              <a:rPr lang="pt-BR" sz="1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href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"/"</a:t>
            </a:r>
            <a:r>
              <a:rPr lang="pt-BR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1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Voltar</a:t>
            </a:r>
            <a:r>
              <a:rPr lang="pt-BR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Link</a:t>
            </a:r>
            <a:r>
              <a:rPr lang="pt-BR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&lt;/&gt;</a:t>
            </a:r>
            <a:endParaRPr lang="pt-BR" sz="1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)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74898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Páginas e roteamento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676800" y="2011679"/>
            <a:ext cx="10753200" cy="4777047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3600" strike="noStrike" spc="-1" dirty="0">
                <a:solidFill>
                  <a:srgbClr val="262626"/>
                </a:solidFill>
                <a:latin typeface="Calibri Light"/>
              </a:rPr>
              <a:t>O conteúdo de loading.js é o </a:t>
            </a:r>
            <a:r>
              <a:rPr lang="pt-BR" sz="3600" i="1" strike="noStrike" spc="-1" dirty="0" err="1">
                <a:solidFill>
                  <a:srgbClr val="262626"/>
                </a:solidFill>
                <a:latin typeface="Calibri Light"/>
              </a:rPr>
              <a:t>fallback</a:t>
            </a:r>
            <a:r>
              <a:rPr lang="pt-BR" sz="3600" strike="noStrike" spc="-1" dirty="0">
                <a:solidFill>
                  <a:srgbClr val="262626"/>
                </a:solidFill>
                <a:latin typeface="Calibri Light"/>
              </a:rPr>
              <a:t> de um Suspense, 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sendo exibido até que o conteúdo da rota seja carregado.</a:t>
            </a: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3600" strike="noStrike" spc="-1" dirty="0">
                <a:solidFill>
                  <a:srgbClr val="262626"/>
                </a:solidFill>
                <a:latin typeface="Calibri Light"/>
              </a:rPr>
              <a:t>De forma similar, podemos utilizar um Suspense com partes da página.</a:t>
            </a:r>
            <a:endParaRPr lang="pt-BR" sz="3200" strike="noStrike" spc="-1" dirty="0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endParaRPr lang="pt-BR" sz="3600" spc="-1" dirty="0">
              <a:solidFill>
                <a:srgbClr val="262626"/>
              </a:solidFill>
              <a:latin typeface="Calibri Light"/>
            </a:endParaRPr>
          </a:p>
          <a:p>
            <a:pPr marL="548640" lvl="1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endParaRPr lang="pt-BR" sz="3200" spc="-1" dirty="0">
              <a:solidFill>
                <a:srgbClr val="262626"/>
              </a:solidFill>
              <a:latin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25688512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Páginas e roteamento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676800" y="2011679"/>
            <a:ext cx="10753200" cy="4777047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endParaRPr lang="pt-BR" sz="3600" spc="-1" dirty="0">
              <a:solidFill>
                <a:srgbClr val="262626"/>
              </a:solidFill>
              <a:latin typeface="Calibri Light"/>
            </a:endParaRPr>
          </a:p>
          <a:p>
            <a:pPr marL="548640" lvl="1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endParaRPr lang="pt-BR" sz="3200" spc="-1" dirty="0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76CD5F5-CDB1-2591-A3FB-9D0C93088041}"/>
              </a:ext>
            </a:extLst>
          </p:cNvPr>
          <p:cNvSpPr txBox="1"/>
          <p:nvPr/>
        </p:nvSpPr>
        <p:spPr>
          <a:xfrm>
            <a:off x="761999" y="2011679"/>
            <a:ext cx="94164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Suspense } </a:t>
            </a:r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2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react</a:t>
            </a:r>
            <a:r>
              <a:rPr lang="pt-BR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pt-BR" sz="2400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EBA68DD-80DA-E228-2C2F-448D6978BAE3}"/>
              </a:ext>
            </a:extLst>
          </p:cNvPr>
          <p:cNvSpPr txBox="1"/>
          <p:nvPr/>
        </p:nvSpPr>
        <p:spPr>
          <a:xfrm>
            <a:off x="761999" y="3476872"/>
            <a:ext cx="973974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Suspense</a:t>
            </a:r>
            <a:r>
              <a:rPr lang="pt-BR" sz="2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fallback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2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2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Carregando ... 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2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</a:p>
          <a:p>
            <a:r>
              <a:rPr lang="pt-BR" sz="2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2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2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Conteúdo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2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</a:p>
          <a:p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Suspense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32318477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Páginas e roteamento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676800" y="2011679"/>
            <a:ext cx="10753200" cy="4777047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3600" strike="noStrike" spc="-1" dirty="0">
                <a:solidFill>
                  <a:srgbClr val="262626"/>
                </a:solidFill>
                <a:latin typeface="Calibri Light"/>
              </a:rPr>
              <a:t>Para simular o funcionamento do Suspense, altere o conteúdo de </a:t>
            </a:r>
            <a:r>
              <a:rPr lang="pt-BR" sz="3600" b="1" strike="noStrike" spc="-1" dirty="0">
                <a:solidFill>
                  <a:srgbClr val="262626"/>
                </a:solidFill>
                <a:latin typeface="Calibri Light"/>
              </a:rPr>
              <a:t>app/page.js</a:t>
            </a:r>
            <a:r>
              <a:rPr lang="pt-BR" sz="3600" strike="noStrike" spc="-1" dirty="0">
                <a:solidFill>
                  <a:srgbClr val="262626"/>
                </a:solidFill>
                <a:latin typeface="Calibri Light"/>
              </a:rPr>
              <a:t>:</a:t>
            </a:r>
            <a:endParaRPr lang="pt-BR" sz="2800" b="1" strike="noStrike" spc="-1" dirty="0">
              <a:solidFill>
                <a:srgbClr val="262626"/>
              </a:solidFill>
              <a:latin typeface="Calibri Light"/>
            </a:endParaRPr>
          </a:p>
          <a:p>
            <a:pPr marL="457200" lvl="1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endParaRPr lang="pt-BR" sz="3200" strike="noStrike" spc="-1" dirty="0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endParaRPr lang="pt-BR" sz="3600" spc="-1" dirty="0">
              <a:solidFill>
                <a:srgbClr val="262626"/>
              </a:solidFill>
              <a:latin typeface="Calibri Light"/>
            </a:endParaRPr>
          </a:p>
          <a:p>
            <a:pPr marL="548640" lvl="1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endParaRPr lang="pt-BR" sz="3200" spc="-1" dirty="0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45229BB-9B12-8DCD-F065-5B7CE5305553}"/>
              </a:ext>
            </a:extLst>
          </p:cNvPr>
          <p:cNvSpPr txBox="1"/>
          <p:nvPr/>
        </p:nvSpPr>
        <p:spPr>
          <a:xfrm>
            <a:off x="762000" y="3072302"/>
            <a:ext cx="10667640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Link 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1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"next/link"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pt-BR" sz="11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Suspense } </a:t>
            </a:r>
            <a:r>
              <a:rPr lang="pt-BR" sz="11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1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11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react</a:t>
            </a:r>
            <a:r>
              <a:rPr lang="pt-BR" sz="11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pt-BR" sz="11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1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async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1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Componente() {</a:t>
            </a:r>
          </a:p>
          <a:p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await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1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Promise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(r =&gt; </a:t>
            </a:r>
            <a:r>
              <a:rPr lang="en-US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setTimeout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(r, 2000));</a:t>
            </a:r>
          </a:p>
          <a:p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1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</a:p>
          <a:p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1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11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Olá mundo</a:t>
            </a:r>
            <a:r>
              <a:rPr lang="pt-BR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1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1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)</a:t>
            </a:r>
          </a:p>
          <a:p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  <a:p>
            <a:endParaRPr lang="pt-BR" sz="11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default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async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Home() {</a:t>
            </a:r>
          </a:p>
          <a:p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1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</a:p>
          <a:p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&lt;&gt;</a:t>
            </a:r>
            <a:endParaRPr lang="pt-BR" sz="11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1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1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Suspense</a:t>
            </a:r>
            <a:r>
              <a:rPr lang="pt-BR" sz="11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1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fallback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</a:t>
            </a:r>
            <a:r>
              <a:rPr lang="pt-BR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1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11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Carregando ... </a:t>
            </a:r>
            <a:r>
              <a:rPr lang="pt-BR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1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1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1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1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Componente</a:t>
            </a:r>
            <a:r>
              <a:rPr lang="pt-BR" sz="11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/&gt;</a:t>
            </a:r>
            <a:endParaRPr lang="pt-BR" sz="11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1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1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Suspense</a:t>
            </a:r>
            <a:r>
              <a:rPr lang="pt-BR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1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pt-BR" sz="11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1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1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Link</a:t>
            </a:r>
            <a:r>
              <a:rPr lang="pt-BR" sz="11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1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href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11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"/sobre"</a:t>
            </a:r>
            <a:r>
              <a:rPr lang="pt-BR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11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Sobre mim</a:t>
            </a:r>
            <a:r>
              <a:rPr lang="pt-BR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&lt;/Link&gt;</a:t>
            </a:r>
            <a:endParaRPr lang="pt-BR" sz="11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1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1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Link</a:t>
            </a:r>
            <a:r>
              <a:rPr lang="pt-BR" sz="11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1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href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11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"/exemplo"</a:t>
            </a:r>
            <a:r>
              <a:rPr lang="pt-BR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11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Exemplo</a:t>
            </a:r>
            <a:r>
              <a:rPr lang="pt-BR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1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Link</a:t>
            </a:r>
            <a:r>
              <a:rPr lang="pt-BR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1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1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&lt;/&gt;</a:t>
            </a:r>
            <a:endParaRPr lang="pt-BR" sz="11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)</a:t>
            </a:r>
          </a:p>
          <a:p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sz="1100" dirty="0"/>
          </a:p>
        </p:txBody>
      </p:sp>
    </p:spTree>
    <p:extLst>
      <p:ext uri="{BB962C8B-B14F-4D97-AF65-F5344CB8AC3E}">
        <p14:creationId xmlns:p14="http://schemas.microsoft.com/office/powerpoint/2010/main" val="31797583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Páginas e roteamento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676800" y="2011679"/>
            <a:ext cx="10753200" cy="4777047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3600" strike="noStrike" spc="-1" dirty="0">
                <a:solidFill>
                  <a:srgbClr val="262626"/>
                </a:solidFill>
                <a:latin typeface="Calibri Light"/>
              </a:rPr>
              <a:t>Para obter um valor informado pela rota, crie uma pasta com o nome do parâmetro entre 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colchetes;</a:t>
            </a: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Atualize </a:t>
            </a:r>
            <a:r>
              <a:rPr lang="pt-BR" sz="3600" b="1" spc="-1" dirty="0">
                <a:solidFill>
                  <a:srgbClr val="262626"/>
                </a:solidFill>
                <a:latin typeface="Calibri Light"/>
              </a:rPr>
              <a:t>app/page.js:</a:t>
            </a:r>
            <a:endParaRPr lang="pt-BR" sz="3600" spc="-1" dirty="0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endParaRPr lang="pt-BR" sz="2800" b="1" strike="noStrike" spc="-1" dirty="0">
              <a:solidFill>
                <a:srgbClr val="262626"/>
              </a:solidFill>
              <a:latin typeface="Calibri Light"/>
            </a:endParaRPr>
          </a:p>
          <a:p>
            <a:pPr marL="457200" lvl="1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endParaRPr lang="pt-BR" sz="3200" strike="noStrike" spc="-1" dirty="0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endParaRPr lang="pt-BR" sz="3600" spc="-1" dirty="0">
              <a:solidFill>
                <a:srgbClr val="262626"/>
              </a:solidFill>
              <a:latin typeface="Calibri Light"/>
            </a:endParaRPr>
          </a:p>
          <a:p>
            <a:pPr marL="548640" lvl="1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endParaRPr lang="pt-BR" sz="3200" spc="-1" dirty="0">
              <a:solidFill>
                <a:srgbClr val="262626"/>
              </a:solidFill>
              <a:latin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14289523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Páginas e roteamento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676800" y="2011679"/>
            <a:ext cx="10753200" cy="4777047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endParaRPr lang="pt-BR" sz="3600" strike="noStrike" spc="-1" dirty="0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endParaRPr lang="pt-BR" sz="3600" spc="-1" dirty="0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endParaRPr lang="pt-BR" sz="3600" strike="noStrike" spc="-1" dirty="0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endParaRPr lang="pt-BR" sz="3600" strike="noStrike" spc="-1" dirty="0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endParaRPr lang="pt-BR" sz="3600" spc="-1" dirty="0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endParaRPr lang="pt-BR" sz="3600" strike="noStrike" spc="-1" dirty="0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3600" strike="noStrike" spc="-1" dirty="0">
                <a:solidFill>
                  <a:srgbClr val="262626"/>
                </a:solidFill>
                <a:latin typeface="Calibri Light"/>
              </a:rPr>
              <a:t>Crie a pasta </a:t>
            </a:r>
            <a:r>
              <a:rPr lang="pt-BR" sz="3600" b="1" strike="noStrike" spc="-1" dirty="0">
                <a:solidFill>
                  <a:srgbClr val="262626"/>
                </a:solidFill>
                <a:latin typeface="Calibri Light"/>
              </a:rPr>
              <a:t>app/</a:t>
            </a:r>
            <a:r>
              <a:rPr lang="pt-BR" sz="3600" b="1" strike="noStrike" spc="-1" dirty="0" err="1">
                <a:solidFill>
                  <a:srgbClr val="262626"/>
                </a:solidFill>
                <a:latin typeface="Calibri Light"/>
              </a:rPr>
              <a:t>usuario</a:t>
            </a:r>
            <a:r>
              <a:rPr lang="pt-BR" sz="3600" strike="noStrike" spc="-1" dirty="0">
                <a:solidFill>
                  <a:srgbClr val="262626"/>
                </a:solidFill>
                <a:latin typeface="Calibri Light"/>
              </a:rPr>
              <a:t>, com o arquivo </a:t>
            </a:r>
            <a:r>
              <a:rPr lang="pt-BR" sz="3600" b="1" strike="noStrike" spc="-1" dirty="0">
                <a:solidFill>
                  <a:srgbClr val="262626"/>
                </a:solidFill>
                <a:latin typeface="Calibri Light"/>
              </a:rPr>
              <a:t>page.js</a:t>
            </a:r>
            <a:r>
              <a:rPr lang="pt-BR" sz="3600" strike="noStrike" spc="-1" dirty="0">
                <a:solidFill>
                  <a:srgbClr val="262626"/>
                </a:solidFill>
                <a:latin typeface="Calibri Light"/>
              </a:rPr>
              <a:t>:</a:t>
            </a:r>
            <a:endParaRPr lang="pt-BR" sz="3600" spc="-1" dirty="0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endParaRPr lang="pt-BR" sz="2800" b="1" strike="noStrike" spc="-1" dirty="0">
              <a:solidFill>
                <a:srgbClr val="262626"/>
              </a:solidFill>
              <a:latin typeface="Calibri Light"/>
            </a:endParaRPr>
          </a:p>
          <a:p>
            <a:pPr marL="457200" lvl="1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endParaRPr lang="pt-BR" sz="3200" strike="noStrike" spc="-1" dirty="0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endParaRPr lang="pt-BR" sz="3600" spc="-1" dirty="0">
              <a:solidFill>
                <a:srgbClr val="262626"/>
              </a:solidFill>
              <a:latin typeface="Calibri Light"/>
            </a:endParaRPr>
          </a:p>
          <a:p>
            <a:pPr marL="548640" lvl="1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endParaRPr lang="pt-BR" sz="3200" spc="-1" dirty="0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0434CD2-481A-6059-9B6A-08160E8A11C0}"/>
              </a:ext>
            </a:extLst>
          </p:cNvPr>
          <p:cNvSpPr txBox="1"/>
          <p:nvPr/>
        </p:nvSpPr>
        <p:spPr>
          <a:xfrm>
            <a:off x="676800" y="1822819"/>
            <a:ext cx="10388364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Link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"next/link"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pt-BR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default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Home() {</a:t>
            </a:r>
          </a:p>
          <a:p>
            <a:endParaRPr lang="pt-BR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&lt;&gt;</a:t>
            </a:r>
            <a:endParaRPr lang="pt-BR" sz="1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1800" dirty="0" err="1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Hello</a:t>
            </a:r>
            <a:r>
              <a:rPr lang="pt-BR" sz="1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world!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8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Link</a:t>
            </a:r>
            <a:r>
              <a:rPr lang="pt-BR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href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"sobre"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1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Sobre mim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8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Link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8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Link</a:t>
            </a:r>
            <a:r>
              <a:rPr lang="pt-BR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href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"teste"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1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Exemplo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8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Link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8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Link</a:t>
            </a:r>
            <a:r>
              <a:rPr lang="pt-BR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href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18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usuario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1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Usuários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8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Link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&lt;/&gt;</a:t>
            </a:r>
            <a:endParaRPr lang="pt-BR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)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128420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1046985-5DEF-5F88-1834-ECF68082A4F3}"/>
              </a:ext>
            </a:extLst>
          </p:cNvPr>
          <p:cNvSpPr txBox="1"/>
          <p:nvPr/>
        </p:nvSpPr>
        <p:spPr>
          <a:xfrm>
            <a:off x="480290" y="117693"/>
            <a:ext cx="10991273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Link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"next/link"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pt-BR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default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Usuarios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 {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&lt;&gt;</a:t>
            </a:r>
            <a:endParaRPr lang="pt-BR" sz="1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8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1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Lista de usuários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8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8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Link</a:t>
            </a:r>
            <a:r>
              <a:rPr lang="pt-BR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href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"/</a:t>
            </a:r>
            <a:r>
              <a:rPr lang="pt-BR" sz="18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usuario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/1"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1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Usuário 1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8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Link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8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8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8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Link</a:t>
            </a:r>
            <a:r>
              <a:rPr lang="pt-BR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href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"/</a:t>
            </a:r>
            <a:r>
              <a:rPr lang="pt-BR" sz="18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usuario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/2"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1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Usuário 2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8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Link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8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8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8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Link</a:t>
            </a:r>
            <a:r>
              <a:rPr lang="pt-BR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href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"/</a:t>
            </a:r>
            <a:r>
              <a:rPr lang="pt-BR" sz="18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usuario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/3"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1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Usuário 3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8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Link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8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8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8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Link</a:t>
            </a:r>
            <a:r>
              <a:rPr lang="pt-BR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href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"/</a:t>
            </a:r>
            <a:r>
              <a:rPr lang="pt-BR" sz="18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usuario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/4"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1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Usuário 4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8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Link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8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8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8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Link</a:t>
            </a:r>
            <a:r>
              <a:rPr lang="pt-BR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href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"/"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1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Voltar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8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Link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&lt;/&gt;</a:t>
            </a:r>
            <a:endParaRPr lang="pt-BR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)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978590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Páginas e roteamento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676800" y="2011679"/>
            <a:ext cx="10753200" cy="4777047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3600" strike="noStrike" spc="-1" dirty="0">
                <a:solidFill>
                  <a:srgbClr val="262626"/>
                </a:solidFill>
                <a:latin typeface="Calibri Light"/>
              </a:rPr>
              <a:t>Perceba que queremos navegar para uma página que recebe um parâmetro após o seu endereço;</a:t>
            </a: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Dentro de </a:t>
            </a:r>
            <a:r>
              <a:rPr lang="pt-BR" sz="3600" b="1" spc="-1" dirty="0">
                <a:solidFill>
                  <a:srgbClr val="262626"/>
                </a:solidFill>
                <a:latin typeface="Calibri Light"/>
              </a:rPr>
              <a:t>app/</a:t>
            </a:r>
            <a:r>
              <a:rPr lang="pt-BR" sz="3600" b="1" spc="-1" dirty="0" err="1">
                <a:solidFill>
                  <a:srgbClr val="262626"/>
                </a:solidFill>
                <a:latin typeface="Calibri Light"/>
              </a:rPr>
              <a:t>usuario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, crie a pasta </a:t>
            </a:r>
            <a:r>
              <a:rPr lang="pt-BR" sz="3600" b="1" spc="-1" dirty="0">
                <a:solidFill>
                  <a:srgbClr val="262626"/>
                </a:solidFill>
                <a:latin typeface="Calibri Light"/>
              </a:rPr>
              <a:t>[id]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;</a:t>
            </a: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O nome </a:t>
            </a:r>
            <a:r>
              <a:rPr lang="pt-BR" sz="3600" b="1" spc="-1" dirty="0">
                <a:solidFill>
                  <a:srgbClr val="262626"/>
                </a:solidFill>
                <a:latin typeface="Calibri Light"/>
              </a:rPr>
              <a:t>id 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entre colchetes indica que as páginas dentro desta pasta conseguirão ler o argumento passado pela URL com o nome </a:t>
            </a:r>
            <a:r>
              <a:rPr lang="pt-BR" sz="3600" b="1" spc="-1" dirty="0">
                <a:solidFill>
                  <a:srgbClr val="262626"/>
                </a:solidFill>
                <a:latin typeface="Calibri Light"/>
              </a:rPr>
              <a:t>id.</a:t>
            </a:r>
            <a:endParaRPr lang="pt-BR" sz="3600" spc="-1" dirty="0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endParaRPr lang="pt-BR" sz="2800" b="1" strike="noStrike" spc="-1" dirty="0">
              <a:solidFill>
                <a:srgbClr val="262626"/>
              </a:solidFill>
              <a:latin typeface="Calibri Light"/>
            </a:endParaRPr>
          </a:p>
          <a:p>
            <a:pPr marL="457200" lvl="1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endParaRPr lang="pt-BR" sz="3200" strike="noStrike" spc="-1" dirty="0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endParaRPr lang="pt-BR" sz="3600" spc="-1" dirty="0">
              <a:solidFill>
                <a:srgbClr val="262626"/>
              </a:solidFill>
              <a:latin typeface="Calibri Light"/>
            </a:endParaRPr>
          </a:p>
          <a:p>
            <a:pPr marL="548640" lvl="1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endParaRPr lang="pt-BR" sz="3200" spc="-1" dirty="0">
              <a:solidFill>
                <a:srgbClr val="262626"/>
              </a:solidFill>
              <a:latin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1696873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Páginas e roteamento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676800" y="2011679"/>
            <a:ext cx="10753200" cy="4777047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3600" strike="noStrike" spc="-1" dirty="0">
                <a:solidFill>
                  <a:srgbClr val="262626"/>
                </a:solidFill>
                <a:latin typeface="Calibri Light"/>
              </a:rPr>
              <a:t>Crie o arquivo </a:t>
            </a:r>
            <a:r>
              <a:rPr lang="pt-BR" sz="3600" b="1" strike="noStrike" spc="-1" dirty="0">
                <a:solidFill>
                  <a:srgbClr val="262626"/>
                </a:solidFill>
                <a:latin typeface="Calibri Light"/>
              </a:rPr>
              <a:t>page</a:t>
            </a:r>
            <a:r>
              <a:rPr lang="pt-BR" sz="3600" strike="noStrike" spc="-1" dirty="0">
                <a:solidFill>
                  <a:srgbClr val="262626"/>
                </a:solidFill>
                <a:latin typeface="Calibri Light"/>
              </a:rPr>
              <a:t>.</a:t>
            </a:r>
            <a:r>
              <a:rPr lang="pt-BR" sz="3600" b="1" strike="noStrike" spc="-1" dirty="0">
                <a:solidFill>
                  <a:srgbClr val="262626"/>
                </a:solidFill>
                <a:latin typeface="Calibri Light"/>
              </a:rPr>
              <a:t>js </a:t>
            </a:r>
            <a:r>
              <a:rPr lang="pt-BR" sz="3600" strike="noStrike" spc="-1" dirty="0">
                <a:solidFill>
                  <a:srgbClr val="262626"/>
                </a:solidFill>
                <a:latin typeface="Calibri Light"/>
              </a:rPr>
              <a:t>dentro de </a:t>
            </a:r>
            <a:r>
              <a:rPr lang="pt-BR" sz="3600" b="1" strike="noStrike" spc="-1" dirty="0">
                <a:solidFill>
                  <a:srgbClr val="262626"/>
                </a:solidFill>
                <a:latin typeface="Calibri Light"/>
              </a:rPr>
              <a:t>app/</a:t>
            </a:r>
            <a:r>
              <a:rPr lang="pt-BR" sz="3600" b="1" strike="noStrike" spc="-1" dirty="0" err="1">
                <a:solidFill>
                  <a:srgbClr val="262626"/>
                </a:solidFill>
                <a:latin typeface="Calibri Light"/>
              </a:rPr>
              <a:t>usuario</a:t>
            </a:r>
            <a:r>
              <a:rPr lang="pt-BR" sz="3600" b="1" strike="noStrike" spc="-1" dirty="0">
                <a:solidFill>
                  <a:srgbClr val="262626"/>
                </a:solidFill>
                <a:latin typeface="Calibri Light"/>
              </a:rPr>
              <a:t>/[id]</a:t>
            </a:r>
            <a:r>
              <a:rPr lang="pt-BR" sz="3600" strike="noStrike" spc="-1" dirty="0">
                <a:solidFill>
                  <a:srgbClr val="262626"/>
                </a:solidFill>
                <a:latin typeface="Calibri Light"/>
              </a:rPr>
              <a:t>:</a:t>
            </a:r>
            <a:endParaRPr lang="pt-BR" sz="3600" spc="-1" dirty="0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endParaRPr lang="pt-BR" sz="2800" b="1" strike="noStrike" spc="-1" dirty="0">
              <a:solidFill>
                <a:srgbClr val="262626"/>
              </a:solidFill>
              <a:latin typeface="Calibri Light"/>
            </a:endParaRPr>
          </a:p>
          <a:p>
            <a:pPr marL="457200" lvl="1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endParaRPr lang="pt-BR" sz="3200" strike="noStrike" spc="-1" dirty="0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endParaRPr lang="pt-BR" sz="3600" spc="-1" dirty="0">
              <a:solidFill>
                <a:srgbClr val="262626"/>
              </a:solidFill>
              <a:latin typeface="Calibri Light"/>
            </a:endParaRPr>
          </a:p>
          <a:p>
            <a:pPr marL="548640" lvl="1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endParaRPr lang="pt-BR" sz="3200" spc="-1" dirty="0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E7E2F41-42B7-4C41-ACA8-EE7D8C2A8B2F}"/>
              </a:ext>
            </a:extLst>
          </p:cNvPr>
          <p:cNvSpPr txBox="1"/>
          <p:nvPr/>
        </p:nvSpPr>
        <p:spPr>
          <a:xfrm>
            <a:off x="762000" y="2703016"/>
            <a:ext cx="9827491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Link 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0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"next/link"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pt-BR" sz="2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default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async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Usuario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({ </a:t>
            </a:r>
            <a:r>
              <a:rPr lang="pt-BR" sz="2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params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}) {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id } = </a:t>
            </a:r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await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params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&lt;&gt;</a:t>
            </a:r>
            <a:endParaRPr lang="pt-BR" sz="20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0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20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20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Eu sou o aluno com o id: 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{id}</a:t>
            </a:r>
            <a:r>
              <a:rPr lang="pt-BR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20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20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0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20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Link</a:t>
            </a:r>
            <a:r>
              <a:rPr lang="pt-BR" sz="20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0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href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20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"/</a:t>
            </a:r>
            <a:r>
              <a:rPr lang="pt-BR" sz="20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usuario</a:t>
            </a:r>
            <a:r>
              <a:rPr lang="pt-BR" sz="20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20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Voltar</a:t>
            </a:r>
            <a:r>
              <a:rPr lang="pt-BR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20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Link</a:t>
            </a:r>
            <a:r>
              <a:rPr lang="pt-BR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20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0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&lt;/&gt;</a:t>
            </a:r>
            <a:endParaRPr lang="pt-BR" sz="2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)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347264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Páginas e roteamento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676800" y="2011679"/>
            <a:ext cx="10753200" cy="4777047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3600" strike="noStrike" spc="-1" dirty="0">
                <a:solidFill>
                  <a:srgbClr val="262626"/>
                </a:solidFill>
                <a:latin typeface="Calibri Light"/>
              </a:rPr>
              <a:t>Para obter atributos informados pela rota, como em </a:t>
            </a:r>
            <a:r>
              <a:rPr lang="pt-BR" sz="3600" b="1" strike="noStrike" spc="-1" dirty="0">
                <a:solidFill>
                  <a:srgbClr val="262626"/>
                </a:solidFill>
                <a:latin typeface="Calibri Light"/>
              </a:rPr>
              <a:t>http://meusite.com?nome=tiago</a:t>
            </a:r>
            <a:r>
              <a:rPr lang="pt-BR" sz="3600" strike="noStrike" spc="-1" dirty="0">
                <a:solidFill>
                  <a:srgbClr val="262626"/>
                </a:solidFill>
                <a:latin typeface="Calibri Light"/>
              </a:rPr>
              <a:t>, por exemplo, adicione o atributo </a:t>
            </a:r>
            <a:r>
              <a:rPr lang="pt-BR" sz="3600" b="1" strike="noStrike" spc="-1" dirty="0" err="1">
                <a:solidFill>
                  <a:srgbClr val="262626"/>
                </a:solidFill>
                <a:latin typeface="Calibri Light"/>
              </a:rPr>
              <a:t>searchParams</a:t>
            </a:r>
            <a:r>
              <a:rPr lang="pt-BR" sz="3600" strike="noStrike" spc="-1" dirty="0">
                <a:solidFill>
                  <a:srgbClr val="262626"/>
                </a:solidFill>
                <a:latin typeface="Calibri Light"/>
              </a:rPr>
              <a:t> no objeto recebido como parâmetro pela função.</a:t>
            </a:r>
            <a:endParaRPr lang="pt-BR" sz="2800" strike="noStrike" spc="-1" dirty="0">
              <a:solidFill>
                <a:srgbClr val="262626"/>
              </a:solidFill>
              <a:latin typeface="Calibri Light"/>
            </a:endParaRPr>
          </a:p>
          <a:p>
            <a:pPr marL="457200" lvl="1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endParaRPr lang="pt-BR" sz="3200" strike="noStrike" spc="-1" dirty="0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endParaRPr lang="pt-BR" sz="3600" spc="-1" dirty="0">
              <a:solidFill>
                <a:srgbClr val="262626"/>
              </a:solidFill>
              <a:latin typeface="Calibri Light"/>
            </a:endParaRPr>
          </a:p>
          <a:p>
            <a:pPr marL="548640" lvl="1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endParaRPr lang="pt-BR" sz="3200" spc="-1" dirty="0">
              <a:solidFill>
                <a:srgbClr val="262626"/>
              </a:solidFill>
              <a:latin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2438638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Páginas e roteamento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676800" y="2011679"/>
            <a:ext cx="10753200" cy="4777047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3600" strike="noStrike" spc="-1" dirty="0">
                <a:solidFill>
                  <a:srgbClr val="262626"/>
                </a:solidFill>
                <a:latin typeface="Calibri Light"/>
              </a:rPr>
              <a:t>Atualize o arquivo </a:t>
            </a:r>
            <a:r>
              <a:rPr lang="pt-BR" sz="3600" b="1" strike="noStrike" spc="-1" dirty="0">
                <a:solidFill>
                  <a:srgbClr val="262626"/>
                </a:solidFill>
                <a:latin typeface="Calibri Light"/>
              </a:rPr>
              <a:t>page</a:t>
            </a:r>
            <a:r>
              <a:rPr lang="pt-BR" sz="3600" strike="noStrike" spc="-1" dirty="0">
                <a:solidFill>
                  <a:srgbClr val="262626"/>
                </a:solidFill>
                <a:latin typeface="Calibri Light"/>
              </a:rPr>
              <a:t>.</a:t>
            </a:r>
            <a:r>
              <a:rPr lang="pt-BR" sz="3600" b="1" strike="noStrike" spc="-1" dirty="0">
                <a:solidFill>
                  <a:srgbClr val="262626"/>
                </a:solidFill>
                <a:latin typeface="Calibri Light"/>
              </a:rPr>
              <a:t>js </a:t>
            </a:r>
            <a:r>
              <a:rPr lang="pt-BR" sz="3600" strike="noStrike" spc="-1" dirty="0">
                <a:solidFill>
                  <a:srgbClr val="262626"/>
                </a:solidFill>
                <a:latin typeface="Calibri Light"/>
              </a:rPr>
              <a:t>dentro de </a:t>
            </a:r>
            <a:r>
              <a:rPr lang="pt-BR" sz="3600" b="1" strike="noStrike" spc="-1" dirty="0">
                <a:solidFill>
                  <a:srgbClr val="262626"/>
                </a:solidFill>
                <a:latin typeface="Calibri Light"/>
              </a:rPr>
              <a:t>app/</a:t>
            </a:r>
            <a:r>
              <a:rPr lang="pt-BR" sz="3600" b="1" strike="noStrike" spc="-1" dirty="0" err="1">
                <a:solidFill>
                  <a:srgbClr val="262626"/>
                </a:solidFill>
                <a:latin typeface="Calibri Light"/>
              </a:rPr>
              <a:t>usuario</a:t>
            </a:r>
            <a:r>
              <a:rPr lang="pt-BR" sz="3600" b="1" strike="noStrike" spc="-1" dirty="0">
                <a:solidFill>
                  <a:srgbClr val="262626"/>
                </a:solidFill>
                <a:latin typeface="Calibri Light"/>
              </a:rPr>
              <a:t>/[id]</a:t>
            </a:r>
            <a:r>
              <a:rPr lang="pt-BR" sz="3600" strike="noStrike" spc="-1" dirty="0">
                <a:solidFill>
                  <a:srgbClr val="262626"/>
                </a:solidFill>
                <a:latin typeface="Calibri Light"/>
              </a:rPr>
              <a:t>:</a:t>
            </a:r>
            <a:endParaRPr lang="pt-BR" sz="3600" spc="-1" dirty="0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endParaRPr lang="pt-BR" sz="2800" b="1" strike="noStrike" spc="-1" dirty="0">
              <a:solidFill>
                <a:srgbClr val="262626"/>
              </a:solidFill>
              <a:latin typeface="Calibri Light"/>
            </a:endParaRPr>
          </a:p>
          <a:p>
            <a:pPr marL="457200" lvl="1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endParaRPr lang="pt-BR" sz="3200" strike="noStrike" spc="-1" dirty="0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endParaRPr lang="pt-BR" sz="3600" spc="-1" dirty="0">
              <a:solidFill>
                <a:srgbClr val="262626"/>
              </a:solidFill>
              <a:latin typeface="Calibri Light"/>
            </a:endParaRPr>
          </a:p>
          <a:p>
            <a:pPr marL="548640" lvl="1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endParaRPr lang="pt-BR" sz="3200" spc="-1" dirty="0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E7E2F41-42B7-4C41-ACA8-EE7D8C2A8B2F}"/>
              </a:ext>
            </a:extLst>
          </p:cNvPr>
          <p:cNvSpPr txBox="1"/>
          <p:nvPr/>
        </p:nvSpPr>
        <p:spPr>
          <a:xfrm>
            <a:off x="762000" y="2623029"/>
            <a:ext cx="10441709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Link 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0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"next/link"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pt-BR" sz="2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default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async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Usuario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({ </a:t>
            </a:r>
            <a:r>
              <a:rPr lang="pt-BR" sz="2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params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pt-BR" sz="2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searchParams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}) {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nome } = </a:t>
            </a:r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await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searchParams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id } = </a:t>
            </a:r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await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params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&lt;&gt;</a:t>
            </a:r>
            <a:endParaRPr lang="pt-BR" sz="20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0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20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20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Eu sou o aluno com o id: 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{id}</a:t>
            </a:r>
            <a:r>
              <a:rPr lang="pt-BR" sz="20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 Meu nome é: 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{nome}</a:t>
            </a:r>
            <a:r>
              <a:rPr lang="pt-BR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20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20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0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20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Link</a:t>
            </a:r>
            <a:r>
              <a:rPr lang="pt-BR" sz="20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0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href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20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"/</a:t>
            </a:r>
            <a:r>
              <a:rPr lang="pt-BR" sz="20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usuario</a:t>
            </a:r>
            <a:r>
              <a:rPr lang="pt-BR" sz="20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20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Voltar</a:t>
            </a:r>
            <a:r>
              <a:rPr lang="pt-BR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20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Link</a:t>
            </a:r>
            <a:r>
              <a:rPr lang="pt-BR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20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0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&lt;/&gt;</a:t>
            </a:r>
            <a:endParaRPr lang="pt-BR" sz="2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)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686092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Páginas e roteamento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676800" y="2011679"/>
            <a:ext cx="10753200" cy="4777047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3600" strike="noStrike" spc="-1" dirty="0">
                <a:solidFill>
                  <a:srgbClr val="262626"/>
                </a:solidFill>
                <a:latin typeface="Calibri Light"/>
              </a:rPr>
              <a:t>Atualize o arquivo </a:t>
            </a:r>
            <a:r>
              <a:rPr lang="pt-BR" sz="3600" b="1" strike="noStrike" spc="-1" dirty="0">
                <a:solidFill>
                  <a:srgbClr val="262626"/>
                </a:solidFill>
                <a:latin typeface="Calibri Light"/>
              </a:rPr>
              <a:t>page</a:t>
            </a:r>
            <a:r>
              <a:rPr lang="pt-BR" sz="3600" strike="noStrike" spc="-1" dirty="0">
                <a:solidFill>
                  <a:srgbClr val="262626"/>
                </a:solidFill>
                <a:latin typeface="Calibri Light"/>
              </a:rPr>
              <a:t>.</a:t>
            </a:r>
            <a:r>
              <a:rPr lang="pt-BR" sz="3600" b="1" strike="noStrike" spc="-1" dirty="0">
                <a:solidFill>
                  <a:srgbClr val="262626"/>
                </a:solidFill>
                <a:latin typeface="Calibri Light"/>
              </a:rPr>
              <a:t>js </a:t>
            </a:r>
            <a:r>
              <a:rPr lang="pt-BR" sz="3600" strike="noStrike" spc="-1" dirty="0">
                <a:solidFill>
                  <a:srgbClr val="262626"/>
                </a:solidFill>
                <a:latin typeface="Calibri Light"/>
              </a:rPr>
              <a:t>dentro de </a:t>
            </a:r>
            <a:r>
              <a:rPr lang="pt-BR" sz="3600" b="1" strike="noStrike" spc="-1" dirty="0">
                <a:solidFill>
                  <a:srgbClr val="262626"/>
                </a:solidFill>
                <a:latin typeface="Calibri Light"/>
              </a:rPr>
              <a:t>app/</a:t>
            </a:r>
            <a:r>
              <a:rPr lang="pt-BR" sz="3600" b="1" strike="noStrike" spc="-1" dirty="0" err="1">
                <a:solidFill>
                  <a:srgbClr val="262626"/>
                </a:solidFill>
                <a:latin typeface="Calibri Light"/>
              </a:rPr>
              <a:t>usuario</a:t>
            </a:r>
            <a:r>
              <a:rPr lang="pt-BR" sz="3600" b="1" strike="noStrike" spc="-1" dirty="0">
                <a:solidFill>
                  <a:srgbClr val="262626"/>
                </a:solidFill>
                <a:latin typeface="Calibri Light"/>
              </a:rPr>
              <a:t>:</a:t>
            </a:r>
            <a:endParaRPr lang="pt-BR" sz="3600" spc="-1" dirty="0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endParaRPr lang="pt-BR" sz="2800" b="1" strike="noStrike" spc="-1" dirty="0">
              <a:solidFill>
                <a:srgbClr val="262626"/>
              </a:solidFill>
              <a:latin typeface="Calibri Light"/>
            </a:endParaRPr>
          </a:p>
          <a:p>
            <a:pPr marL="457200" lvl="1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endParaRPr lang="pt-BR" sz="3200" strike="noStrike" spc="-1" dirty="0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endParaRPr lang="pt-BR" sz="3600" spc="-1" dirty="0">
              <a:solidFill>
                <a:srgbClr val="262626"/>
              </a:solidFill>
              <a:latin typeface="Calibri Light"/>
            </a:endParaRPr>
          </a:p>
          <a:p>
            <a:pPr marL="548640" lvl="1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endParaRPr lang="pt-BR" sz="3200" spc="-1" dirty="0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E7E2F41-42B7-4C41-ACA8-EE7D8C2A8B2F}"/>
              </a:ext>
            </a:extLst>
          </p:cNvPr>
          <p:cNvSpPr txBox="1"/>
          <p:nvPr/>
        </p:nvSpPr>
        <p:spPr>
          <a:xfrm>
            <a:off x="762000" y="2623029"/>
            <a:ext cx="10441709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Link 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1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"next/link"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pt-BR" sz="11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1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default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1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Usuarios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 {</a:t>
            </a:r>
          </a:p>
          <a:p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1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</a:p>
          <a:p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&lt;&gt;</a:t>
            </a:r>
            <a:endParaRPr lang="pt-BR" sz="11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1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1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1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1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1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11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Lista de usuários</a:t>
            </a:r>
            <a:r>
              <a:rPr lang="pt-BR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1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1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1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1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1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1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1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Link</a:t>
            </a:r>
            <a:r>
              <a:rPr lang="pt-BR" sz="11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1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href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11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"/</a:t>
            </a:r>
            <a:r>
              <a:rPr lang="pt-BR" sz="11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usuario</a:t>
            </a:r>
            <a:r>
              <a:rPr lang="pt-BR" sz="11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/1?nome=Usuário 1"</a:t>
            </a:r>
            <a:r>
              <a:rPr lang="pt-BR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11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Usuário 1</a:t>
            </a:r>
            <a:r>
              <a:rPr lang="pt-BR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1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Link</a:t>
            </a:r>
            <a:r>
              <a:rPr lang="pt-BR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1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1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1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1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1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1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1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1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1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Link</a:t>
            </a:r>
            <a:r>
              <a:rPr lang="pt-BR" sz="11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1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href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11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"/</a:t>
            </a:r>
            <a:r>
              <a:rPr lang="pt-BR" sz="11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usuario</a:t>
            </a:r>
            <a:r>
              <a:rPr lang="pt-BR" sz="11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/2?nome=Usuário 2"</a:t>
            </a:r>
            <a:r>
              <a:rPr lang="pt-BR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11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Usuário 2</a:t>
            </a:r>
            <a:r>
              <a:rPr lang="pt-BR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1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Link</a:t>
            </a:r>
            <a:r>
              <a:rPr lang="pt-BR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1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1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1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1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1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1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1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1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1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Link</a:t>
            </a:r>
            <a:r>
              <a:rPr lang="pt-BR" sz="11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1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href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11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"/</a:t>
            </a:r>
            <a:r>
              <a:rPr lang="pt-BR" sz="11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usuario</a:t>
            </a:r>
            <a:r>
              <a:rPr lang="pt-BR" sz="11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/3?nome=Usuário 3"</a:t>
            </a:r>
            <a:r>
              <a:rPr lang="pt-BR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11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Usuário 3</a:t>
            </a:r>
            <a:r>
              <a:rPr lang="pt-BR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1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Link</a:t>
            </a:r>
            <a:r>
              <a:rPr lang="pt-BR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1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1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1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1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1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1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1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1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1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Link</a:t>
            </a:r>
            <a:r>
              <a:rPr lang="pt-BR" sz="11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1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href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11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"/</a:t>
            </a:r>
            <a:r>
              <a:rPr lang="pt-BR" sz="11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usuario</a:t>
            </a:r>
            <a:r>
              <a:rPr lang="pt-BR" sz="11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/4?nome=Usuário 4"</a:t>
            </a:r>
            <a:r>
              <a:rPr lang="pt-BR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11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Usuário 4</a:t>
            </a:r>
            <a:r>
              <a:rPr lang="pt-BR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1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Link</a:t>
            </a:r>
            <a:r>
              <a:rPr lang="pt-BR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1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1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1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1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1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1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1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1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1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Link</a:t>
            </a:r>
            <a:r>
              <a:rPr lang="pt-BR" sz="11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1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href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11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"/"</a:t>
            </a:r>
            <a:r>
              <a:rPr lang="pt-BR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11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Voltar</a:t>
            </a:r>
            <a:r>
              <a:rPr lang="pt-BR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1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Link</a:t>
            </a:r>
            <a:r>
              <a:rPr lang="pt-BR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1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1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&lt;/&gt;</a:t>
            </a:r>
            <a:endParaRPr lang="pt-BR" sz="11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)</a:t>
            </a:r>
          </a:p>
          <a:p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435275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Páginas e roteamento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676800" y="2011679"/>
            <a:ext cx="10753200" cy="4777047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3600" strike="noStrike" spc="-1" dirty="0">
                <a:solidFill>
                  <a:srgbClr val="262626"/>
                </a:solidFill>
                <a:latin typeface="Calibri Light"/>
              </a:rPr>
              <a:t>Para alterar a página exibida quando uma rota não é atingida, crie o arquivo </a:t>
            </a:r>
            <a:r>
              <a:rPr lang="pt-BR" sz="3600" b="1" strike="noStrike" spc="-1" dirty="0">
                <a:solidFill>
                  <a:srgbClr val="262626"/>
                </a:solidFill>
                <a:latin typeface="Calibri Light"/>
              </a:rPr>
              <a:t>app/not-found.js</a:t>
            </a:r>
            <a:r>
              <a:rPr lang="pt-BR" sz="3600" strike="noStrike" spc="-1" dirty="0">
                <a:solidFill>
                  <a:srgbClr val="262626"/>
                </a:solidFill>
                <a:latin typeface="Calibri Light"/>
              </a:rPr>
              <a:t>.</a:t>
            </a:r>
            <a:endParaRPr lang="pt-BR" sz="2800" b="1" strike="noStrike" spc="-1" dirty="0">
              <a:solidFill>
                <a:srgbClr val="262626"/>
              </a:solidFill>
              <a:latin typeface="Calibri Light"/>
            </a:endParaRPr>
          </a:p>
          <a:p>
            <a:pPr marL="457200" lvl="1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endParaRPr lang="pt-BR" sz="3200" strike="noStrike" spc="-1" dirty="0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endParaRPr lang="pt-BR" sz="3600" spc="-1" dirty="0">
              <a:solidFill>
                <a:srgbClr val="262626"/>
              </a:solidFill>
              <a:latin typeface="Calibri Light"/>
            </a:endParaRPr>
          </a:p>
          <a:p>
            <a:pPr marL="548640" lvl="1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endParaRPr lang="pt-BR" sz="3200" spc="-1" dirty="0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38E9A45-E3DF-9774-0A66-55CC2E375D34}"/>
              </a:ext>
            </a:extLst>
          </p:cNvPr>
          <p:cNvSpPr txBox="1"/>
          <p:nvPr/>
        </p:nvSpPr>
        <p:spPr>
          <a:xfrm>
            <a:off x="831273" y="3429000"/>
            <a:ext cx="919018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default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NotFound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 {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&lt;&gt;</a:t>
            </a:r>
            <a:endParaRPr lang="pt-BR" sz="2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2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2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Não há nada aqui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2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2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&lt;/&gt;</a:t>
            </a:r>
            <a:endParaRPr lang="pt-BR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)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2254949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Exercício 1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676800" y="2011679"/>
            <a:ext cx="10753200" cy="4777047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3600" strike="noStrike" spc="-1" dirty="0">
                <a:solidFill>
                  <a:srgbClr val="262626"/>
                </a:solidFill>
                <a:latin typeface="Calibri Light"/>
              </a:rPr>
              <a:t>Crie um novo </a:t>
            </a:r>
            <a:r>
              <a:rPr lang="pt-BR" sz="3600" i="1" strike="noStrike" spc="-1" dirty="0">
                <a:solidFill>
                  <a:srgbClr val="262626"/>
                </a:solidFill>
                <a:latin typeface="Calibri Light"/>
              </a:rPr>
              <a:t>site </a:t>
            </a:r>
            <a:r>
              <a:rPr lang="pt-BR" sz="3600" strike="noStrike" spc="-1" dirty="0">
                <a:solidFill>
                  <a:srgbClr val="262626"/>
                </a:solidFill>
                <a:latin typeface="Calibri Light"/>
              </a:rPr>
              <a:t>com o Next.js;</a:t>
            </a: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Na página inicial, faça uma introdução sobre o seu curso, e permita o usuário navegar a uma página com os nomes dos seus amigos e amigas;</a:t>
            </a: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3600" strike="noStrike" spc="-1" dirty="0">
                <a:solidFill>
                  <a:srgbClr val="262626"/>
                </a:solidFill>
                <a:latin typeface="Calibri Light"/>
              </a:rPr>
              <a:t>Na página com os nomes dos amigos e amigas, mostre alguns dados básicos sobre eles, e permita ao usuário clicar em cada um, navegando a uma nova página exibindo mais detalhes sobre eles, como nome, apelido, telefone, etc.</a:t>
            </a:r>
            <a:endParaRPr lang="pt-BR" sz="2800" strike="noStrike" spc="-1" dirty="0">
              <a:solidFill>
                <a:srgbClr val="262626"/>
              </a:solidFill>
              <a:latin typeface="Calibri Light"/>
            </a:endParaRPr>
          </a:p>
          <a:p>
            <a:pPr marL="457200" lvl="1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endParaRPr lang="pt-BR" sz="3200" strike="noStrike" spc="-1" dirty="0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endParaRPr lang="pt-BR" sz="3600" spc="-1" dirty="0">
              <a:solidFill>
                <a:srgbClr val="262626"/>
              </a:solidFill>
              <a:latin typeface="Calibri Light"/>
            </a:endParaRPr>
          </a:p>
          <a:p>
            <a:pPr marL="548640" lvl="1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endParaRPr lang="pt-BR" sz="3200" spc="-1" dirty="0">
              <a:solidFill>
                <a:srgbClr val="262626"/>
              </a:solidFill>
              <a:latin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24136850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Exercício 1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676800" y="2011679"/>
            <a:ext cx="10753200" cy="4777047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3600" strike="noStrike" spc="-1" dirty="0">
                <a:solidFill>
                  <a:srgbClr val="262626"/>
                </a:solidFill>
                <a:latin typeface="Calibri Light"/>
              </a:rPr>
              <a:t>Todas as páginas (com exceção da inicial) devem permitir voltar para a tela anterior;</a:t>
            </a: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As páginas com os dados completos dos amigos devem possuir um texto padrão no seu início;</a:t>
            </a: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3600" strike="noStrike" spc="-1" dirty="0">
                <a:solidFill>
                  <a:srgbClr val="262626"/>
                </a:solidFill>
                <a:latin typeface="Calibri Light"/>
              </a:rPr>
              <a:t>Exiba uma página personalizada caso alguma rota visitada seja inválida.</a:t>
            </a:r>
            <a:endParaRPr lang="pt-BR" sz="2800" strike="noStrike" spc="-1" dirty="0">
              <a:solidFill>
                <a:srgbClr val="262626"/>
              </a:solidFill>
              <a:latin typeface="Calibri Light"/>
            </a:endParaRPr>
          </a:p>
          <a:p>
            <a:pPr marL="457200" lvl="1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endParaRPr lang="pt-BR" sz="3200" strike="noStrike" spc="-1" dirty="0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endParaRPr lang="pt-BR" sz="3600" spc="-1" dirty="0">
              <a:solidFill>
                <a:srgbClr val="262626"/>
              </a:solidFill>
              <a:latin typeface="Calibri Light"/>
            </a:endParaRPr>
          </a:p>
          <a:p>
            <a:pPr marL="548640" lvl="1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endParaRPr lang="pt-BR" sz="3200" spc="-1" dirty="0">
              <a:solidFill>
                <a:srgbClr val="262626"/>
              </a:solidFill>
              <a:latin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236465121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Exercício 2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676800" y="2011679"/>
            <a:ext cx="10753200" cy="4777047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3600" strike="noStrike" spc="-1" dirty="0">
                <a:solidFill>
                  <a:srgbClr val="262626"/>
                </a:solidFill>
                <a:latin typeface="Calibri Light"/>
              </a:rPr>
              <a:t>Crie uma página que receba um número e uma operaç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ão a ser efetuado com ele pela URL, no seguinte formato:</a:t>
            </a: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endParaRPr lang="pt-BR" sz="3600" strike="noStrike" spc="-1" dirty="0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As operações possíveis são “metade”, que calcula a metade do número, e “dobro”, que calcula o dobro do número;</a:t>
            </a: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3600" strike="noStrike" spc="-1" dirty="0">
                <a:solidFill>
                  <a:srgbClr val="262626"/>
                </a:solidFill>
                <a:latin typeface="Calibri Light"/>
              </a:rPr>
              <a:t>Caso a operação informada seja válida, mostrar o resultado na página.</a:t>
            </a: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endParaRPr lang="pt-BR" sz="2800" strike="noStrike" spc="-1" dirty="0">
              <a:solidFill>
                <a:srgbClr val="262626"/>
              </a:solidFill>
              <a:latin typeface="Calibri Light"/>
            </a:endParaRPr>
          </a:p>
          <a:p>
            <a:pPr marL="457200" lvl="1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endParaRPr lang="pt-BR" sz="3200" strike="noStrike" spc="-1" dirty="0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endParaRPr lang="pt-BR" sz="3600" spc="-1" dirty="0">
              <a:solidFill>
                <a:srgbClr val="262626"/>
              </a:solidFill>
              <a:latin typeface="Calibri Light"/>
            </a:endParaRPr>
          </a:p>
          <a:p>
            <a:pPr marL="548640" lvl="1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endParaRPr lang="pt-BR" sz="3200" spc="-1" dirty="0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A2650D9-C35A-11F2-87BE-2FF07C30B95C}"/>
              </a:ext>
            </a:extLst>
          </p:cNvPr>
          <p:cNvSpPr txBox="1"/>
          <p:nvPr/>
        </p:nvSpPr>
        <p:spPr>
          <a:xfrm>
            <a:off x="3990109" y="3035423"/>
            <a:ext cx="4318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/>
              <a:t>/</a:t>
            </a:r>
            <a:r>
              <a:rPr lang="pt-BR" sz="2800" dirty="0" err="1"/>
              <a:t>número?operacao</a:t>
            </a:r>
            <a:r>
              <a:rPr lang="pt-BR" sz="2800" dirty="0"/>
              <a:t>=nome</a:t>
            </a:r>
          </a:p>
        </p:txBody>
      </p:sp>
    </p:spTree>
    <p:extLst>
      <p:ext uri="{BB962C8B-B14F-4D97-AF65-F5344CB8AC3E}">
        <p14:creationId xmlns:p14="http://schemas.microsoft.com/office/powerpoint/2010/main" val="350653163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Exercício 2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676800" y="2011679"/>
            <a:ext cx="10753200" cy="4777047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3600" strike="noStrike" spc="-1" dirty="0">
                <a:solidFill>
                  <a:srgbClr val="262626"/>
                </a:solidFill>
                <a:latin typeface="Calibri Light"/>
              </a:rPr>
              <a:t>Caso a operação informada seja inválida ou o número informado seja inválido, exibir uma mensagem de erro;</a:t>
            </a: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O número informado deve ser um número inteiro.</a:t>
            </a:r>
            <a:endParaRPr lang="pt-BR" sz="3600" strike="noStrike" spc="-1" dirty="0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endParaRPr lang="pt-BR" sz="2800" strike="noStrike" spc="-1" dirty="0">
              <a:solidFill>
                <a:srgbClr val="262626"/>
              </a:solidFill>
              <a:latin typeface="Calibri Light"/>
            </a:endParaRPr>
          </a:p>
          <a:p>
            <a:pPr marL="457200" lvl="1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endParaRPr lang="pt-BR" sz="3200" strike="noStrike" spc="-1" dirty="0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endParaRPr lang="pt-BR" sz="3600" spc="-1" dirty="0">
              <a:solidFill>
                <a:srgbClr val="262626"/>
              </a:solidFill>
              <a:latin typeface="Calibri Light"/>
            </a:endParaRPr>
          </a:p>
          <a:p>
            <a:pPr marL="548640" lvl="1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endParaRPr lang="pt-BR" sz="3200" spc="-1" dirty="0">
              <a:solidFill>
                <a:srgbClr val="262626"/>
              </a:solidFill>
              <a:latin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288828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TM03457491[[fn=Metropolitano]]</Template>
  <TotalTime>916</TotalTime>
  <Words>2279</Words>
  <Application>Microsoft Office PowerPoint</Application>
  <PresentationFormat>Widescreen</PresentationFormat>
  <Paragraphs>386</Paragraphs>
  <Slides>34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34</vt:i4>
      </vt:variant>
    </vt:vector>
  </HeadingPairs>
  <TitlesOfParts>
    <vt:vector size="43" baseType="lpstr">
      <vt:lpstr>Arial</vt:lpstr>
      <vt:lpstr>Calibri Light</vt:lpstr>
      <vt:lpstr>Cascadia Mono</vt:lpstr>
      <vt:lpstr>Consolas</vt:lpstr>
      <vt:lpstr>Symbol</vt:lpstr>
      <vt:lpstr>Times New Roman</vt:lpstr>
      <vt:lpstr>Wingdings</vt:lpstr>
      <vt:lpstr>Office Theme</vt:lpstr>
      <vt:lpstr>Office Theme</vt:lpstr>
      <vt:lpstr>Desenvolvimento Web III</vt:lpstr>
      <vt:lpstr>Introdução</vt:lpstr>
      <vt:lpstr>Páginas e roteamento</vt:lpstr>
      <vt:lpstr>Páginas e roteamento</vt:lpstr>
      <vt:lpstr>Páginas e roteamento</vt:lpstr>
      <vt:lpstr>Páginas e roteamento</vt:lpstr>
      <vt:lpstr>Páginas e roteamento</vt:lpstr>
      <vt:lpstr>Páginas e roteamento</vt:lpstr>
      <vt:lpstr>Páginas e roteamento</vt:lpstr>
      <vt:lpstr>Páginas e roteamento</vt:lpstr>
      <vt:lpstr>Páginas e roteamento</vt:lpstr>
      <vt:lpstr>Páginas e roteamento</vt:lpstr>
      <vt:lpstr>Páginas e roteamento</vt:lpstr>
      <vt:lpstr>Páginas e roteamento</vt:lpstr>
      <vt:lpstr>Páginas e roteamento</vt:lpstr>
      <vt:lpstr>Páginas e roteamento</vt:lpstr>
      <vt:lpstr>Páginas e roteamento</vt:lpstr>
      <vt:lpstr>Páginas e roteamento</vt:lpstr>
      <vt:lpstr>Páginas e roteamento</vt:lpstr>
      <vt:lpstr>Páginas e roteamento</vt:lpstr>
      <vt:lpstr>Páginas e roteamento</vt:lpstr>
      <vt:lpstr>Páginas e roteamento</vt:lpstr>
      <vt:lpstr>Páginas e roteamento</vt:lpstr>
      <vt:lpstr>Apresentação do PowerPoint</vt:lpstr>
      <vt:lpstr>Páginas e roteamento</vt:lpstr>
      <vt:lpstr>Páginas e roteamento</vt:lpstr>
      <vt:lpstr>Páginas e roteamento</vt:lpstr>
      <vt:lpstr>Páginas e roteamento</vt:lpstr>
      <vt:lpstr>Páginas e roteamento</vt:lpstr>
      <vt:lpstr>Páginas e roteamento</vt:lpstr>
      <vt:lpstr>Exercício 1</vt:lpstr>
      <vt:lpstr>Exercício 1</vt:lpstr>
      <vt:lpstr>Exercício 2</vt:lpstr>
      <vt:lpstr>Exercício 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Desenvolvimento Web III</dc:title>
  <dc:subject/>
  <dc:creator>Tiago Docusse</dc:creator>
  <dc:description/>
  <cp:lastModifiedBy>Tiago Docusse</cp:lastModifiedBy>
  <cp:revision>264</cp:revision>
  <dcterms:created xsi:type="dcterms:W3CDTF">2020-10-26T16:07:06Z</dcterms:created>
  <dcterms:modified xsi:type="dcterms:W3CDTF">2026-04-02T11:20:11Z</dcterms:modified>
  <dc:language>pt-BR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</vt:i4>
  </property>
  <property fmtid="{D5CDD505-2E9C-101B-9397-08002B2CF9AE}" pid="3" name="PresentationFormat">
    <vt:lpwstr>Widescreen</vt:lpwstr>
  </property>
  <property fmtid="{D5CDD505-2E9C-101B-9397-08002B2CF9AE}" pid="4" name="Slides">
    <vt:i4>123</vt:i4>
  </property>
</Properties>
</file>