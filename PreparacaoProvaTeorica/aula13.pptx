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8" r:id="rId9"/>
    <p:sldId id="287" r:id="rId10"/>
    <p:sldId id="289" r:id="rId11"/>
    <p:sldId id="290" r:id="rId12"/>
    <p:sldId id="291" r:id="rId13"/>
    <p:sldId id="292" r:id="rId14"/>
    <p:sldId id="294" r:id="rId15"/>
    <p:sldId id="295" r:id="rId16"/>
    <p:sldId id="296" r:id="rId17"/>
    <p:sldId id="298" r:id="rId18"/>
    <p:sldId id="299" r:id="rId19"/>
    <p:sldId id="297" r:id="rId20"/>
    <p:sldId id="300" r:id="rId21"/>
    <p:sldId id="30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9E39"/>
    <a:srgbClr val="C00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949C9-9CE7-4F3E-9D45-43DA33BA51FD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682CE-1854-4397-8FED-D567AEDD3700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682CE-1854-4397-8FED-D567AEDD3700}" type="slidenum">
              <a:rPr lang="pt-BR" smtClean="0"/>
              <a:t>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3541D0D-707C-4E66-89AA-0C4F55B1B90C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345" indent="-3429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15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17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22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95341" y="637953"/>
            <a:ext cx="10417155" cy="3189507"/>
          </a:xfrm>
        </p:spPr>
        <p:txBody>
          <a:bodyPr>
            <a:normAutofit/>
          </a:bodyPr>
          <a:lstStyle/>
          <a:p>
            <a:pPr algn="l"/>
            <a:r>
              <a:rPr lang="pt-BR" sz="8000" dirty="0">
                <a:solidFill>
                  <a:srgbClr val="FFFFFF"/>
                </a:solidFill>
              </a:rPr>
              <a:t>Desenvolvimento </a:t>
            </a:r>
            <a:r>
              <a:rPr lang="pt-BR" sz="8000" i="1" dirty="0">
                <a:solidFill>
                  <a:srgbClr val="FFFFFF"/>
                </a:solidFill>
              </a:rPr>
              <a:t>Web</a:t>
            </a:r>
            <a:r>
              <a:rPr lang="pt-BR" sz="8000" dirty="0">
                <a:solidFill>
                  <a:srgbClr val="FFFFFF"/>
                </a:solidFill>
              </a:rPr>
              <a:t> III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95342" y="4377268"/>
            <a:ext cx="10559198" cy="443307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pt-BR" sz="2800" dirty="0">
                <a:solidFill>
                  <a:srgbClr val="FEFFFF"/>
                </a:solidFill>
              </a:rPr>
              <a:t>Tecnologia em Análise e Desenvolvimento de Sistemas</a:t>
            </a:r>
          </a:p>
        </p:txBody>
      </p:sp>
      <p:sp>
        <p:nvSpPr>
          <p:cNvPr id="17" name="Subtítulo 2"/>
          <p:cNvSpPr txBox="1"/>
          <p:nvPr/>
        </p:nvSpPr>
        <p:spPr>
          <a:xfrm>
            <a:off x="4512685" y="6312411"/>
            <a:ext cx="3596843" cy="44330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anose="020B0604020202020204" pitchFamily="34" charset="0"/>
              <a:buNone/>
              <a:defRPr sz="3200" kern="1200">
                <a:solidFill>
                  <a:srgbClr val="26262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solidFill>
                  <a:srgbClr val="FEFFFF"/>
                </a:solidFill>
              </a:rPr>
              <a:t>Aula 13 – Publicação</a:t>
            </a:r>
            <a:endParaRPr lang="pt-BR" sz="2800" i="1" dirty="0">
              <a:solidFill>
                <a:srgbClr val="FE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Sistemas desenvolvidos em </a:t>
            </a:r>
            <a:r>
              <a:rPr lang="pt-BR" sz="3600" dirty="0" err="1"/>
              <a:t>Nextjs</a:t>
            </a:r>
            <a:r>
              <a:rPr lang="pt-BR" sz="3600" dirty="0"/>
              <a:t>/</a:t>
            </a:r>
            <a:r>
              <a:rPr lang="pt-BR" sz="3600" dirty="0" err="1"/>
              <a:t>React</a:t>
            </a:r>
            <a:r>
              <a:rPr lang="pt-BR" sz="3600" dirty="0"/>
              <a:t> podem ser publicados de várias formas:</a:t>
            </a:r>
          </a:p>
          <a:p>
            <a:pPr marL="547688" lvl="2" indent="173038">
              <a:buFont typeface="Arial" panose="020B0604020202020204" pitchFamily="34" charset="0"/>
              <a:buChar char="•"/>
            </a:pPr>
            <a:r>
              <a:rPr lang="pt-BR" sz="3200" i="0" dirty="0"/>
              <a:t> Localmente;</a:t>
            </a:r>
          </a:p>
          <a:p>
            <a:pPr marL="547688" lvl="2" indent="173038">
              <a:buFont typeface="Arial" panose="020B0604020202020204" pitchFamily="34" charset="0"/>
              <a:buChar char="•"/>
            </a:pPr>
            <a:r>
              <a:rPr lang="pt-BR" sz="3200" dirty="0"/>
              <a:t> Container</a:t>
            </a:r>
            <a:r>
              <a:rPr lang="pt-BR" sz="3200" i="0" dirty="0"/>
              <a:t>;</a:t>
            </a:r>
          </a:p>
          <a:p>
            <a:pPr marL="547688" lvl="2" indent="173038">
              <a:buFont typeface="Arial" panose="020B0604020202020204" pitchFamily="34" charset="0"/>
              <a:buChar char="•"/>
            </a:pPr>
            <a:r>
              <a:rPr lang="pt-BR" sz="3200" i="0" dirty="0"/>
              <a:t> Serviços próprios para publicação de </a:t>
            </a:r>
            <a:r>
              <a:rPr lang="pt-BR" sz="3200" dirty="0"/>
              <a:t>sites.</a:t>
            </a:r>
            <a:endParaRPr lang="pt-BR" sz="3200" i="0" dirty="0"/>
          </a:p>
          <a:p>
            <a:endParaRPr lang="pt-BR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Sistemas desenvolvidos em </a:t>
            </a:r>
            <a:r>
              <a:rPr lang="pt-BR" sz="3600" dirty="0" err="1"/>
              <a:t>Nextjs</a:t>
            </a:r>
            <a:r>
              <a:rPr lang="pt-BR" sz="3600" dirty="0"/>
              <a:t>/</a:t>
            </a:r>
            <a:r>
              <a:rPr lang="pt-BR" sz="3600" dirty="0" err="1"/>
              <a:t>React</a:t>
            </a:r>
            <a:r>
              <a:rPr lang="pt-BR" sz="3600" dirty="0"/>
              <a:t> podem ser publicados de várias formas:</a:t>
            </a:r>
          </a:p>
          <a:p>
            <a:pPr marL="547688" lvl="2" indent="173038">
              <a:buFont typeface="Arial" panose="020B0604020202020204" pitchFamily="34" charset="0"/>
              <a:buChar char="•"/>
            </a:pPr>
            <a:r>
              <a:rPr lang="pt-BR" sz="3200" i="0" dirty="0"/>
              <a:t> Localmente;</a:t>
            </a:r>
          </a:p>
          <a:p>
            <a:pPr marL="547688" lvl="2" indent="173038">
              <a:buFont typeface="Arial" panose="020B0604020202020204" pitchFamily="34" charset="0"/>
              <a:buChar char="•"/>
            </a:pPr>
            <a:r>
              <a:rPr lang="pt-BR" sz="3200" dirty="0"/>
              <a:t> Container</a:t>
            </a:r>
            <a:r>
              <a:rPr lang="pt-BR" sz="3200" i="0" dirty="0"/>
              <a:t>;</a:t>
            </a:r>
          </a:p>
          <a:p>
            <a:pPr marL="547688" lvl="2" indent="173038">
              <a:buFont typeface="Arial" panose="020B0604020202020204" pitchFamily="34" charset="0"/>
              <a:buChar char="•"/>
            </a:pPr>
            <a:r>
              <a:rPr lang="pt-BR" sz="3200" i="0" dirty="0"/>
              <a:t> Serviços próprios para publicação de </a:t>
            </a:r>
            <a:r>
              <a:rPr lang="pt-BR" sz="3200" dirty="0"/>
              <a:t>sites.</a:t>
            </a:r>
            <a:endParaRPr lang="pt-BR" sz="3200" i="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80099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Diretrizes para publicação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3600" dirty="0"/>
              <a:t>Revise e teste o sistema para evitar falhas simples;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i="0" dirty="0"/>
              <a:t>Atualize a versão do sistema em “</a:t>
            </a:r>
            <a:r>
              <a:rPr lang="pt-BR" sz="3600" i="0" dirty="0" err="1"/>
              <a:t>package.json</a:t>
            </a:r>
            <a:r>
              <a:rPr lang="pt-BR" sz="3600" i="0" dirty="0"/>
              <a:t>”;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i="0" dirty="0"/>
              <a:t>Remova arquivos temporários se utilizados;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3600" dirty="0"/>
              <a:t>Faça uso do Lint, se desejado.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147503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Diretrizes para publicação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LcPeriod"/>
            </a:pPr>
            <a:r>
              <a:rPr lang="pt-BR" sz="3600" dirty="0"/>
              <a:t>Para a publicação local:</a:t>
            </a:r>
          </a:p>
          <a:p>
            <a:pPr marL="770255" lvl="1" indent="-514350">
              <a:buFont typeface="+mj-lt"/>
              <a:buAutoNum type="arabicPeriod"/>
            </a:pPr>
            <a:r>
              <a:rPr lang="pt-BR" sz="3200" dirty="0"/>
              <a:t>Copie o código de produção para o local de publicação;</a:t>
            </a:r>
          </a:p>
          <a:p>
            <a:pPr marL="770255" lvl="1" indent="-514350">
              <a:buFont typeface="+mj-lt"/>
              <a:buAutoNum type="arabicPeriod"/>
            </a:pPr>
            <a:r>
              <a:rPr lang="pt-BR" sz="3200" dirty="0"/>
              <a:t>Preencha o arquivo “.</a:t>
            </a:r>
            <a:r>
              <a:rPr lang="pt-BR" sz="3200" dirty="0" err="1"/>
              <a:t>env</a:t>
            </a:r>
            <a:r>
              <a:rPr lang="pt-BR" sz="3200" dirty="0"/>
              <a:t>” com os dados de produção;</a:t>
            </a:r>
          </a:p>
          <a:p>
            <a:pPr marL="770255" lvl="1" indent="-514350">
              <a:buFont typeface="+mj-lt"/>
              <a:buAutoNum type="arabicPeriod"/>
            </a:pPr>
            <a:r>
              <a:rPr lang="pt-BR" sz="3200" dirty="0"/>
              <a:t>Compile o código para produção;</a:t>
            </a:r>
          </a:p>
          <a:p>
            <a:pPr marL="770255" lvl="1" indent="-514350">
              <a:buFont typeface="+mj-lt"/>
              <a:buAutoNum type="arabicPeriod"/>
            </a:pPr>
            <a:r>
              <a:rPr lang="pt-BR" sz="3200" dirty="0"/>
              <a:t>Execute o sistema.</a:t>
            </a:r>
          </a:p>
        </p:txBody>
      </p:sp>
    </p:spTree>
    <p:extLst>
      <p:ext uri="{BB962C8B-B14F-4D97-AF65-F5344CB8AC3E}">
        <p14:creationId xmlns:p14="http://schemas.microsoft.com/office/powerpoint/2010/main" val="134146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Diretrizes para publicação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LcPeriod" startAt="2"/>
            </a:pPr>
            <a:r>
              <a:rPr lang="pt-BR" sz="3600" dirty="0"/>
              <a:t>Para a publicação em Docker:</a:t>
            </a:r>
          </a:p>
          <a:p>
            <a:pPr marL="770255" lvl="1" indent="-514350">
              <a:buFont typeface="+mj-lt"/>
              <a:buAutoNum type="arabicPeriod"/>
            </a:pPr>
            <a:r>
              <a:rPr lang="pt-BR" sz="3200" dirty="0"/>
              <a:t>Use um arquivo “.</a:t>
            </a:r>
            <a:r>
              <a:rPr lang="pt-BR" sz="3200" dirty="0" err="1"/>
              <a:t>env</a:t>
            </a:r>
            <a:r>
              <a:rPr lang="pt-BR" sz="3200" dirty="0"/>
              <a:t>” com dados fictícios;</a:t>
            </a:r>
          </a:p>
          <a:p>
            <a:pPr marL="770255" lvl="1" indent="-514350">
              <a:buFont typeface="+mj-lt"/>
              <a:buAutoNum type="arabicPeriod"/>
            </a:pPr>
            <a:r>
              <a:rPr lang="pt-BR" sz="3200" dirty="0"/>
              <a:t>Gere a imagem com a </a:t>
            </a:r>
            <a:r>
              <a:rPr lang="pt-BR" sz="3200" i="1" dirty="0" err="1"/>
              <a:t>tag</a:t>
            </a:r>
            <a:r>
              <a:rPr lang="pt-BR" sz="3200" i="1" dirty="0"/>
              <a:t> </a:t>
            </a:r>
            <a:r>
              <a:rPr lang="pt-BR" sz="3200" dirty="0"/>
              <a:t>correta;</a:t>
            </a:r>
          </a:p>
          <a:p>
            <a:pPr marL="770255" lvl="1" indent="-514350">
              <a:buFont typeface="+mj-lt"/>
              <a:buAutoNum type="arabicPeriod"/>
            </a:pPr>
            <a:r>
              <a:rPr lang="pt-BR" sz="3200" dirty="0"/>
              <a:t>Publique a imagem, se necessário;</a:t>
            </a:r>
          </a:p>
          <a:p>
            <a:pPr marL="770255" lvl="1" indent="-514350">
              <a:buFont typeface="+mj-lt"/>
              <a:buAutoNum type="arabicPeriod"/>
            </a:pPr>
            <a:r>
              <a:rPr lang="pt-BR" sz="3200" dirty="0"/>
              <a:t>Caso não seja utilizada outra imagem, suba a imagem do sistema;</a:t>
            </a:r>
          </a:p>
          <a:p>
            <a:pPr marL="770255" lvl="1" indent="-514350">
              <a:buFont typeface="+mj-lt"/>
              <a:buAutoNum type="arabicPeriod"/>
            </a:pPr>
            <a:r>
              <a:rPr lang="pt-BR" sz="3200" dirty="0"/>
              <a:t>Caso use outras imagens, cria um arquivo do Docker </a:t>
            </a:r>
            <a:r>
              <a:rPr lang="pt-BR" sz="3200" dirty="0" err="1"/>
              <a:t>Compose</a:t>
            </a:r>
            <a:r>
              <a:rPr lang="pt-BR" sz="3200" dirty="0"/>
              <a:t> com as imagens e suba esse arquivo.</a:t>
            </a:r>
          </a:p>
          <a:p>
            <a:pPr marL="770255" lvl="1" indent="-514350">
              <a:buFont typeface="+mj-lt"/>
              <a:buAutoNum type="arabicPeriod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57490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Vamos fazer ambos os processos com o projeto feito na Aula 9, disponível no SUAP.</a:t>
            </a:r>
          </a:p>
          <a:p>
            <a:r>
              <a:rPr lang="pt-BR" sz="3600" i="0" dirty="0"/>
              <a:t>Faça o </a:t>
            </a:r>
            <a:r>
              <a:rPr lang="pt-BR" sz="3600" i="1" dirty="0"/>
              <a:t>download </a:t>
            </a:r>
            <a:r>
              <a:rPr lang="pt-BR" sz="3600" dirty="0"/>
              <a:t>do projeto, descompacte na pasta desejada.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399780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Verificando o código – Modo </a:t>
            </a:r>
            <a:r>
              <a:rPr lang="pt-BR" i="1" dirty="0"/>
              <a:t>debug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Baixe as dependências com o comando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pt-BR" sz="3600" dirty="0"/>
              <a:t>;</a:t>
            </a:r>
            <a:endParaRPr lang="pt-BR" sz="3600" i="0" dirty="0"/>
          </a:p>
          <a:p>
            <a:r>
              <a:rPr lang="pt-BR" sz="3600" i="0" dirty="0"/>
              <a:t>Suba um </a:t>
            </a:r>
            <a:r>
              <a:rPr lang="pt-BR" sz="3600" i="1" dirty="0"/>
              <a:t>container </a:t>
            </a:r>
            <a:r>
              <a:rPr lang="pt-BR" sz="3600" dirty="0"/>
              <a:t>do banco de dados ao iniciar o Docker e executar o seguinte comando:</a:t>
            </a:r>
            <a:r>
              <a:rPr lang="pt-BR" sz="3600" i="0" dirty="0"/>
              <a:t> </a:t>
            </a:r>
            <a:endParaRPr lang="pt-BR" sz="3200" i="0" dirty="0"/>
          </a:p>
          <a:p>
            <a:endParaRPr lang="pt-BR" sz="3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07BABF-C4DA-5BFA-DD00-FFE2A04F41E2}"/>
              </a:ext>
            </a:extLst>
          </p:cNvPr>
          <p:cNvSpPr txBox="1"/>
          <p:nvPr/>
        </p:nvSpPr>
        <p:spPr bwMode="auto">
          <a:xfrm>
            <a:off x="761619" y="3831130"/>
            <a:ext cx="10123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run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--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postgresDebug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-e POSTGRES_PASSWORD=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senhadobanco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-p 5432:5432 -v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postgresDebug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:/var/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lib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/data -d postgres:17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09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Verificando o código – Modo </a:t>
            </a:r>
            <a:r>
              <a:rPr lang="pt-BR" i="1" dirty="0"/>
              <a:t>debug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Configure o arquivo “.</a:t>
            </a:r>
            <a:r>
              <a:rPr lang="pt-BR" sz="3600" dirty="0" err="1"/>
              <a:t>env</a:t>
            </a:r>
            <a:r>
              <a:rPr lang="pt-BR" sz="3600" dirty="0"/>
              <a:t>” com os dados do banco de dados iniciados.</a:t>
            </a:r>
          </a:p>
          <a:p>
            <a:r>
              <a:rPr lang="pt-BR" sz="3600" i="0" dirty="0"/>
              <a:t>Use os comandos </a:t>
            </a:r>
            <a:r>
              <a:rPr lang="pt-BR" sz="28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npx</a:t>
            </a:r>
            <a:r>
              <a:rPr lang="pt-BR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 prisma </a:t>
            </a:r>
            <a:r>
              <a:rPr lang="pt-BR" sz="28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pt-BR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r>
              <a:rPr lang="pt-BR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i="0" dirty="0"/>
              <a:t>e </a:t>
            </a:r>
            <a:r>
              <a:rPr lang="pt-BR" sz="28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npx</a:t>
            </a:r>
            <a:r>
              <a:rPr lang="pt-BR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 prisma </a:t>
            </a:r>
            <a:r>
              <a:rPr lang="pt-BR" sz="28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generate</a:t>
            </a:r>
            <a:r>
              <a:rPr lang="pt-BR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i="0" dirty="0"/>
              <a:t>para criar as tabelas no banco de dados e criar os arquivos do prisma no projeto.</a:t>
            </a:r>
          </a:p>
          <a:p>
            <a:r>
              <a:rPr lang="pt-BR" sz="3600" dirty="0"/>
              <a:t>Use o comando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run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dev</a:t>
            </a:r>
            <a:r>
              <a:rPr lang="pt-BR" sz="3600" dirty="0"/>
              <a:t> para verificar o funcionamento do sistema.</a:t>
            </a:r>
            <a:endParaRPr lang="pt-BR" sz="3200" i="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893265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Publicando o sistema localmente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Verificado o funcionamento do sistema, pare sua execução.</a:t>
            </a:r>
          </a:p>
          <a:p>
            <a:r>
              <a:rPr lang="pt-BR" sz="3600" i="0" dirty="0"/>
              <a:t>Opcionalmente, copie o projeto par</a:t>
            </a:r>
            <a:r>
              <a:rPr lang="pt-BR" sz="3600" dirty="0"/>
              <a:t>a uma pasta onde ele ficará armazenado, e crie um novo arquivo “.</a:t>
            </a:r>
            <a:r>
              <a:rPr lang="pt-BR" sz="3600" dirty="0" err="1"/>
              <a:t>env</a:t>
            </a:r>
            <a:r>
              <a:rPr lang="pt-BR" sz="3600" dirty="0"/>
              <a:t>” com os dados de produção.</a:t>
            </a:r>
            <a:endParaRPr lang="pt-BR" sz="3200" i="0" dirty="0"/>
          </a:p>
          <a:p>
            <a:r>
              <a:rPr lang="pt-BR" sz="3200" dirty="0"/>
              <a:t>Compile o projeto para produção com o comando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run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build</a:t>
            </a:r>
            <a:r>
              <a:rPr lang="pt-BR" sz="3200" dirty="0"/>
              <a:t>.</a:t>
            </a:r>
          </a:p>
          <a:p>
            <a:r>
              <a:rPr lang="pt-BR" sz="3200" dirty="0"/>
              <a:t>Execute o sistema com o comando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run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start</a:t>
            </a:r>
            <a:r>
              <a:rPr lang="pt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9794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Publicando o sistema em </a:t>
            </a:r>
            <a:r>
              <a:rPr lang="pt-BR" i="1" dirty="0"/>
              <a:t>container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Inicie o Docker.</a:t>
            </a:r>
          </a:p>
          <a:p>
            <a:r>
              <a:rPr lang="pt-BR" sz="3600" dirty="0"/>
              <a:t>Na raiz do projeto, crie um arquivo chamado “</a:t>
            </a:r>
            <a:r>
              <a:rPr lang="pt-BR" sz="3600" dirty="0" err="1"/>
              <a:t>Dockerfile</a:t>
            </a:r>
            <a:r>
              <a:rPr lang="pt-BR" sz="3600" dirty="0"/>
              <a:t>”, com o conteúdo a seguir: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606211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21E4D1C0-F852-D185-77F4-68E175D53EF5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 NODE_VERSION=24.13.0-slim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node:${NODE_VERSION} AS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dependencies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WORKDIR /app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package.json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yarn.lock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package-lock.json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pnpm-lock.yaml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.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npmrc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 ./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 --mount=type=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cache,target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=/root/.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npm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--mount=type=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cache,target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=/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usr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/local/share/.cache/yarn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--mount=type=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cache,target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=/root/.local/share/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/store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if [ -f package-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lock.json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]; then \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npm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--no-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audit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--no-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fund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 -f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yarn.lock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]; then \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corepack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enable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yarn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yarn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install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--frozen-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lockfile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--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=false;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 -f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pnpm-lock.yaml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]; then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corepack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enable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install --frozen-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lockfile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\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\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echo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"No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lockfile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found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." &amp;&amp;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1; \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node:${NODE_VERSION} AS builder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WORKDIR /app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--from=dependencies /app/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node_modules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./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node_modules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. .</a:t>
            </a:r>
          </a:p>
          <a:p>
            <a:r>
              <a:rPr lang="es-E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prisma/</a:t>
            </a:r>
            <a:r>
              <a:rPr lang="es-E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schema.prisma</a:t>
            </a:r>
            <a:r>
              <a:rPr lang="es-E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./prisma/</a:t>
            </a:r>
            <a:r>
              <a:rPr lang="es-E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schema.prisma</a:t>
            </a:r>
            <a:endParaRPr lang="es-E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prisma.config.ts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./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prisma.config.ts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 NODE_ENV=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 if [ -f package-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lock.json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]; then \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npm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build;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 -f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yarn.lock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]; then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corepack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enable yarn &amp;&amp; yarn build;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 -f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pnpm-lock.yaml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]; then \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corepack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enable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build; \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\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echo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"No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lockfile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found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." &amp;&amp;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1; \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node:${NODE_VERSION} AS runner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WORKDIR /app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 NODE_ENV=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 PORT=3000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 HOSTNAME="0.0.0.0"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--from=builder --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chown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node:node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/app/public ./public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mkdir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.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chown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node:node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.next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--from=builder --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chown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node:node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/app/.next/standalone ./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--from=builder --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chown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node:node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/app/.next/static ./.next/static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--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/app/prisma/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schema.prisma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./prisma/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schema.prisma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COPY --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/app/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prisma.config.ts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./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prisma.config.ts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npm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dotenv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npx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prisma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generate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 node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EXPOSE 3000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CMD ["node", "server.js"]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936812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Publicando o sistema em </a:t>
            </a:r>
            <a:r>
              <a:rPr lang="pt-BR" i="1" dirty="0"/>
              <a:t>container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Na raiz do projeto, crie um arquivo chamado “</a:t>
            </a:r>
            <a:r>
              <a:rPr lang="pt-BR" sz="3600" dirty="0" err="1"/>
              <a:t>docker-compose.yml</a:t>
            </a:r>
            <a:r>
              <a:rPr lang="pt-BR" sz="3600" dirty="0"/>
              <a:t>” com o seguinte conteúdo: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73801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21E4D1C0-F852-D185-77F4-68E175D53EF5}"/>
              </a:ext>
            </a:extLst>
          </p:cNvPr>
          <p:cNvSpPr txBox="1"/>
          <p:nvPr/>
        </p:nvSpPr>
        <p:spPr>
          <a:xfrm>
            <a:off x="0" y="151179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image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postgres:17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- "${DBEXTPORT}:${DBINTPORT}"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environment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POSTGRES_USER: ${DBUSER}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POSTGRES_PASSWORD: ${DBPASSWORD}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POSTGRES_DB: ${DBNAME}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volumes: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-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postgres_data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:/var/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lib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postgresql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/data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env_file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-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app: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image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sistema:latest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ports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- "3000:3000"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depends_on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-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volumes: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-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app_data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:/app/data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env_file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- 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volumes: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postgres_data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app_data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{}</a:t>
            </a:r>
          </a:p>
        </p:txBody>
      </p:sp>
    </p:spTree>
    <p:extLst>
      <p:ext uri="{BB962C8B-B14F-4D97-AF65-F5344CB8AC3E}">
        <p14:creationId xmlns:p14="http://schemas.microsoft.com/office/powerpoint/2010/main" val="902347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Publicando o sistema em </a:t>
            </a:r>
            <a:r>
              <a:rPr lang="pt-BR" i="1" dirty="0"/>
              <a:t>container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Altere o arquivo “.</a:t>
            </a:r>
            <a:r>
              <a:rPr lang="pt-BR" sz="3600" dirty="0" err="1"/>
              <a:t>env</a:t>
            </a:r>
            <a:r>
              <a:rPr lang="pt-BR" sz="3600" dirty="0"/>
              <a:t>” para conter </a:t>
            </a:r>
            <a:r>
              <a:rPr lang="pt-BR" sz="3600" b="1" dirty="0"/>
              <a:t>valores fictícios </a:t>
            </a:r>
            <a:r>
              <a:rPr lang="pt-BR" sz="3600" dirty="0"/>
              <a:t>para as variáveis utilizadas no arquivo anterior: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BD230A-5486-342F-4C1A-A56EE2B45937}"/>
              </a:ext>
            </a:extLst>
          </p:cNvPr>
          <p:cNvSpPr txBox="1"/>
          <p:nvPr/>
        </p:nvSpPr>
        <p:spPr>
          <a:xfrm>
            <a:off x="761619" y="3182311"/>
            <a:ext cx="106683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DBEXTPORT=5532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DBINTPORT=5432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DBUSER=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postgres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DBPASSWORD=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senhadobanco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DBNAME=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sistemadb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DBHOST=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DATABASE_URL=postgresql://$DBUSER:$DBPASSWORD@$DBHOST:$DBINTPORT/$DBNAME?schema=public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4228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Publicando o sistema em </a:t>
            </a:r>
            <a:r>
              <a:rPr lang="pt-BR" i="1" dirty="0"/>
              <a:t>container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Altere o arquivo “</a:t>
            </a:r>
            <a:r>
              <a:rPr lang="pt-BR" sz="3600" dirty="0" err="1"/>
              <a:t>next.config.mjs</a:t>
            </a:r>
            <a:r>
              <a:rPr lang="pt-BR" sz="3600" dirty="0"/>
              <a:t>” para o seguinte conteúdo:</a:t>
            </a:r>
          </a:p>
          <a:p>
            <a:endParaRPr lang="pt-BR" sz="36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5F1F81-A545-248C-30C5-CD6ECFF22408}"/>
              </a:ext>
            </a:extLst>
          </p:cNvPr>
          <p:cNvSpPr txBox="1"/>
          <p:nvPr/>
        </p:nvSpPr>
        <p:spPr>
          <a:xfrm>
            <a:off x="761619" y="316941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/**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('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').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NextConfig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*/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nextConfig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</a:t>
            </a:r>
            <a:r>
              <a:rPr lang="pt-BR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here</a:t>
            </a:r>
            <a:r>
              <a:rPr lang="pt-B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*/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output: 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standalone</a:t>
            </a:r>
            <a:r>
              <a:rPr lang="pt-BR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nextConfig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07863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Publicando o sistema em </a:t>
            </a:r>
            <a:r>
              <a:rPr lang="pt-BR" i="1" dirty="0"/>
              <a:t>container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Na raiz do projeto, crie um arquivo chamado “.</a:t>
            </a:r>
            <a:r>
              <a:rPr lang="pt-BR" sz="3600" dirty="0" err="1"/>
              <a:t>dockerignore</a:t>
            </a:r>
            <a:r>
              <a:rPr lang="pt-BR" sz="3600" dirty="0"/>
              <a:t>” com o seguinte conteúdo: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796059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21E4D1C0-F852-D185-77F4-68E175D53EF5}"/>
              </a:ext>
            </a:extLst>
          </p:cNvPr>
          <p:cNvSpPr txBox="1"/>
          <p:nvPr/>
        </p:nvSpPr>
        <p:spPr>
          <a:xfrm>
            <a:off x="0" y="151179"/>
            <a:ext cx="12192000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############################################################</a:t>
            </a: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Production-ready .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dockerignore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for a Next.js (</a:t>
            </a:r>
            <a:r>
              <a:rPr lang="en-US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Vercel</a:t>
            </a:r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-style) app</a:t>
            </a: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Keeps Docker builds fast, lean, and free of development files.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############################################################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Dependencies (installed inside Docker, never copied)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node_modules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-store/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npm-debug.log*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yarn-debug.log*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yarn-error.log*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pnpm-debug.log*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lerna-debug.log*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Next.js build outputs (always generated during `next build`)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out/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vercel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Tests and testing output (not needed in production images)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coverage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nyc_output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mocks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__/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jest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cypress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cypress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screenshots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cypress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videos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playwright-report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test-results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vitest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vitest.config.*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jest.config.*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cypress.config.*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playwright.config.*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*.test.*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.*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Local development and editor files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gitignore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gitattributes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vscode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idea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swp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swo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*~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*.log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Environment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variables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only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commit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template files)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*.local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env.development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env.test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env.production.local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Docker configuration files (not needed inside build context)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Dockerfile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dockerignore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compose.yaml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compose.yml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docker-compose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yaml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docker-compose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yml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Documentation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md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CI/CD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configuration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files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github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gitlab-ci.yml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travis.yml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circleci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Jenkinsfile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Cache directories and temporary data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.cache/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.parcel-cache/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eslintcache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stylelintcache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.turbo/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.tmp/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TypeScript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build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metadata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tsbuildinfo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Sensitive or unnecessary configuration files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pem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editorconfig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prettierrc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prettier.config.*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eslintrc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eslint.config.*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stylelintrc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stylelint.config.*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babelrc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iml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ipr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iws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OS-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specific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junk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DS_Store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._*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.Spotlight-V100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Trashes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ehthumbs.db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Thumbs.db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Desktop.ini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AI/ML tool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metadata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configs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.cursor/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cursorrules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copilot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copilotignore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github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copilot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gemini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anthropic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kiro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claude</a:t>
            </a:r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AGENTS.md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agents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</a:p>
          <a:p>
            <a:endParaRPr lang="pt-BR" sz="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 AI-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generated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files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aider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copilot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chatgpt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claude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gemini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openai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</a:p>
          <a:p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*.</a:t>
            </a:r>
            <a:r>
              <a:rPr lang="pt-BR" sz="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anthropic</a:t>
            </a:r>
            <a:r>
              <a:rPr lang="pt-BR" sz="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endParaRPr lang="pt-BR" sz="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06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Publicando o sistema em </a:t>
            </a:r>
            <a:r>
              <a:rPr lang="pt-BR" i="1" dirty="0"/>
              <a:t>container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r>
              <a:rPr lang="pt-BR" sz="3600" dirty="0"/>
              <a:t>Na raiz do projeto, execute o seguinte comando para criar uma imagem com o nome e </a:t>
            </a:r>
            <a:r>
              <a:rPr lang="pt-BR" sz="3600" i="1" dirty="0" err="1"/>
              <a:t>tag</a:t>
            </a:r>
            <a:r>
              <a:rPr lang="pt-BR" sz="3600" i="1" dirty="0"/>
              <a:t> </a:t>
            </a:r>
            <a:r>
              <a:rPr lang="pt-BR" sz="3600" dirty="0"/>
              <a:t>especificados:</a:t>
            </a:r>
          </a:p>
          <a:p>
            <a:endParaRPr lang="pt-BR" sz="3600" i="1" dirty="0"/>
          </a:p>
          <a:p>
            <a:endParaRPr lang="pt-BR" sz="3600" i="1" dirty="0"/>
          </a:p>
          <a:p>
            <a:r>
              <a:rPr lang="pt-BR" sz="3600" dirty="0"/>
              <a:t>Opcionalmente, gere a imagem e publique em um sistema de hospedagem de imagens, como GitHub, </a:t>
            </a:r>
            <a:r>
              <a:rPr lang="pt-BR" sz="3600" dirty="0" err="1"/>
              <a:t>GitLab</a:t>
            </a:r>
            <a:r>
              <a:rPr lang="pt-BR" sz="3600" dirty="0"/>
              <a:t>, Docker Hub, etc.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DB2D4F8-590D-B2E2-BCD3-7DEC3FD7199E}"/>
              </a:ext>
            </a:extLst>
          </p:cNvPr>
          <p:cNvSpPr txBox="1"/>
          <p:nvPr/>
        </p:nvSpPr>
        <p:spPr>
          <a:xfrm>
            <a:off x="761619" y="3208213"/>
            <a:ext cx="8183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docker build ./ -t sistema:latest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44015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Publicando o sistema em </a:t>
            </a:r>
            <a:r>
              <a:rPr lang="pt-BR" i="1" dirty="0"/>
              <a:t>container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Em uma pasta diferente da pasta do projeto, copie o arquivo “</a:t>
            </a:r>
            <a:r>
              <a:rPr lang="pt-BR" sz="3600" dirty="0" err="1"/>
              <a:t>docker-composse.yml</a:t>
            </a:r>
            <a:r>
              <a:rPr lang="pt-BR" sz="3600" dirty="0"/>
              <a:t>” e crie um arquivo “.</a:t>
            </a:r>
            <a:r>
              <a:rPr lang="pt-BR" sz="3600" dirty="0" err="1"/>
              <a:t>env</a:t>
            </a:r>
            <a:r>
              <a:rPr lang="pt-BR" sz="3600" dirty="0"/>
              <a:t>” com os dados de produção.</a:t>
            </a:r>
          </a:p>
          <a:p>
            <a:pPr marL="0" indent="0">
              <a:buNone/>
            </a:pPr>
            <a:r>
              <a:rPr lang="pt-BR" sz="3600" dirty="0"/>
              <a:t>Nesta pasta, execute o seguinte comando para subir os </a:t>
            </a:r>
            <a:r>
              <a:rPr lang="pt-BR" sz="3600" i="1" dirty="0"/>
              <a:t>containers:</a:t>
            </a:r>
          </a:p>
          <a:p>
            <a:pPr marL="0" indent="0">
              <a:buNone/>
            </a:pPr>
            <a:r>
              <a:rPr lang="pt-BR" sz="3600" b="1" dirty="0" err="1"/>
              <a:t>docker</a:t>
            </a:r>
            <a:r>
              <a:rPr lang="pt-BR" sz="3600" b="1" dirty="0"/>
              <a:t> </a:t>
            </a:r>
            <a:r>
              <a:rPr lang="pt-BR" sz="3600" b="1" dirty="0" err="1"/>
              <a:t>compose</a:t>
            </a:r>
            <a:r>
              <a:rPr lang="pt-BR" sz="3600" b="1" dirty="0"/>
              <a:t> </a:t>
            </a:r>
            <a:r>
              <a:rPr lang="pt-BR" sz="3600" b="1" dirty="0" err="1"/>
              <a:t>up</a:t>
            </a:r>
            <a:r>
              <a:rPr lang="pt-BR" sz="3600" b="1" dirty="0"/>
              <a:t> -d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3059707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Publicando o sistema em </a:t>
            </a:r>
            <a:r>
              <a:rPr lang="pt-BR" i="1" dirty="0"/>
              <a:t>container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346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Para subir o banco de dados, execute o seguinte comando:</a:t>
            </a:r>
          </a:p>
          <a:p>
            <a:pPr marL="0" indent="0">
              <a:buNone/>
            </a:pPr>
            <a:endParaRPr lang="pt-BR" sz="3600" b="1" dirty="0"/>
          </a:p>
          <a:p>
            <a:pPr marL="0" indent="0">
              <a:buNone/>
            </a:pPr>
            <a:r>
              <a:rPr lang="pt-BR" sz="3600" dirty="0"/>
              <a:t>Finalmente, acesse o </a:t>
            </a:r>
            <a:r>
              <a:rPr lang="pt-BR" sz="3600" i="1" dirty="0"/>
              <a:t>site </a:t>
            </a:r>
            <a:r>
              <a:rPr lang="pt-BR" sz="3600" dirty="0"/>
              <a:t>do sistema e o utilize.</a:t>
            </a:r>
            <a:endParaRPr lang="pt-BR" sz="3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95238C-7D0E-B9EE-F469-8C139C6F0F99}"/>
              </a:ext>
            </a:extLst>
          </p:cNvPr>
          <p:cNvSpPr txBox="1"/>
          <p:nvPr/>
        </p:nvSpPr>
        <p:spPr>
          <a:xfrm>
            <a:off x="761618" y="3208213"/>
            <a:ext cx="10922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docker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compose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app </a:t>
            </a:r>
            <a:r>
              <a:rPr lang="pt-BR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npx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prisma </a:t>
            </a:r>
            <a:r>
              <a:rPr lang="pt-BR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98859472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etropolitan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2169</TotalTime>
  <Words>1785</Words>
  <Application>Microsoft Office PowerPoint</Application>
  <PresentationFormat>Widescreen</PresentationFormat>
  <Paragraphs>304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Cascadia Mono</vt:lpstr>
      <vt:lpstr>Metropolitano</vt:lpstr>
      <vt:lpstr>Desenvolvimento Web III</vt:lpstr>
      <vt:lpstr>Introdução</vt:lpstr>
      <vt:lpstr>Introdução</vt:lpstr>
      <vt:lpstr>Diretrizes para publicação</vt:lpstr>
      <vt:lpstr>Diretrizes para publicação</vt:lpstr>
      <vt:lpstr>Diretrizes para publicação</vt:lpstr>
      <vt:lpstr>Exemplo</vt:lpstr>
      <vt:lpstr>Verificando o código – Modo debug</vt:lpstr>
      <vt:lpstr>Verificando o código – Modo debug</vt:lpstr>
      <vt:lpstr>Publicando o sistema localmente</vt:lpstr>
      <vt:lpstr>Publicando o sistema em container</vt:lpstr>
      <vt:lpstr>Apresentação do PowerPoint</vt:lpstr>
      <vt:lpstr>Publicando o sistema em container</vt:lpstr>
      <vt:lpstr>Apresentação do PowerPoint</vt:lpstr>
      <vt:lpstr>Publicando o sistema em container</vt:lpstr>
      <vt:lpstr>Publicando o sistema em container</vt:lpstr>
      <vt:lpstr>Publicando o sistema em container</vt:lpstr>
      <vt:lpstr>Apresentação do PowerPoint</vt:lpstr>
      <vt:lpstr>Publicando o sistema em container</vt:lpstr>
      <vt:lpstr>Publicando o sistema em container</vt:lpstr>
      <vt:lpstr>Publicando o sistema em container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creator>Tiago Docusse</dc:creator>
  <cp:lastModifiedBy>Tiago Docusse</cp:lastModifiedBy>
  <cp:revision>326</cp:revision>
  <dcterms:created xsi:type="dcterms:W3CDTF">2020-10-26T16:07:00Z</dcterms:created>
  <dcterms:modified xsi:type="dcterms:W3CDTF">2026-05-14T13:43:14Z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E70745523BDA4723BCE751111FC1C6B0_12</vt:lpwstr>
  </property>
  <property fmtid="{D5CDD505-2E9C-101B-9397-08002B2CF9AE}" pid="3" name="KSOProductBuildVer">
    <vt:lpwstr>1046-12.2.0.18283</vt:lpwstr>
  </property>
</Properties>
</file>