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75" r:id="rId6"/>
  </p:sldMasterIdLst>
  <p:notesMasterIdLst>
    <p:notesMasterId r:id="rId65"/>
  </p:notesMasterIdLst>
  <p:sldIdLst>
    <p:sldId id="256" r:id="rId7"/>
    <p:sldId id="316" r:id="rId8"/>
    <p:sldId id="317" r:id="rId9"/>
    <p:sldId id="331" r:id="rId10"/>
    <p:sldId id="329" r:id="rId11"/>
    <p:sldId id="330" r:id="rId12"/>
    <p:sldId id="328" r:id="rId13"/>
    <p:sldId id="258" r:id="rId14"/>
    <p:sldId id="332" r:id="rId15"/>
    <p:sldId id="259" r:id="rId16"/>
    <p:sldId id="260" r:id="rId17"/>
    <p:sldId id="261" r:id="rId18"/>
    <p:sldId id="262" r:id="rId19"/>
    <p:sldId id="263" r:id="rId20"/>
    <p:sldId id="335" r:id="rId21"/>
    <p:sldId id="336" r:id="rId22"/>
    <p:sldId id="334" r:id="rId23"/>
    <p:sldId id="264" r:id="rId24"/>
    <p:sldId id="265" r:id="rId25"/>
    <p:sldId id="325" r:id="rId26"/>
    <p:sldId id="266" r:id="rId27"/>
    <p:sldId id="326" r:id="rId28"/>
    <p:sldId id="327" r:id="rId29"/>
    <p:sldId id="269" r:id="rId30"/>
    <p:sldId id="338" r:id="rId31"/>
    <p:sldId id="337" r:id="rId32"/>
    <p:sldId id="267" r:id="rId33"/>
    <p:sldId id="339" r:id="rId34"/>
    <p:sldId id="349" r:id="rId35"/>
    <p:sldId id="340" r:id="rId36"/>
    <p:sldId id="341" r:id="rId37"/>
    <p:sldId id="271" r:id="rId38"/>
    <p:sldId id="342" r:id="rId39"/>
    <p:sldId id="359" r:id="rId40"/>
    <p:sldId id="273" r:id="rId41"/>
    <p:sldId id="274" r:id="rId42"/>
    <p:sldId id="275" r:id="rId43"/>
    <p:sldId id="276" r:id="rId44"/>
    <p:sldId id="343" r:id="rId45"/>
    <p:sldId id="277" r:id="rId46"/>
    <p:sldId id="344" r:id="rId47"/>
    <p:sldId id="345" r:id="rId48"/>
    <p:sldId id="346" r:id="rId49"/>
    <p:sldId id="347" r:id="rId50"/>
    <p:sldId id="348" r:id="rId51"/>
    <p:sldId id="283" r:id="rId52"/>
    <p:sldId id="350" r:id="rId53"/>
    <p:sldId id="351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60" r:id="rId62"/>
    <p:sldId id="363" r:id="rId63"/>
    <p:sldId id="364" r:id="rId6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5508" autoAdjust="0"/>
  </p:normalViewPr>
  <p:slideViewPr>
    <p:cSldViewPr snapToGrid="0">
      <p:cViewPr varScale="1">
        <p:scale>
          <a:sx n="104" d="100"/>
          <a:sy n="104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slide" Target="slides/slide5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 Light"/>
              </a:rPr>
              <a:t>Clique para mover o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37891DBB-80A1-4E9F-AF54-EFB1AD9C1A3C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pt-BR" sz="20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C1B747-F84B-476E-AED1-28A37BAF9361}" type="slidenum">
              <a:rPr lang="pt-BR" sz="1200" b="0" strike="noStrike" spc="-1">
                <a:latin typeface="Times New Roman"/>
              </a:rPr>
              <a:t>1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algn="r">
              <a:buNone/>
            </a:pPr>
            <a:fld id="{37891DBB-80A1-4E9F-AF54-EFB1AD9C1A3C}" type="slidenum">
              <a:rPr lang="pt-BR" sz="1400" b="0" strike="noStrike" spc="-1" smtClean="0">
                <a:latin typeface="Times New Roman"/>
              </a:rPr>
              <a:t>33</a:t>
            </a:fld>
            <a:endParaRPr lang="pt-B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344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A11829D-1B84-47C8-83B4-191595453F55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7E149F-CE54-4F73-BB9C-C3E23D5B5D33}" type="slidenum">
              <a:t>‹nº›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27B61C9-79DD-4E97-B075-0481279BEEC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5022319-5ADD-4FE0-82B0-78223C8EA834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B8E14A9-6214-4290-8D85-D19A2C1ECD7B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E70720A-5FBE-4817-BEBF-5BD32C6AB3E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F0FABA9-9A9F-4BE8-85FE-E07F1134996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CC8867-AF36-4409-85FD-713BCD34FC0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6F8201A-8E77-4DC4-8387-E10E326C7C4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B731787-2E65-4C92-8740-5D0D42A2B0DD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F69C894-75F3-4618-916F-4E7B807A38F1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8188FDC-C531-4D67-8CCF-549C015CD435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FE174F9-8F6A-4BF8-B5FE-7DBA9535057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FA7721B-B2AC-43C3-9FA6-A290166721C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012467-48B9-4558-80E6-5A71144B03C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35CEB96-2163-4AAE-A930-D5F7EBBF5E26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F7CC44E-9AB4-465D-96D3-E1227659582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57360" y="499680"/>
            <a:ext cx="10772280" cy="768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C7DF3F6-ADAD-47F4-B110-934F17BE22A1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1E37D7-AB23-4245-8942-062C8F4D8B3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06917B0-6F19-425E-A476-4C7B8B01570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75393B9-98A2-4F32-BF07-FABBA7E5594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76800" y="3978720"/>
            <a:ext cx="1075320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E9F3472-9941-48C6-8062-A26BD600D4B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186960" y="201168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7680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186960" y="3978720"/>
            <a:ext cx="524736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3D2520D-D664-40AC-86A0-DC1F30647613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244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7948080" y="201168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7680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244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7948080" y="3978720"/>
            <a:ext cx="3462120" cy="179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85000"/>
              </a:lnSpc>
              <a:spcBef>
                <a:spcPts val="1417"/>
              </a:spcBef>
              <a:buNone/>
            </a:pP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D491DC1-2810-40D7-BBF1-5AD57C2F34E6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744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8873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1D0D-707C-4E66-89AA-0C4F55B1B90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D8455-DEB2-4E79-9BF6-B6184E2BA0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6140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4499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70071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93829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15095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23179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5203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713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2998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 smtClean="0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757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9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549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3360" y="770400"/>
            <a:ext cx="10782000" cy="3352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800" b="0" strike="noStrike" spc="-120">
                <a:solidFill>
                  <a:srgbClr val="FFFFFF"/>
                </a:solidFill>
                <a:latin typeface="Calibri Light"/>
              </a:rPr>
              <a:t>Clique para editar o título Mestre</a:t>
            </a:r>
            <a:endParaRPr lang="en-US" sz="88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B46FF2-7C8D-43DC-BE41-A7B598CF110F}" type="slidenum">
              <a:rPr lang="pt-BR" sz="10300" b="0" strike="noStrike" spc="-1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262626"/>
                </a:solidFill>
                <a:latin typeface="Calibri Light"/>
              </a:rPr>
              <a:t>Clique para editar o formato do texto da estrutura de tópicos</a:t>
            </a:r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i="1" strike="noStrike" spc="-1">
                <a:solidFill>
                  <a:srgbClr val="262626"/>
                </a:solidFill>
                <a:latin typeface="Calibri Light"/>
              </a:rPr>
              <a:t>2.º nível da estrutura de tópicos</a:t>
            </a:r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3.º nível da estrutura de tópicos</a:t>
            </a:r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262626"/>
                </a:solidFill>
                <a:latin typeface="Calibri Light"/>
              </a:rPr>
              <a:t>4.º nível da estrutura de tópicos</a:t>
            </a:r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5.º nível da estrutura de tópicos</a:t>
            </a:r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6.º nível da estrutura de tópicos</a:t>
            </a:r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262626"/>
                </a:solidFill>
                <a:latin typeface="Calibri Light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Clique para editar o título Mestre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Clique para editar os estilos de texto Mestres</a:t>
            </a:r>
            <a:endParaRPr lang="en-US" sz="2400" b="0" strike="noStrike" spc="-1">
              <a:solidFill>
                <a:srgbClr val="262626"/>
              </a:solidFill>
              <a:latin typeface="Calibri Light"/>
            </a:endParaRPr>
          </a:p>
          <a:p>
            <a:pPr marL="347400" lvl="1" indent="-3430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400" b="0" strike="noStrike" spc="-1">
                <a:solidFill>
                  <a:srgbClr val="262626"/>
                </a:solidFill>
                <a:latin typeface="Calibri Light"/>
              </a:rPr>
              <a:t>Segundo nível</a:t>
            </a:r>
            <a:endParaRPr lang="en-US" sz="2400" b="0" i="1" strike="noStrike" spc="-1">
              <a:solidFill>
                <a:srgbClr val="262626"/>
              </a:solidFill>
              <a:latin typeface="Calibri Light"/>
            </a:endParaRPr>
          </a:p>
          <a:p>
            <a:pPr marL="548640" lvl="2" indent="-54864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2000" b="0" i="1" strike="noStrike" spc="-1">
                <a:solidFill>
                  <a:srgbClr val="262626"/>
                </a:solidFill>
                <a:latin typeface="Calibri Light"/>
              </a:rPr>
              <a:t>Terceiro nível</a:t>
            </a:r>
            <a:endParaRPr lang="en-US" sz="2000" b="0" strike="noStrike" spc="-1">
              <a:solidFill>
                <a:srgbClr val="262626"/>
              </a:solidFill>
              <a:latin typeface="Calibri Light"/>
            </a:endParaRPr>
          </a:p>
          <a:p>
            <a:pPr marL="822960" lvl="3" indent="-82296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Quarto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  <a:p>
            <a:pPr marL="1097280" lvl="4" indent="-109728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pt-BR" sz="1800" b="0" strike="noStrike" spc="-1">
                <a:solidFill>
                  <a:srgbClr val="262626"/>
                </a:solidFill>
                <a:latin typeface="Calibri Light"/>
              </a:rPr>
              <a:t>Quinto nível</a:t>
            </a:r>
            <a:endParaRPr lang="en-US" sz="1800" b="0" strike="noStrike" spc="-1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4"/>
          </p:nvPr>
        </p:nvSpPr>
        <p:spPr>
          <a:xfrm>
            <a:off x="685800" y="6412320"/>
            <a:ext cx="41144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000000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5"/>
          </p:nvPr>
        </p:nvSpPr>
        <p:spPr>
          <a:xfrm>
            <a:off x="685800" y="6554520"/>
            <a:ext cx="5028840" cy="228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6"/>
          </p:nvPr>
        </p:nvSpPr>
        <p:spPr>
          <a:xfrm>
            <a:off x="8763840" y="5876280"/>
            <a:ext cx="2925720" cy="139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073BDF-6214-4659-86C1-9BB5B11EFE2D}" type="slidenum">
              <a:rPr lang="pt-BR" sz="10300" b="0" strike="noStrike" spc="-1">
                <a:solidFill>
                  <a:srgbClr val="549E39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pt-BR" sz="950" b="0" strike="noStrike" spc="-1">
                <a:solidFill>
                  <a:srgbClr val="FFFFFF">
                    <a:alpha val="80000"/>
                  </a:srgbClr>
                </a:solidFill>
                <a:latin typeface="Calibri Light"/>
              </a:rPr>
              <a:t>&lt;data/hora&gt;</a:t>
            </a:r>
            <a:endParaRPr lang="pt-BR" sz="95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B46FF2-7C8D-43DC-BE41-A7B598CF110F}" type="slidenum">
              <a:rPr lang="pt-BR" sz="10300" b="0" strike="noStrike" spc="-1" smtClean="0">
                <a:solidFill>
                  <a:srgbClr val="FFFFFF">
                    <a:alpha val="25000"/>
                  </a:srgbClr>
                </a:solidFill>
                <a:latin typeface="Calibri Light"/>
              </a:rPr>
              <a:t>‹nº›</a:t>
            </a:fld>
            <a:endParaRPr lang="pt-BR" sz="103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719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itejs.dev/" TargetMode="External"/><Relationship Id="rId2" Type="http://schemas.openxmlformats.org/officeDocument/2006/relationships/hyperlink" Target="https://github.com/facebook/create-react-app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gatsbyjs.org/" TargetMode="External"/><Relationship Id="rId5" Type="http://schemas.openxmlformats.org/officeDocument/2006/relationships/hyperlink" Target="https://remix.run/" TargetMode="External"/><Relationship Id="rId4" Type="http://schemas.openxmlformats.org/officeDocument/2006/relationships/hyperlink" Target="https://nextjs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mui.com/" TargetMode="External"/><Relationship Id="rId2" Type="http://schemas.openxmlformats.org/officeDocument/2006/relationships/hyperlink" Target="https://flowbite-react.com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react-bootstrap.netlify.app/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installation" TargetMode="Externa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95240" y="637920"/>
            <a:ext cx="10416960" cy="3189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8000" b="0" strike="noStrike" spc="-120" dirty="0">
                <a:solidFill>
                  <a:srgbClr val="FFFFFF"/>
                </a:solidFill>
                <a:latin typeface="Calibri Light"/>
              </a:rPr>
              <a:t>Desenvolvimento </a:t>
            </a:r>
            <a:r>
              <a:rPr lang="pt-BR" sz="8000" b="0" i="1" strike="noStrike" spc="-120" dirty="0">
                <a:solidFill>
                  <a:srgbClr val="FFFFFF"/>
                </a:solidFill>
                <a:latin typeface="Calibri Light"/>
              </a:rPr>
              <a:t>Web</a:t>
            </a:r>
            <a:r>
              <a:rPr lang="pt-BR" sz="8000" b="0" strike="noStrike" spc="-120" dirty="0">
                <a:solidFill>
                  <a:srgbClr val="FFFFFF"/>
                </a:solidFill>
                <a:latin typeface="Calibri Light"/>
              </a:rPr>
              <a:t> III</a:t>
            </a:r>
            <a:endParaRPr lang="en-US" sz="80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95240" y="4377240"/>
            <a:ext cx="10558800" cy="44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FEFFFF"/>
                </a:solidFill>
                <a:latin typeface="Calibri Light"/>
              </a:rPr>
              <a:t>Tecnologia em Análise e Desenvolvimento de Sistemas</a:t>
            </a:r>
            <a:endParaRPr lang="pt-BR" sz="2800" b="0" strike="noStrike" spc="-1" dirty="0">
              <a:latin typeface="Arial"/>
            </a:endParaRPr>
          </a:p>
        </p:txBody>
      </p:sp>
      <p:sp>
        <p:nvSpPr>
          <p:cNvPr id="91" name="Subtítulo 2"/>
          <p:cNvSpPr/>
          <p:nvPr/>
        </p:nvSpPr>
        <p:spPr>
          <a:xfrm>
            <a:off x="4220944" y="6086788"/>
            <a:ext cx="5174068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9000"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2000" b="0" strike="noStrike" spc="-1">
                <a:solidFill>
                  <a:srgbClr val="FEFFFF"/>
                </a:solidFill>
                <a:latin typeface="Calibri Light"/>
              </a:rPr>
              <a:t>Aula 1 - Introdução ao React</a:t>
            </a:r>
            <a:endParaRPr lang="pt-BR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A0A2A-B802-46EF-BE7B-B7399507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995251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75354-D14F-4B17-9AF4-E20E8366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577788"/>
            <a:ext cx="10753725" cy="4200077"/>
          </a:xfrm>
        </p:spPr>
        <p:txBody>
          <a:bodyPr>
            <a:normAutofit/>
          </a:bodyPr>
          <a:lstStyle/>
          <a:p>
            <a:r>
              <a:rPr lang="pt-BR" sz="3600" i="1" dirty="0"/>
              <a:t>Sites</a:t>
            </a:r>
            <a:r>
              <a:rPr lang="pt-BR" sz="3600" dirty="0"/>
              <a:t> ou páginas </a:t>
            </a:r>
            <a:r>
              <a:rPr lang="pt-BR" sz="3600" i="1" dirty="0"/>
              <a:t>web </a:t>
            </a:r>
            <a:r>
              <a:rPr lang="pt-BR" sz="3600" dirty="0"/>
              <a:t>normalmente utilizam mais de um equipamento computacional para serem acessados.</a:t>
            </a:r>
            <a:endParaRPr lang="pt-BR" sz="3600" i="1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8C5ED25-201B-4F07-A1C5-E97439AF8187}"/>
              </a:ext>
            </a:extLst>
          </p:cNvPr>
          <p:cNvSpPr/>
          <p:nvPr/>
        </p:nvSpPr>
        <p:spPr>
          <a:xfrm>
            <a:off x="2027738" y="3977777"/>
            <a:ext cx="1074198" cy="7224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94F2F3-670A-4F50-8E6C-850D09F2FDE1}"/>
              </a:ext>
            </a:extLst>
          </p:cNvPr>
          <p:cNvSpPr txBox="1"/>
          <p:nvPr/>
        </p:nvSpPr>
        <p:spPr>
          <a:xfrm>
            <a:off x="1853681" y="4700269"/>
            <a:ext cx="1422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Equipamento</a:t>
            </a:r>
          </a:p>
          <a:p>
            <a:pPr algn="ctr"/>
            <a:r>
              <a:rPr lang="pt-BR" dirty="0"/>
              <a:t>cliente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A89CCE-EAB8-4037-8082-B9D669E69B5C}"/>
              </a:ext>
            </a:extLst>
          </p:cNvPr>
          <p:cNvSpPr/>
          <p:nvPr/>
        </p:nvSpPr>
        <p:spPr>
          <a:xfrm>
            <a:off x="7012136" y="3977776"/>
            <a:ext cx="1074198" cy="72249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518F25-FC6D-4D81-B811-E81CC63ECD4B}"/>
              </a:ext>
            </a:extLst>
          </p:cNvPr>
          <p:cNvSpPr txBox="1"/>
          <p:nvPr/>
        </p:nvSpPr>
        <p:spPr>
          <a:xfrm>
            <a:off x="6856939" y="4709919"/>
            <a:ext cx="139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Servidor </a:t>
            </a:r>
            <a:r>
              <a:rPr lang="pt-BR" i="1" dirty="0"/>
              <a:t>web</a:t>
            </a:r>
            <a:endParaRPr lang="pt-BR" dirty="0"/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E2AF4674-0EDD-4FB3-9AD3-7771C149E650}"/>
              </a:ext>
            </a:extLst>
          </p:cNvPr>
          <p:cNvSpPr/>
          <p:nvPr/>
        </p:nvSpPr>
        <p:spPr>
          <a:xfrm>
            <a:off x="7201223" y="5557563"/>
            <a:ext cx="710214" cy="722492"/>
          </a:xfrm>
          <a:prstGeom prst="can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E80FF9-56E9-4539-9E3D-7D266422A4C0}"/>
              </a:ext>
            </a:extLst>
          </p:cNvPr>
          <p:cNvSpPr txBox="1"/>
          <p:nvPr/>
        </p:nvSpPr>
        <p:spPr>
          <a:xfrm>
            <a:off x="6934364" y="6280055"/>
            <a:ext cx="124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Repositório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B0911F9-8A11-415E-9B90-4E00349283B4}"/>
              </a:ext>
            </a:extLst>
          </p:cNvPr>
          <p:cNvSpPr/>
          <p:nvPr/>
        </p:nvSpPr>
        <p:spPr>
          <a:xfrm>
            <a:off x="7019230" y="2516659"/>
            <a:ext cx="1074198" cy="722493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DE16B8E-18BB-41D3-A744-DCFE9DF24093}"/>
              </a:ext>
            </a:extLst>
          </p:cNvPr>
          <p:cNvSpPr txBox="1"/>
          <p:nvPr/>
        </p:nvSpPr>
        <p:spPr>
          <a:xfrm>
            <a:off x="7305418" y="3228748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API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777DDD9E-B20C-4C39-B060-4C02527A1BA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101936" y="4339023"/>
            <a:ext cx="3910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10C44D2-47BB-4CCA-B6B0-539935568C0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556329" y="5079251"/>
            <a:ext cx="1" cy="336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F49919F-DB7B-4B01-A669-3D1AD979EC0C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7549235" y="3598080"/>
            <a:ext cx="0" cy="29669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D6E91B3F-780F-45B2-BB57-7B6D29CB5E35}"/>
              </a:ext>
            </a:extLst>
          </p:cNvPr>
          <p:cNvCxnSpPr>
            <a:stCxn id="4" idx="0"/>
            <a:endCxn id="14" idx="1"/>
          </p:cNvCxnSpPr>
          <p:nvPr/>
        </p:nvCxnSpPr>
        <p:spPr>
          <a:xfrm rot="5400000" flipH="1" flipV="1">
            <a:off x="4242098" y="1200646"/>
            <a:ext cx="1099871" cy="44543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D244A0-FF20-190A-B8F2-B95A419221F0}"/>
              </a:ext>
            </a:extLst>
          </p:cNvPr>
          <p:cNvCxnSpPr>
            <a:stCxn id="14" idx="3"/>
            <a:endCxn id="10" idx="4"/>
          </p:cNvCxnSpPr>
          <p:nvPr/>
        </p:nvCxnSpPr>
        <p:spPr>
          <a:xfrm flipH="1">
            <a:off x="7911437" y="2877906"/>
            <a:ext cx="181991" cy="3040903"/>
          </a:xfrm>
          <a:prstGeom prst="curvedConnector3">
            <a:avLst>
              <a:gd name="adj1" fmla="val -6379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90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9" grpId="0"/>
      <p:bldP spid="10" grpId="0" animBg="1"/>
      <p:bldP spid="12" grpId="0"/>
      <p:bldP spid="14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67459-968E-4F58-8AEC-B33AF7F6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D5907-5EBC-4C01-B90A-FF11B60B0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Cliente</a:t>
            </a:r>
          </a:p>
          <a:p>
            <a:pPr lvl="1"/>
            <a:r>
              <a:rPr lang="pt-BR" sz="3200" dirty="0"/>
              <a:t>HTML + CSS + </a:t>
            </a:r>
            <a:r>
              <a:rPr lang="pt-BR" sz="3200" dirty="0" err="1"/>
              <a:t>Javascript</a:t>
            </a:r>
            <a:endParaRPr lang="pt-BR" sz="3200" dirty="0"/>
          </a:p>
          <a:p>
            <a:r>
              <a:rPr lang="pt-BR" sz="3600" dirty="0"/>
              <a:t>Servidor (</a:t>
            </a:r>
            <a:r>
              <a:rPr lang="pt-BR" sz="3600" i="1" dirty="0"/>
              <a:t>web </a:t>
            </a:r>
            <a:r>
              <a:rPr lang="pt-BR" sz="3600" dirty="0"/>
              <a:t>e/ou</a:t>
            </a:r>
            <a:r>
              <a:rPr lang="pt-BR" sz="3600" i="1" dirty="0"/>
              <a:t> </a:t>
            </a:r>
            <a:r>
              <a:rPr lang="pt-BR" sz="3600" i="1" dirty="0" err="1"/>
              <a:t>api</a:t>
            </a:r>
            <a:r>
              <a:rPr lang="pt-BR" sz="3600" dirty="0"/>
              <a:t>)</a:t>
            </a:r>
          </a:p>
          <a:p>
            <a:pPr lvl="1"/>
            <a:r>
              <a:rPr lang="pt-BR" sz="3200" dirty="0"/>
              <a:t>PHP, Java, C#, Python, </a:t>
            </a:r>
            <a:r>
              <a:rPr lang="pt-BR" sz="3200" dirty="0" err="1"/>
              <a:t>Javascript</a:t>
            </a:r>
            <a:r>
              <a:rPr lang="pt-BR" sz="3200" dirty="0"/>
              <a:t>, etc.</a:t>
            </a:r>
          </a:p>
          <a:p>
            <a:r>
              <a:rPr lang="pt-BR" sz="3600" dirty="0"/>
              <a:t>Repositório</a:t>
            </a:r>
          </a:p>
          <a:p>
            <a:pPr lvl="1"/>
            <a:r>
              <a:rPr lang="pt-BR" sz="3200" dirty="0"/>
              <a:t>SQL, </a:t>
            </a:r>
            <a:r>
              <a:rPr lang="pt-BR" sz="3200" dirty="0" err="1"/>
              <a:t>NoSQL</a:t>
            </a:r>
            <a:r>
              <a:rPr lang="pt-BR" sz="32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09115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67459-968E-4F58-8AEC-B33AF7F6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D5907-5EBC-4C01-B90A-FF11B60B0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4518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600" dirty="0"/>
              <a:t>Conjunto de ferramentas e </a:t>
            </a:r>
            <a:r>
              <a:rPr lang="pt-BR" sz="3600" i="1" dirty="0"/>
              <a:t>software</a:t>
            </a:r>
            <a:r>
              <a:rPr lang="pt-BR" sz="3600" dirty="0"/>
              <a:t> utilizados para desenvolvimento de aplicativos (</a:t>
            </a:r>
            <a:r>
              <a:rPr lang="pt-BR" sz="3600" i="1" dirty="0"/>
              <a:t>sites</a:t>
            </a:r>
            <a:r>
              <a:rPr lang="pt-BR" sz="3600" dirty="0"/>
              <a:t>, </a:t>
            </a:r>
            <a:r>
              <a:rPr lang="pt-BR" sz="3600" i="1" dirty="0"/>
              <a:t>mobile</a:t>
            </a:r>
            <a:r>
              <a:rPr lang="pt-BR" sz="3600" dirty="0"/>
              <a:t>, etc.) contemplando várias etapas do desenvolvimento;</a:t>
            </a:r>
          </a:p>
          <a:p>
            <a:pPr marL="0" indent="0">
              <a:buNone/>
            </a:pPr>
            <a:r>
              <a:rPr lang="pt-BR" sz="3600" i="1" dirty="0"/>
              <a:t>Front-</a:t>
            </a:r>
            <a:r>
              <a:rPr lang="pt-BR" sz="3600" i="1" dirty="0" err="1"/>
              <a:t>end</a:t>
            </a:r>
            <a:endParaRPr lang="pt-BR" sz="3600" i="1" dirty="0"/>
          </a:p>
          <a:p>
            <a:pPr marL="205740" lvl="2" indent="0">
              <a:buNone/>
            </a:pPr>
            <a:r>
              <a:rPr lang="pt-BR" sz="3200" dirty="0"/>
              <a:t>Interface </a:t>
            </a:r>
            <a:r>
              <a:rPr lang="pt-BR" sz="3200" i="0" dirty="0"/>
              <a:t>com o usuário</a:t>
            </a:r>
          </a:p>
          <a:p>
            <a:pPr marL="205740" lvl="2" indent="0">
              <a:buNone/>
            </a:pPr>
            <a:r>
              <a:rPr lang="pt-BR" sz="3200" i="0" dirty="0"/>
              <a:t>Angular, </a:t>
            </a:r>
            <a:r>
              <a:rPr lang="pt-BR" sz="3200" i="0" dirty="0" err="1"/>
              <a:t>React</a:t>
            </a:r>
            <a:r>
              <a:rPr lang="pt-BR" sz="3200" i="0" dirty="0"/>
              <a:t>, </a:t>
            </a:r>
            <a:r>
              <a:rPr lang="pt-BR" sz="3200" i="0" dirty="0" err="1"/>
              <a:t>Vue</a:t>
            </a:r>
            <a:r>
              <a:rPr lang="pt-BR" sz="3200" i="0" dirty="0"/>
              <a:t>, </a:t>
            </a:r>
            <a:r>
              <a:rPr lang="pt-BR" sz="3200" i="0" dirty="0" err="1"/>
              <a:t>Svelte</a:t>
            </a:r>
            <a:r>
              <a:rPr lang="pt-BR" sz="3200" i="0" dirty="0"/>
              <a:t>, </a:t>
            </a:r>
            <a:r>
              <a:rPr lang="pt-BR" sz="3200" i="0" dirty="0" err="1"/>
              <a:t>Flutter</a:t>
            </a:r>
            <a:r>
              <a:rPr lang="pt-BR" sz="3200" i="0" dirty="0"/>
              <a:t>, </a:t>
            </a:r>
            <a:r>
              <a:rPr lang="pt-BR" sz="3200" i="0" dirty="0" err="1"/>
              <a:t>Ionic</a:t>
            </a:r>
            <a:r>
              <a:rPr lang="pt-BR" sz="3200" i="0" dirty="0"/>
              <a:t>, etc.</a:t>
            </a:r>
          </a:p>
          <a:p>
            <a:pPr marL="4572" lvl="1" indent="0">
              <a:buNone/>
            </a:pPr>
            <a:r>
              <a:rPr lang="pt-BR" sz="3600" i="1" dirty="0"/>
              <a:t>Back-</a:t>
            </a:r>
            <a:r>
              <a:rPr lang="pt-BR" sz="3600" i="1" dirty="0" err="1"/>
              <a:t>end</a:t>
            </a:r>
            <a:endParaRPr lang="pt-BR" sz="3600" i="1" dirty="0"/>
          </a:p>
          <a:p>
            <a:pPr marL="205740" lvl="2" indent="0">
              <a:buNone/>
            </a:pPr>
            <a:r>
              <a:rPr lang="pt-BR" sz="3200" i="0" dirty="0"/>
              <a:t>Operações do servidor</a:t>
            </a:r>
          </a:p>
          <a:p>
            <a:pPr marL="205740" lvl="2" indent="0">
              <a:buNone/>
            </a:pPr>
            <a:r>
              <a:rPr lang="pt-BR" sz="3200" i="0" dirty="0"/>
              <a:t>Spring, </a:t>
            </a:r>
            <a:r>
              <a:rPr lang="pt-BR" sz="3200" i="0" dirty="0" err="1"/>
              <a:t>CakePHP</a:t>
            </a:r>
            <a:r>
              <a:rPr lang="pt-BR" sz="3200" i="0" dirty="0"/>
              <a:t>, Django, </a:t>
            </a:r>
            <a:r>
              <a:rPr lang="pt-BR" sz="3200" i="0" dirty="0" err="1"/>
              <a:t>Rails</a:t>
            </a:r>
            <a:r>
              <a:rPr lang="pt-BR" sz="3200" i="0" dirty="0"/>
              <a:t>, .NET, etc.</a:t>
            </a:r>
            <a:endParaRPr lang="pt-BR" sz="2800" i="0" dirty="0"/>
          </a:p>
        </p:txBody>
      </p:sp>
    </p:spTree>
    <p:extLst>
      <p:ext uri="{BB962C8B-B14F-4D97-AF65-F5344CB8AC3E}">
        <p14:creationId xmlns:p14="http://schemas.microsoft.com/office/powerpoint/2010/main" val="346760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 ao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5882579-B734-06BB-EC66-E879B044D8B1}"/>
              </a:ext>
            </a:extLst>
          </p:cNvPr>
          <p:cNvSpPr txBox="1">
            <a:spLocks/>
          </p:cNvSpPr>
          <p:nvPr/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é uma biblioteca/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framework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Javascript para criação de interfaces com o usuário;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u="sng" strike="noStrike" spc="-1" dirty="0">
                <a:solidFill>
                  <a:srgbClr val="85C52E"/>
                </a:solidFill>
                <a:uFillTx/>
                <a:latin typeface="Calibri Light"/>
                <a:ea typeface="Calibri Light"/>
                <a:hlinkClick r:id="rId2"/>
              </a:rPr>
              <a:t>https://reactjs.org/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utilizar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em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já em desenvolvimento ou então iniciar o desenvolvimento de um novo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utilizando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5950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Introdução ao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5882579-B734-06BB-EC66-E879B044D8B1}"/>
              </a:ext>
            </a:extLst>
          </p:cNvPr>
          <p:cNvSpPr txBox="1">
            <a:spLocks/>
          </p:cNvSpPr>
          <p:nvPr/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Novos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sites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podem utilizar HTML/CSS/JS normalmente e apenas adicionar as bibliotecas necessárias para utilizar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ou então adicionar alguma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toolchain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para facilitar a sua criação;</a:t>
            </a:r>
          </a:p>
        </p:txBody>
      </p:sp>
    </p:spTree>
    <p:extLst>
      <p:ext uri="{BB962C8B-B14F-4D97-AF65-F5344CB8AC3E}">
        <p14:creationId xmlns:p14="http://schemas.microsoft.com/office/powerpoint/2010/main" val="288962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Dentro de uma função, podemos programar normalmente em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JavaScript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/JSX;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 função deve retornar o código JSX do componente, que é basicamente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template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/molde que o componente deve possuir;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Esse código é interpretado pelo Babel/Node em um código HTML, a ser renderizado pelo navegador;</a:t>
            </a:r>
          </a:p>
        </p:txBody>
      </p:sp>
    </p:spTree>
    <p:extLst>
      <p:ext uri="{BB962C8B-B14F-4D97-AF65-F5344CB8AC3E}">
        <p14:creationId xmlns:p14="http://schemas.microsoft.com/office/powerpoint/2010/main" val="427632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Exemplos de </a:t>
            </a:r>
            <a:r>
              <a:rPr lang="pt-BR" sz="5400" b="0" i="1" strike="noStrike" spc="-120">
                <a:solidFill>
                  <a:srgbClr val="549E39"/>
                </a:solidFill>
                <a:latin typeface="Calibri Light"/>
              </a:rPr>
              <a:t>toolchains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50566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2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Create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App</a:t>
            </a: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800" b="0" u="sng" strike="noStrike" spc="-1" dirty="0">
                <a:solidFill>
                  <a:srgbClr val="85C52E"/>
                </a:solidFill>
                <a:uFillTx/>
                <a:latin typeface="Calibri Light"/>
                <a:hlinkClick r:id="rId2"/>
              </a:rPr>
              <a:t>https://github.com/facebook/create-react-app</a:t>
            </a:r>
            <a:endParaRPr lang="en-US" sz="2800" b="0" i="1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Vite</a:t>
            </a: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800" b="0" strike="noStrike" spc="-1" dirty="0">
                <a:solidFill>
                  <a:srgbClr val="262626"/>
                </a:solidFill>
                <a:latin typeface="Calibri Light"/>
                <a:hlinkClick r:id="rId3"/>
              </a:rPr>
              <a:t>https://vitejs.dev</a:t>
            </a:r>
            <a:endParaRPr lang="pt-BR" sz="28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Next.js</a:t>
            </a: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800" b="0" u="sng" strike="noStrike" spc="-1" dirty="0">
                <a:solidFill>
                  <a:srgbClr val="85C52E"/>
                </a:solidFill>
                <a:uFillTx/>
                <a:latin typeface="Calibri Light"/>
                <a:hlinkClick r:id="rId4"/>
              </a:rPr>
              <a:t>https://nextjs.org</a:t>
            </a:r>
            <a:endParaRPr lang="en-US" sz="2800" b="0" i="1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Remix</a:t>
            </a: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800" b="0" strike="noStrike" spc="-1" dirty="0">
                <a:solidFill>
                  <a:srgbClr val="262626"/>
                </a:solidFill>
                <a:latin typeface="Calibri Light"/>
                <a:hlinkClick r:id="rId5"/>
              </a:rPr>
              <a:t>https://remix.run</a:t>
            </a:r>
            <a:endParaRPr lang="pt-BR" sz="28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Gatsby</a:t>
            </a:r>
          </a:p>
          <a:p>
            <a:pPr marL="548640" lvl="1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2800" b="0" u="sng" strike="noStrike" spc="-1" dirty="0">
                <a:solidFill>
                  <a:srgbClr val="85C52E"/>
                </a:solidFill>
                <a:uFillTx/>
                <a:latin typeface="Calibri Light"/>
                <a:hlinkClick r:id="rId6"/>
              </a:rPr>
              <a:t>https://www.gatsbyjs.org</a:t>
            </a:r>
            <a:r>
              <a:rPr lang="pt-BR" sz="28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endParaRPr lang="en-US" sz="2800" b="0" i="1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Alterações no </a:t>
            </a:r>
            <a:r>
              <a:rPr lang="pt-BR" sz="5400" b="0" strike="noStrike" spc="-120" dirty="0" err="1">
                <a:solidFill>
                  <a:srgbClr val="549E39"/>
                </a:solidFill>
                <a:latin typeface="Calibri Light"/>
              </a:rPr>
              <a:t>React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50566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 a evolução do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ao invés de utilizar a biblioteca para criar componentes na interface, podemos utilizar módulos diversos para prover diversas outras funcionalidades.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Outra possibilidade é a utilização de um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framework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Iremos utilizar na disciplina o Next.js,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framework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para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de forma a facilitar o desenvolvimento. </a:t>
            </a:r>
          </a:p>
        </p:txBody>
      </p:sp>
    </p:spTree>
    <p:extLst>
      <p:ext uri="{BB962C8B-B14F-4D97-AF65-F5344CB8AC3E}">
        <p14:creationId xmlns:p14="http://schemas.microsoft.com/office/powerpoint/2010/main" val="271140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Primeiro projeto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76800" y="1757160"/>
            <a:ext cx="10753200" cy="40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Instale o node.js, disponível em: </a:t>
            </a:r>
            <a:r>
              <a:rPr lang="pt-BR" sz="3200" b="0" u="sng" strike="noStrike" spc="-1" dirty="0">
                <a:solidFill>
                  <a:srgbClr val="85C52E"/>
                </a:solidFill>
                <a:uFillTx/>
                <a:latin typeface="Calibri Light"/>
                <a:hlinkClick r:id="rId2"/>
              </a:rPr>
              <a:t>https://nodejs.org/en/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	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 startAt="2"/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Abra o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powershell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(terminal), vá na pasta que quer criar a raiz do projeto e digite: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algn="ctr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npx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create-next-app@latest</a:t>
            </a:r>
            <a:endParaRPr lang="pt-BR" sz="3200" b="0" strike="noStrike" spc="-1" dirty="0">
              <a:solidFill>
                <a:srgbClr val="262626"/>
              </a:solidFill>
              <a:latin typeface="Consolas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spc="-1" dirty="0">
                <a:solidFill>
                  <a:srgbClr val="262626"/>
                </a:solidFill>
                <a:latin typeface="Consolas"/>
              </a:rPr>
              <a:t>		</a:t>
            </a:r>
            <a:r>
              <a:rPr lang="pt-BR" sz="3200" spc="-1" dirty="0">
                <a:solidFill>
                  <a:srgbClr val="262626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Escolha todas as opções padrão.</a:t>
            </a:r>
            <a:endParaRPr lang="pt-BR" sz="3200" b="0" strike="noStrike" spc="-1" dirty="0">
              <a:solidFill>
                <a:srgbClr val="262626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3. Instale o Visual Studio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Code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(ou outro editor de textos que queira utilizar);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Primeiro projeto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76800" y="1757160"/>
            <a:ext cx="10753200" cy="40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 startAt="4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Abra a pasta do projeto no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Code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(ou em outro editor de textos que queira utilizar);</a:t>
            </a:r>
          </a:p>
          <a:p>
            <a:pPr marL="0" indent="0" algn="ctr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None/>
            </a:pPr>
            <a:r>
              <a:rPr lang="pt-BR" sz="3200" spc="-1" dirty="0" err="1">
                <a:solidFill>
                  <a:srgbClr val="262626"/>
                </a:solidFill>
                <a:latin typeface="Consolas" panose="020B0609020204030204" pitchFamily="49" charset="0"/>
              </a:rPr>
              <a:t>code</a:t>
            </a:r>
            <a:r>
              <a:rPr lang="pt-BR" sz="3200" spc="-1" dirty="0">
                <a:solidFill>
                  <a:srgbClr val="262626"/>
                </a:solidFill>
                <a:latin typeface="Consolas" panose="020B0609020204030204" pitchFamily="49" charset="0"/>
              </a:rPr>
              <a:t> –r </a:t>
            </a:r>
            <a:r>
              <a:rPr lang="pt-BR" sz="3200" spc="-1" dirty="0" err="1">
                <a:solidFill>
                  <a:srgbClr val="262626"/>
                </a:solidFill>
                <a:latin typeface="Consolas" panose="020B0609020204030204" pitchFamily="49" charset="0"/>
              </a:rPr>
              <a:t>nomeProjeto</a:t>
            </a:r>
            <a:endParaRPr lang="en-US" sz="3200" strike="noStrike" spc="-1" dirty="0">
              <a:solidFill>
                <a:srgbClr val="262626"/>
              </a:solidFill>
              <a:latin typeface="Consolas" panose="020B0609020204030204" pitchFamily="49" charset="0"/>
            </a:endParaRPr>
          </a:p>
          <a:p>
            <a:pPr marL="742950" indent="-74295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+mj-lt"/>
              <a:buAutoNum type="arabicPeriod" startAt="5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Abra um terminal e inicie o serviço: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algn="ctr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npm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run</a:t>
            </a:r>
            <a:r>
              <a:rPr lang="pt-BR" sz="3200" b="0" strike="noStrike" spc="-1" dirty="0">
                <a:solidFill>
                  <a:srgbClr val="262626"/>
                </a:solidFill>
                <a:latin typeface="Consolas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onsolas"/>
              </a:rPr>
              <a:t>dev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Primeiro projeto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76800" y="1810327"/>
            <a:ext cx="10753200" cy="490450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 lnSpcReduction="2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Conteúdo da pasta criada: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C00000"/>
                </a:solidFill>
                <a:latin typeface="Calibri Light"/>
              </a:rPr>
              <a:t> .</a:t>
            </a:r>
            <a:r>
              <a:rPr lang="pt-BR" sz="3200" b="0" strike="noStrike" spc="-1" dirty="0" err="1">
                <a:solidFill>
                  <a:srgbClr val="C00000"/>
                </a:solidFill>
                <a:latin typeface="Calibri Light"/>
              </a:rPr>
              <a:t>next</a:t>
            </a:r>
            <a:r>
              <a:rPr lang="pt-BR" sz="3200" b="0" strike="noStrike" spc="-1" dirty="0">
                <a:solidFill>
                  <a:srgbClr val="C00000"/>
                </a:solidFill>
                <a:latin typeface="Calibri Light"/>
              </a:rPr>
              <a:t>: pasta com códigos temporários do Next; 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C00000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C00000"/>
                </a:solidFill>
                <a:latin typeface="Calibri Light"/>
              </a:rPr>
              <a:t>node_modules</a:t>
            </a:r>
            <a:r>
              <a:rPr lang="pt-BR" sz="3200" b="0" strike="noStrike" spc="-1" dirty="0">
                <a:solidFill>
                  <a:srgbClr val="C00000"/>
                </a:solidFill>
                <a:latin typeface="Calibri Light"/>
              </a:rPr>
              <a:t>: módulos do node.js disponíveis para utilização;</a:t>
            </a:r>
            <a:endParaRPr lang="en-US" sz="3200" b="0" strike="noStrike" spc="-1" dirty="0">
              <a:solidFill>
                <a:srgbClr val="C00000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public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: arquivos estáticos acessados pelo navegador;</a:t>
            </a: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1" strike="noStrike" spc="-1" dirty="0" err="1">
                <a:solidFill>
                  <a:srgbClr val="262626"/>
                </a:solidFill>
                <a:latin typeface="Calibri Light"/>
              </a:rPr>
              <a:t>sr</a:t>
            </a:r>
            <a:r>
              <a:rPr lang="pt-BR" sz="3200" b="1" spc="-1" dirty="0" err="1">
                <a:solidFill>
                  <a:srgbClr val="262626"/>
                </a:solidFill>
                <a:latin typeface="Calibri Light"/>
              </a:rPr>
              <a:t>c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/</a:t>
            </a:r>
            <a:r>
              <a:rPr lang="pt-BR" sz="3200" b="1" strike="noStrike" spc="-1" dirty="0">
                <a:solidFill>
                  <a:srgbClr val="262626"/>
                </a:solidFill>
                <a:latin typeface="Calibri Light"/>
              </a:rPr>
              <a:t>app: pas</a:t>
            </a:r>
            <a:r>
              <a:rPr lang="pt-BR" sz="3200" b="1" spc="-1" dirty="0">
                <a:solidFill>
                  <a:srgbClr val="262626"/>
                </a:solidFill>
                <a:latin typeface="Calibri Light"/>
              </a:rPr>
              <a:t>ta com o código que iremos programar;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 .</a:t>
            </a:r>
            <a:r>
              <a:rPr lang="pt-BR" sz="3200" strike="noStrike" spc="-1" dirty="0" err="1">
                <a:solidFill>
                  <a:srgbClr val="262626"/>
                </a:solidFill>
                <a:latin typeface="Calibri Light"/>
              </a:rPr>
              <a:t>gitignore</a:t>
            </a: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: arquivo de configuração do </a:t>
            </a:r>
            <a:r>
              <a:rPr lang="pt-BR" sz="3200" strike="noStrike" spc="-1" dirty="0" err="1">
                <a:solidFill>
                  <a:srgbClr val="262626"/>
                </a:solidFill>
                <a:latin typeface="Calibri Light"/>
              </a:rPr>
              <a:t>git</a:t>
            </a: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strike="noStrike" spc="-1" dirty="0" err="1">
                <a:solidFill>
                  <a:srgbClr val="262626"/>
                </a:solidFill>
                <a:latin typeface="Calibri Light"/>
              </a:rPr>
              <a:t>jsconfig.json</a:t>
            </a:r>
            <a:r>
              <a:rPr lang="pt-BR" sz="3200" strike="noStrike" spc="-1" dirty="0">
                <a:solidFill>
                  <a:srgbClr val="262626"/>
                </a:solidFill>
                <a:latin typeface="Calibri Light"/>
              </a:rPr>
              <a:t>: arquivo de configuração de compilação;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spc="-1" dirty="0" err="1">
                <a:solidFill>
                  <a:srgbClr val="262626"/>
                </a:solidFill>
                <a:latin typeface="Calibri Light"/>
              </a:rPr>
              <a:t>next.config.mjs</a:t>
            </a:r>
            <a:r>
              <a:rPr lang="pt-BR" sz="3200" spc="-1" dirty="0">
                <a:solidFill>
                  <a:srgbClr val="262626"/>
                </a:solidFill>
                <a:latin typeface="Calibri Light"/>
              </a:rPr>
              <a:t>: arquivo de configuração do Next;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spc="-1" dirty="0">
                <a:solidFill>
                  <a:srgbClr val="C00000"/>
                </a:solidFill>
                <a:latin typeface="Calibri Light"/>
              </a:rPr>
              <a:t> </a:t>
            </a:r>
            <a:r>
              <a:rPr lang="pt-BR" sz="3200" spc="-1" dirty="0" err="1">
                <a:solidFill>
                  <a:srgbClr val="C00000"/>
                </a:solidFill>
                <a:latin typeface="Calibri Light"/>
              </a:rPr>
              <a:t>package-lock.json</a:t>
            </a:r>
            <a:r>
              <a:rPr lang="pt-BR" sz="3200" spc="-1" dirty="0">
                <a:solidFill>
                  <a:srgbClr val="C00000"/>
                </a:solidFill>
                <a:latin typeface="Calibri Light"/>
              </a:rPr>
              <a:t>: arquivo temporário do </a:t>
            </a:r>
            <a:r>
              <a:rPr lang="pt-BR" sz="3200" spc="-1" dirty="0" err="1">
                <a:solidFill>
                  <a:srgbClr val="C00000"/>
                </a:solidFill>
                <a:latin typeface="Calibri Light"/>
              </a:rPr>
              <a:t>npm</a:t>
            </a:r>
            <a:r>
              <a:rPr lang="pt-BR" sz="3200" spc="-1" dirty="0">
                <a:solidFill>
                  <a:srgbClr val="C00000"/>
                </a:solidFill>
                <a:latin typeface="Calibri Light"/>
              </a:rPr>
              <a:t>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package.json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: arquivo de configuração de módulos do </a:t>
            </a:r>
            <a:r>
              <a:rPr lang="pt-BR" sz="3200" b="0" i="1" strike="noStrike" spc="-1" dirty="0">
                <a:solidFill>
                  <a:srgbClr val="262626"/>
                </a:solidFill>
                <a:latin typeface="Calibri Light"/>
              </a:rPr>
              <a:t>site;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postcss.config.mjs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: arquivo de configuração do </a:t>
            </a:r>
            <a:r>
              <a:rPr lang="pt-BR" sz="3200" b="0" strike="noStrike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2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•"/>
            </a:pPr>
            <a:endParaRPr lang="en-US" sz="32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77432" y="720436"/>
            <a:ext cx="10772280" cy="1146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Passos iniciais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76440" y="1983211"/>
            <a:ext cx="10753200" cy="487478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 único arquivo com HTML fica em app/layout.js. Em nenhum outro lugar do código iremos trabalhar com arquivos HTML.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Por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enquanto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não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vamos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trabalhar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com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arquivos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de </a:t>
            </a:r>
            <a:r>
              <a:rPr lang="en-US" sz="3600" b="0" i="1" strike="noStrike" spc="-1" dirty="0">
                <a:solidFill>
                  <a:srgbClr val="262626"/>
                </a:solidFill>
                <a:latin typeface="Calibri Light"/>
              </a:rPr>
              <a:t>layout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,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então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vamos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deixar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este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arquivo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do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jeito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que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ele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se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encontra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Passos iniciais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27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Nossos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sites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no momento, serão criados utilizando o padrão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Single Page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Application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(SPA).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Normalmente ao carregar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o seu conteúdo é processado no servidor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web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 o resultado do processamento é retornado ao navegador.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uma ação ou um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link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seja pressionado, essa operação é informada ao servidor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web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um novo processamento é realizado e uma nova página é enviada ao navegador.</a:t>
            </a:r>
            <a:endParaRPr lang="en-US" sz="3600" b="0" i="1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Passos iniciais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27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 aplicações SPA, não queremos que isto aconteça.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Ao invés de, a cada requisição, renderizar novamente toda a página, queremos apenas trocar os componentes exibidos na página, sem que o servidor 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web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precise enviar a nova página para o navegador.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Como fazer isso? Javascript.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4439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Passos iniciais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27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Considere o seguinte código: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2" name="CaixaDeTexto 4">
            <a:extLst>
              <a:ext uri="{FF2B5EF4-FFF2-40B4-BE49-F238E27FC236}">
                <a16:creationId xmlns:a16="http://schemas.microsoft.com/office/drawing/2014/main" id="{6D9206B6-31DF-7B4F-B16A-33B1E165C906}"/>
              </a:ext>
            </a:extLst>
          </p:cNvPr>
          <p:cNvSpPr/>
          <p:nvPr/>
        </p:nvSpPr>
        <p:spPr>
          <a:xfrm>
            <a:off x="762000" y="2557487"/>
            <a:ext cx="10772280" cy="4113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 need to enable JavaScript to run this app.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br>
              <a:rPr lang="en-US" dirty="0"/>
            </a:br>
            <a:endParaRPr lang="en-US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134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Passos iniciais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27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Vamos supor que queremos adicionar um parágrafo com a frase “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Hello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World” no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div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com o id </a:t>
            </a:r>
            <a:r>
              <a:rPr lang="pt-BR" sz="3600" b="1" strike="noStrike" spc="-1" dirty="0">
                <a:solidFill>
                  <a:srgbClr val="549E39"/>
                </a:solidFill>
                <a:latin typeface="Calibri Light"/>
              </a:rPr>
              <a:t>root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 Isto pode ser feito basicamente de três formas diferentes: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Utilizando  HTML puro;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Utilizando JS para criação do código HTML;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514440" indent="-514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Calibri Light"/>
              <a:buAutoNum type="arabicPeriod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Utilizando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(ou outra linguagem reativa) para criação do código HTML.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66612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Utilizando HTML puro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8" name="CaixaDeTexto 4"/>
          <p:cNvSpPr/>
          <p:nvPr/>
        </p:nvSpPr>
        <p:spPr>
          <a:xfrm>
            <a:off x="1446120" y="1890360"/>
            <a:ext cx="9714600" cy="41137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 need to enable JavaScript to run this app.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 world!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Utilizando JS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0" name="CaixaDeTexto 5"/>
          <p:cNvSpPr/>
          <p:nvPr/>
        </p:nvSpPr>
        <p:spPr>
          <a:xfrm>
            <a:off x="578160" y="1707840"/>
            <a:ext cx="11806200" cy="40919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enable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app.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"&lt;p&gt;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world&lt;/p&gt;"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Utilizando JS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0" name="CaixaDeTexto 5"/>
          <p:cNvSpPr/>
          <p:nvPr/>
        </p:nvSpPr>
        <p:spPr>
          <a:xfrm>
            <a:off x="578160" y="1707840"/>
            <a:ext cx="11806200" cy="4969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enable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app.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conteudo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createTextNode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world'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conteudo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appendChild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994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Utilizando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CaixaDeTexto 4"/>
          <p:cNvSpPr/>
          <p:nvPr/>
        </p:nvSpPr>
        <p:spPr>
          <a:xfrm>
            <a:off x="657360" y="1847160"/>
            <a:ext cx="10772280" cy="4054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enable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app.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jsx</a:t>
            </a:r>
            <a:r>
              <a:rPr lang="pt-B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("root");</a:t>
            </a: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ReactDOM.render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world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app)</a:t>
            </a:r>
          </a:p>
          <a:p>
            <a:r>
              <a:rPr lang="pt-B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3" name="CaixaDeTexto 5"/>
          <p:cNvSpPr/>
          <p:nvPr/>
        </p:nvSpPr>
        <p:spPr>
          <a:xfrm>
            <a:off x="3050280" y="6488640"/>
            <a:ext cx="67100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1800" b="1" strike="noStrike" spc="-1">
                <a:solidFill>
                  <a:srgbClr val="C00000"/>
                </a:solidFill>
                <a:latin typeface="Calibri Light"/>
              </a:rPr>
              <a:t>Esse código não compila pois estão faltando as referências para o React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76800" y="1676160"/>
            <a:ext cx="11282040" cy="45274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manipula o DOM de forma a adicionar e remover elementos;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DOM é uma representação, em formato de objeto, dos elementos HTML de uma pagina;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Apenas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partes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novas</a:t>
            </a:r>
            <a:r>
              <a:rPr lang="en-US" sz="3600" b="0" strike="noStrike" spc="-1" dirty="0">
                <a:solidFill>
                  <a:srgbClr val="262626"/>
                </a:solidFill>
                <a:latin typeface="Calibri Light"/>
              </a:rPr>
              <a:t> do </a:t>
            </a:r>
            <a:r>
              <a:rPr lang="en-US" sz="3600" b="0" strike="noStrike" spc="-1" dirty="0" err="1">
                <a:solidFill>
                  <a:srgbClr val="262626"/>
                </a:solidFill>
                <a:latin typeface="Calibri Light"/>
              </a:rPr>
              <a:t>código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são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atualizadas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;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React é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uma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biblioteca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en-US" sz="3600" spc="-1" dirty="0" err="1">
                <a:solidFill>
                  <a:srgbClr val="262626"/>
                </a:solidFill>
                <a:latin typeface="Calibri Light"/>
              </a:rPr>
              <a:t>declarativa</a:t>
            </a:r>
            <a:r>
              <a:rPr lang="en-US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56478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76800" y="1676160"/>
            <a:ext cx="11282040" cy="433019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52EA120-EDEE-F43E-E3AD-E38B4CD74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958" y="2031988"/>
            <a:ext cx="5997887" cy="353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DFB375A-6694-3076-04CD-BF610D578FB4}"/>
              </a:ext>
            </a:extLst>
          </p:cNvPr>
          <p:cNvSpPr txBox="1"/>
          <p:nvPr/>
        </p:nvSpPr>
        <p:spPr>
          <a:xfrm>
            <a:off x="2489496" y="5739988"/>
            <a:ext cx="7213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Fonte: https://nextjs.org/learn/foundations/from-javascript-to-react</a:t>
            </a:r>
          </a:p>
        </p:txBody>
      </p:sp>
    </p:spTree>
    <p:extLst>
      <p:ext uri="{BB962C8B-B14F-4D97-AF65-F5344CB8AC3E}">
        <p14:creationId xmlns:p14="http://schemas.microsoft.com/office/powerpoint/2010/main" val="1333653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O código em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é escrito em uma sintaxe parecida com o Javascript (ou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Typescript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), que é compilada depois em um Javascript único, enviado ao navegador para que possa ser executado.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Sua extensão pode ser 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js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ou 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jsx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(Javascript) ou 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ou .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tsx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(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Typescript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42081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Nas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versões anteriores do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cada componente era escrita como uma classe. Ainda é possível fazer a implementação desta forma, mas não é o recomendado atualmente.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Atualmente programa-se cada componente como uma fun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ção Javascript.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63229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 função deve retornar o código JSX (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Javscript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XML) do componente, que é basicamente um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template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/molde que o componente deve possuir;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Esse código é interpretado pelo Babel/Node em um código HTML, a ser renderizado pelo navegador;</a:t>
            </a:r>
          </a:p>
        </p:txBody>
      </p:sp>
    </p:spTree>
    <p:extLst>
      <p:ext uri="{BB962C8B-B14F-4D97-AF65-F5344CB8AC3E}">
        <p14:creationId xmlns:p14="http://schemas.microsoft.com/office/powerpoint/2010/main" val="595857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Entendendo React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76800" y="1676160"/>
            <a:ext cx="1128204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Ao usar o Next.js, a página que será exibida ao acessar 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será o componente escrito em app/page.js.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Este componente pode ser escrito como uma função normal, ou como uma função anônima.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 qualquer forma, é necessário que a função seja exportada por padrão (requisito do Next.js).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21BF9B-667E-0618-F6E2-3A68EE8D7B2B}"/>
              </a:ext>
            </a:extLst>
          </p:cNvPr>
          <p:cNvSpPr txBox="1"/>
          <p:nvPr/>
        </p:nvSpPr>
        <p:spPr>
          <a:xfrm>
            <a:off x="762360" y="2303346"/>
            <a:ext cx="6423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C46565-F1E3-9378-ABA1-F9D46FB9AD8D}"/>
              </a:ext>
            </a:extLst>
          </p:cNvPr>
          <p:cNvSpPr txBox="1"/>
          <p:nvPr/>
        </p:nvSpPr>
        <p:spPr>
          <a:xfrm>
            <a:off x="767337" y="423751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 = () =&gt;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pagina;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B2BB61-D3BF-835B-B000-FC4AA3B19BB4}"/>
              </a:ext>
            </a:extLst>
          </p:cNvPr>
          <p:cNvSpPr txBox="1"/>
          <p:nvPr/>
        </p:nvSpPr>
        <p:spPr>
          <a:xfrm>
            <a:off x="762360" y="1788148"/>
            <a:ext cx="3106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 função padrão: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687622-99AD-F1F8-A74C-901BFFE378EF}"/>
              </a:ext>
            </a:extLst>
          </p:cNvPr>
          <p:cNvSpPr txBox="1"/>
          <p:nvPr/>
        </p:nvSpPr>
        <p:spPr>
          <a:xfrm>
            <a:off x="762359" y="3756377"/>
            <a:ext cx="3352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 função anônima: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261DDD2E-CE42-AB72-E38A-6623F3DC3B1D}"/>
              </a:ext>
            </a:extLst>
          </p:cNvPr>
          <p:cNvSpPr txBox="1">
            <a:spLocks/>
          </p:cNvSpPr>
          <p:nvPr/>
        </p:nvSpPr>
        <p:spPr>
          <a:xfrm>
            <a:off x="7185890" y="2011679"/>
            <a:ext cx="4244109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ambos os casos, o código será compilado e será retornado ao navegador um código HTML com o conteúdo a ser exibido.</a:t>
            </a:r>
          </a:p>
        </p:txBody>
      </p:sp>
    </p:spTree>
    <p:extLst>
      <p:ext uri="{BB962C8B-B14F-4D97-AF65-F5344CB8AC3E}">
        <p14:creationId xmlns:p14="http://schemas.microsoft.com/office/powerpoint/2010/main" val="2102097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261DDD2E-CE42-AB72-E38A-6623F3DC3B1D}"/>
              </a:ext>
            </a:extLst>
          </p:cNvPr>
          <p:cNvSpPr txBox="1">
            <a:spLocks/>
          </p:cNvSpPr>
          <p:nvPr/>
        </p:nvSpPr>
        <p:spPr>
          <a:xfrm>
            <a:off x="657360" y="2011679"/>
            <a:ext cx="10772639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Em ambos os casos, o código será compilado e será retornado ao navegador um código HTML com o conteúdo a ser exibido.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Altere o conteúdo do arquivo “page.js” para o anterior, e use o comando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npm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run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dev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para executar o código.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a página fique com a formatação estranha, deixe apenas a primeira linha do arquivo app/globals.css, excluindo o restante.</a:t>
            </a:r>
          </a:p>
        </p:txBody>
      </p:sp>
    </p:spTree>
    <p:extLst>
      <p:ext uri="{BB962C8B-B14F-4D97-AF65-F5344CB8AC3E}">
        <p14:creationId xmlns:p14="http://schemas.microsoft.com/office/powerpoint/2010/main" val="115865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mais comum utilizarmos um parêntese para indicar o retorno: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0E7A02-DC4D-9056-C1A3-5AB6FA6D4605}"/>
              </a:ext>
            </a:extLst>
          </p:cNvPr>
          <p:cNvSpPr txBox="1"/>
          <p:nvPr/>
        </p:nvSpPr>
        <p:spPr>
          <a:xfrm>
            <a:off x="762000" y="3361693"/>
            <a:ext cx="61283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23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76800" y="2011679"/>
            <a:ext cx="10753200" cy="447876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mais comum utilizarmos um parêntese para indicar o retorno: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7DAC3-792D-1531-2044-01E4ED20AEC6}"/>
              </a:ext>
            </a:extLst>
          </p:cNvPr>
          <p:cNvSpPr txBox="1"/>
          <p:nvPr/>
        </p:nvSpPr>
        <p:spPr>
          <a:xfrm>
            <a:off x="762000" y="325615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 = () =&gt;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pagina;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7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76800" y="1958109"/>
            <a:ext cx="10753200" cy="423605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De qualquer forma, apenas um elemento deve estar na raiz do código a ser retornado.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211A70-FF13-2ADA-C262-3577FC0B6230}"/>
              </a:ext>
            </a:extLst>
          </p:cNvPr>
          <p:cNvSpPr txBox="1"/>
          <p:nvPr/>
        </p:nvSpPr>
        <p:spPr>
          <a:xfrm>
            <a:off x="1108362" y="3311332"/>
            <a:ext cx="7222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   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world!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848F51-B852-F23E-2BB7-78BC052BE0CD}"/>
              </a:ext>
            </a:extLst>
          </p:cNvPr>
          <p:cNvSpPr txBox="1"/>
          <p:nvPr/>
        </p:nvSpPr>
        <p:spPr>
          <a:xfrm>
            <a:off x="9153236" y="4525819"/>
            <a:ext cx="181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ERRADO!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76800" y="1958109"/>
            <a:ext cx="10753200" cy="423605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De qualquer forma, apenas um elemento deve estar na raiz do código a ser retornado.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3ECB4A-1924-766D-3A60-D77FA1F8C010}"/>
              </a:ext>
            </a:extLst>
          </p:cNvPr>
          <p:cNvSpPr txBox="1"/>
          <p:nvPr/>
        </p:nvSpPr>
        <p:spPr>
          <a:xfrm>
            <a:off x="881893" y="3258980"/>
            <a:ext cx="69043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world!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3378D0-2AF9-C906-70B7-7650D18AB46A}"/>
              </a:ext>
            </a:extLst>
          </p:cNvPr>
          <p:cNvSpPr txBox="1"/>
          <p:nvPr/>
        </p:nvSpPr>
        <p:spPr>
          <a:xfrm>
            <a:off x="9153236" y="4525819"/>
            <a:ext cx="1385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chemeClr val="accent1"/>
                </a:solidFill>
              </a:rPr>
              <a:t>Correto</a:t>
            </a:r>
          </a:p>
        </p:txBody>
      </p:sp>
    </p:spTree>
    <p:extLst>
      <p:ext uri="{BB962C8B-B14F-4D97-AF65-F5344CB8AC3E}">
        <p14:creationId xmlns:p14="http://schemas.microsoft.com/office/powerpoint/2010/main" val="1863103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Entendendo </a:t>
            </a:r>
            <a:r>
              <a:rPr lang="pt-BR" sz="5400" b="0" strike="noStrike" spc="-120" dirty="0" err="1">
                <a:solidFill>
                  <a:srgbClr val="549E39"/>
                </a:solidFill>
                <a:latin typeface="Calibri Light"/>
              </a:rPr>
              <a:t>React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76800" y="1958109"/>
            <a:ext cx="10753200" cy="423605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Podemos também criar uma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tag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chamada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Fragment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criando uma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tag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&lt;&gt; e a encerrando com &lt;/&gt;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.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211A70-FF13-2ADA-C262-3577FC0B6230}"/>
              </a:ext>
            </a:extLst>
          </p:cNvPr>
          <p:cNvSpPr txBox="1"/>
          <p:nvPr/>
        </p:nvSpPr>
        <p:spPr>
          <a:xfrm>
            <a:off x="988289" y="3163327"/>
            <a:ext cx="71027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Olá mundo!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world!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669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Entendendo </a:t>
            </a:r>
            <a:r>
              <a:rPr lang="pt-BR" sz="5400" b="0" strike="noStrike" spc="-120" dirty="0" err="1">
                <a:solidFill>
                  <a:srgbClr val="549E39"/>
                </a:solidFill>
                <a:latin typeface="Calibri Light"/>
              </a:rPr>
              <a:t>React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76800" y="1792800"/>
            <a:ext cx="10753200" cy="4867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20000"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usar componentes dentro de outros componentes.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Crie o arquivo app/mensagem.js com o conteúdo: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Não se esqueça de fazer a exportação do componente, caso contrário, ele não poderá ser importado por outro componente. 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208A84-2159-C4AC-E610-964AD7B335C2}"/>
              </a:ext>
            </a:extLst>
          </p:cNvPr>
          <p:cNvSpPr txBox="1"/>
          <p:nvPr/>
        </p:nvSpPr>
        <p:spPr>
          <a:xfrm>
            <a:off x="831272" y="2761375"/>
            <a:ext cx="82203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Bem-vindo!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76800" y="1739160"/>
            <a:ext cx="10753200" cy="4038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Importe a função Mensagem em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app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/page.js;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Para utilizar um componente do tipo Mensagem, basta criá-lo como uma marcação HTML: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02395F-D1F5-D260-8686-93119FF5405F}"/>
              </a:ext>
            </a:extLst>
          </p:cNvPr>
          <p:cNvSpPr txBox="1"/>
          <p:nvPr/>
        </p:nvSpPr>
        <p:spPr>
          <a:xfrm>
            <a:off x="762000" y="3758400"/>
            <a:ext cx="83265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"./mensagem"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Entendendo </a:t>
            </a:r>
            <a:r>
              <a:rPr lang="pt-BR" sz="5400" b="0" strike="noStrike" spc="-120" dirty="0" err="1">
                <a:solidFill>
                  <a:srgbClr val="549E39"/>
                </a:solidFill>
                <a:latin typeface="Calibri Light"/>
              </a:rPr>
              <a:t>React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76800" y="1604520"/>
            <a:ext cx="10753200" cy="4172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É possível adicionar mais de um componente do mesmo tipo, desde que o retorno da função tenha apenas um elemento na raiz: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2BF9FA-8EA8-63D2-5083-7833B70F096F}"/>
              </a:ext>
            </a:extLst>
          </p:cNvPr>
          <p:cNvSpPr txBox="1"/>
          <p:nvPr/>
        </p:nvSpPr>
        <p:spPr>
          <a:xfrm>
            <a:off x="762000" y="326232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"./mensagem"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0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2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(ou propriedades) se comportam como variáveis para componentes;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Um componente pode receber um objeto como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Esse objeto pode ter diversos atributos de tipos comuns ou outros objetos;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  <a:ea typeface="Calibri Light"/>
              </a:rPr>
              <a:t>Props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  <a:ea typeface="Calibri Light"/>
              </a:rPr>
              <a:t> são apenas leitura, ou seja, não é possível alterar o seu valor.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No componente que irá passar o valor da variável, utilize um atributo HTML para informar o valor.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No componente que irá receber o valor, adicione nos argumentos da função o objeto 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Para utilizar o argumento dentro do </a:t>
            </a:r>
            <a:r>
              <a:rPr lang="pt-BR" sz="3600" i="1" strike="noStrike" spc="-1" dirty="0" err="1">
                <a:solidFill>
                  <a:srgbClr val="262626"/>
                </a:solidFill>
                <a:latin typeface="Calibri Light"/>
              </a:rPr>
              <a:t>return</a:t>
            </a:r>
            <a:r>
              <a:rPr lang="pt-BR" sz="360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da função, é necessário usar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b="1" spc="-1" dirty="0" err="1">
                <a:solidFill>
                  <a:srgbClr val="262626"/>
                </a:solidFill>
                <a:latin typeface="Calibri Light"/>
              </a:rPr>
              <a:t>.nomeAtributo</a:t>
            </a:r>
            <a:r>
              <a:rPr lang="pt-BR" sz="3600" b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entre chaves.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endParaRPr lang="en-US" sz="360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94458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57360" y="901161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01AA39-E188-E59E-90DA-8E741F0DE91C}"/>
              </a:ext>
            </a:extLst>
          </p:cNvPr>
          <p:cNvSpPr txBox="1"/>
          <p:nvPr/>
        </p:nvSpPr>
        <p:spPr>
          <a:xfrm>
            <a:off x="657360" y="2503575"/>
            <a:ext cx="92902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"./mensagem"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"Tiago"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57360" y="893440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3735E1-6812-A7E0-C77D-6240ED24C452}"/>
              </a:ext>
            </a:extLst>
          </p:cNvPr>
          <p:cNvSpPr txBox="1"/>
          <p:nvPr/>
        </p:nvSpPr>
        <p:spPr>
          <a:xfrm>
            <a:off x="657360" y="2640114"/>
            <a:ext cx="83816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Mensagem(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Bem-vindo,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props.nome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0719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38280" y="745659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i="1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2E801DD-1B8F-DA09-79DE-5F33499EF4AE}"/>
              </a:ext>
            </a:extLst>
          </p:cNvPr>
          <p:cNvSpPr txBox="1">
            <a:spLocks/>
          </p:cNvSpPr>
          <p:nvPr/>
        </p:nvSpPr>
        <p:spPr>
          <a:xfrm>
            <a:off x="676440" y="2281382"/>
            <a:ext cx="10753200" cy="421698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não queira trabalhar com a sintaxe de objetos, utilize um objeto anônimo nos argumentos da função:</a:t>
            </a:r>
            <a:endParaRPr lang="en-US" sz="36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4EDBBE-7BC9-A701-F36C-6EE11E97DE2D}"/>
              </a:ext>
            </a:extLst>
          </p:cNvPr>
          <p:cNvSpPr txBox="1"/>
          <p:nvPr/>
        </p:nvSpPr>
        <p:spPr>
          <a:xfrm>
            <a:off x="762360" y="3429000"/>
            <a:ext cx="82573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Mensagem({ nome })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Bem-vindo,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{nome}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835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57360" y="80640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2E801DD-1B8F-DA09-79DE-5F33499EF4AE}"/>
              </a:ext>
            </a:extLst>
          </p:cNvPr>
          <p:cNvSpPr txBox="1">
            <a:spLocks/>
          </p:cNvSpPr>
          <p:nvPr/>
        </p:nvSpPr>
        <p:spPr>
          <a:xfrm>
            <a:off x="676440" y="1219200"/>
            <a:ext cx="10753200" cy="527917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possível utilizar mais de um argumento como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o valor do atributo seja diferente de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é necessário que ele seja informado entre chaves.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FCDA28-7E0C-B410-AC29-E001C62666A7}"/>
              </a:ext>
            </a:extLst>
          </p:cNvPr>
          <p:cNvSpPr txBox="1"/>
          <p:nvPr/>
        </p:nvSpPr>
        <p:spPr>
          <a:xfrm>
            <a:off x="762360" y="3187066"/>
            <a:ext cx="9194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"./mensagem"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"Tiago"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idade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={18}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420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57360" y="80640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2E801DD-1B8F-DA09-79DE-5F33499EF4AE}"/>
              </a:ext>
            </a:extLst>
          </p:cNvPr>
          <p:cNvSpPr txBox="1">
            <a:spLocks/>
          </p:cNvSpPr>
          <p:nvPr/>
        </p:nvSpPr>
        <p:spPr>
          <a:xfrm>
            <a:off x="676440" y="1219200"/>
            <a:ext cx="10753200" cy="527917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É possível utilizar mais de um argumento como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props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Caso o valor do atributo seja diferente de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é necessário que ele seja informado entre chaves.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B4B693-F013-4662-F22A-3D5F5912B03D}"/>
              </a:ext>
            </a:extLst>
          </p:cNvPr>
          <p:cNvSpPr txBox="1"/>
          <p:nvPr/>
        </p:nvSpPr>
        <p:spPr>
          <a:xfrm>
            <a:off x="762359" y="3429000"/>
            <a:ext cx="109401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Mensagem({ nome, idade })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Bem-vindo,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{nome}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 Você possui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{idade}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anos.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998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57360" y="123612"/>
            <a:ext cx="10772280" cy="967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i="1" strike="noStrike" spc="-120" dirty="0" err="1">
                <a:solidFill>
                  <a:srgbClr val="549E39"/>
                </a:solidFill>
                <a:latin typeface="Calibri Light"/>
              </a:rPr>
              <a:t>Props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 (</a:t>
            </a:r>
            <a:r>
              <a:rPr lang="pt-BR" sz="5400" b="0" i="1" strike="noStrike" spc="-120" dirty="0">
                <a:solidFill>
                  <a:srgbClr val="549E39"/>
                </a:solidFill>
                <a:latin typeface="Calibri Light"/>
              </a:rPr>
              <a:t>Properties</a:t>
            </a: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)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2E801DD-1B8F-DA09-79DE-5F33499EF4AE}"/>
              </a:ext>
            </a:extLst>
          </p:cNvPr>
          <p:cNvSpPr txBox="1">
            <a:spLocks/>
          </p:cNvSpPr>
          <p:nvPr/>
        </p:nvSpPr>
        <p:spPr>
          <a:xfrm>
            <a:off x="676440" y="1091292"/>
            <a:ext cx="10753200" cy="540707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Como o componente se comporta como um padrão, é possível utilizá-lo diversas vezes sem a necessidade de alterar seu código.</a:t>
            </a:r>
          </a:p>
          <a:p>
            <a:pPr marL="91440" indent="-9144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endParaRPr lang="en-US" sz="3600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67CF9E-9C88-914E-577A-BB054C86CF53}"/>
              </a:ext>
            </a:extLst>
          </p:cNvPr>
          <p:cNvSpPr txBox="1"/>
          <p:nvPr/>
        </p:nvSpPr>
        <p:spPr>
          <a:xfrm>
            <a:off x="762360" y="2579404"/>
            <a:ext cx="99887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Mensagem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"./mensagem"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"Tiago"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idade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={18}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Alvaro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idade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={20}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"Mauro"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idade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={19}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430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>
                <a:solidFill>
                  <a:srgbClr val="549E39"/>
                </a:solidFill>
                <a:latin typeface="Calibri Light"/>
              </a:rPr>
              <a:t>Exercício</a:t>
            </a:r>
            <a:endParaRPr lang="en-US" sz="5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Crie um site em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utilizando 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framework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Next.js (do início, não edite o arquivo atual) em que devem ser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exibidos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 nome, a data de nascimento, o endereço, a cidade, estado e CEP de você e mais três colegas. Crie um componente para exibir os dados de uma pessoa e o utilize para exibir os dados de todos.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Podemos fazer a estilização “em linha” de uma </a:t>
            </a:r>
            <a:r>
              <a:rPr lang="pt-BR" sz="3600" b="0" i="1" strike="noStrike" spc="-1" dirty="0" err="1">
                <a:solidFill>
                  <a:srgbClr val="262626"/>
                </a:solidFill>
                <a:latin typeface="Calibri Light"/>
              </a:rPr>
              <a:t>tag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alterando a sua propriedade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style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que deve receber um objeto com as propriedades desejadas.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Como em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qualquer valor que seja diferente de uma </a:t>
            </a:r>
            <a:r>
              <a:rPr lang="pt-BR" sz="3600" i="1" spc="-1" dirty="0" err="1">
                <a:solidFill>
                  <a:srgbClr val="262626"/>
                </a:solidFill>
                <a:latin typeface="Calibri Light"/>
              </a:rPr>
              <a:t>string</a:t>
            </a:r>
            <a:r>
              <a:rPr lang="pt-BR" sz="3600" i="1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deve ser informado com chaves, é necessário passar este objeto dentro de chaves.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5893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Exemplo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3662C0-97C5-5FB5-7EFF-3591BA6A3381}"/>
              </a:ext>
            </a:extLst>
          </p:cNvPr>
          <p:cNvSpPr txBox="1"/>
          <p:nvPr/>
        </p:nvSpPr>
        <p:spPr>
          <a:xfrm>
            <a:off x="657360" y="2157480"/>
            <a:ext cx="111852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style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={{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backgroundColor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color: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'#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ffffff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}}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Mensagem de aviso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40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Também podemos criar classes no arquivo `app/globals.css`: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03DA9E-C69E-B708-E07C-3303BE0AD70B}"/>
              </a:ext>
            </a:extLst>
          </p:cNvPr>
          <p:cNvSpPr txBox="1"/>
          <p:nvPr/>
        </p:nvSpPr>
        <p:spPr>
          <a:xfrm>
            <a:off x="1163782" y="332081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tailwindxss</a:t>
            </a:r>
            <a:r>
              <a:rPr lang="pt-B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.alerta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background-color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112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376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E utilizar essas classes nos componentes. Para isso, alteramos o atributo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className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03DA9E-C69E-B708-E07C-3303BE0AD70B}"/>
              </a:ext>
            </a:extLst>
          </p:cNvPr>
          <p:cNvSpPr txBox="1"/>
          <p:nvPr/>
        </p:nvSpPr>
        <p:spPr>
          <a:xfrm>
            <a:off x="1006763" y="3524011"/>
            <a:ext cx="94210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"alerta"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Este é um alerta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948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Também podemos utilizar bibliotecas para estilização de páginas, como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Bootstrap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MUI, etc.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Como o Next.js vem com 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por padrão (se o escolhemos na hora da criação do projeto), vamos utilizá-lo.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Caso não q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ueira utilizar o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, basta não instalá-lo durante a criação do projeto, e instalar a biblioteca desejada após a criação do projeto.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70334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Com 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configurado, basta utilizar os nomes de suas classes dentro do atributo </a:t>
            </a:r>
            <a:r>
              <a:rPr lang="pt-BR" sz="3600" b="1" strike="noStrike" spc="-1" dirty="0" err="1">
                <a:solidFill>
                  <a:srgbClr val="262626"/>
                </a:solidFill>
                <a:latin typeface="Calibri Light"/>
              </a:rPr>
              <a:t>className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CD760A-AC4D-D71D-9687-D929E86C8A18}"/>
              </a:ext>
            </a:extLst>
          </p:cNvPr>
          <p:cNvSpPr txBox="1"/>
          <p:nvPr/>
        </p:nvSpPr>
        <p:spPr>
          <a:xfrm>
            <a:off x="0" y="3429000"/>
            <a:ext cx="12191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"bg-red-600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px-2 py-4"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Este é um alerta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639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não possui classes co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mplexas, como para botões, por exemplo. Para fazer uma estilização de um botão, devemos usar várias classes para tal.</a:t>
            </a: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E436CB-B51C-C2D1-6389-9F30B47483B5}"/>
              </a:ext>
            </a:extLst>
          </p:cNvPr>
          <p:cNvSpPr txBox="1"/>
          <p:nvPr/>
        </p:nvSpPr>
        <p:spPr>
          <a:xfrm>
            <a:off x="544945" y="3948883"/>
            <a:ext cx="113699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bg-emerald-700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hover:bg-emerald-600 active:bg-emerald-500"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54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7934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1496291"/>
            <a:ext cx="10753200" cy="48620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Uma opção é criar classes no arquivo app/globals.css. No entanto, isto irá aumentar o arquivo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css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gerado pelo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site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.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5B8A30-5471-C841-A870-FEED2A6B1AA5}"/>
              </a:ext>
            </a:extLst>
          </p:cNvPr>
          <p:cNvSpPr txBox="1"/>
          <p:nvPr/>
        </p:nvSpPr>
        <p:spPr>
          <a:xfrm>
            <a:off x="584437" y="3072348"/>
            <a:ext cx="113222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@import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tailwindxss</a:t>
            </a:r>
            <a:r>
              <a:rPr lang="pt-B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@layer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components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btn-main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@apply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bg-red-500 text-white hover:bg-red-600 px-4 py-2 rounded-md;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430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7934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1496291"/>
            <a:ext cx="10753200" cy="486202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937B14-3615-902B-B8F8-E7CFB42A07FC}"/>
              </a:ext>
            </a:extLst>
          </p:cNvPr>
          <p:cNvSpPr txBox="1"/>
          <p:nvPr/>
        </p:nvSpPr>
        <p:spPr>
          <a:xfrm>
            <a:off x="657360" y="1861649"/>
            <a:ext cx="113868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export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Pagina()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"px-4 py-2 bg-emerald-700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text-white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t-B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rounded-md</a:t>
            </a:r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hover:bg-emerald-600 active:bg-emerald-500"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Salvar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pt-BR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 </a:t>
            </a:r>
            <a:r>
              <a:rPr lang="en-US" sz="24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btn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-main"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400" dirty="0" err="1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Cancelar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555555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55555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&lt;/&gt;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pt-BR" sz="3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387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Outra opção é bibliotecas com componentes prontos:</a:t>
            </a:r>
          </a:p>
          <a:p>
            <a:pPr>
              <a:lnSpc>
                <a:spcPct val="85000"/>
              </a:lnSpc>
              <a:spcBef>
                <a:spcPts val="1301"/>
              </a:spcBef>
              <a:tabLst>
                <a:tab pos="0" algn="l"/>
              </a:tabLst>
            </a:pP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Flowbite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(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hlinkClick r:id="rId2"/>
              </a:rPr>
              <a:t>https://flowbite-react.com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</a:t>
            </a:r>
          </a:p>
          <a:p>
            <a:pPr>
              <a:lnSpc>
                <a:spcPct val="85000"/>
              </a:lnSpc>
              <a:spcBef>
                <a:spcPts val="1301"/>
              </a:spcBef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MUI (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  <a:hlinkClick r:id="rId3"/>
              </a:rPr>
              <a:t>https://mui.com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)</a:t>
            </a:r>
          </a:p>
          <a:p>
            <a:pPr>
              <a:lnSpc>
                <a:spcPct val="85000"/>
              </a:lnSpc>
              <a:spcBef>
                <a:spcPts val="1301"/>
              </a:spcBef>
              <a:tabLst>
                <a:tab pos="0" algn="l"/>
              </a:tabLst>
            </a:pP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spc="-1" dirty="0" err="1">
                <a:solidFill>
                  <a:srgbClr val="262626"/>
                </a:solidFill>
                <a:latin typeface="Calibri Light"/>
              </a:rPr>
              <a:t>Bootstrap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 (</a:t>
            </a:r>
            <a:r>
              <a:rPr lang="pt-BR" sz="3600" spc="-1" dirty="0">
                <a:solidFill>
                  <a:srgbClr val="262626"/>
                </a:solidFill>
                <a:latin typeface="Calibri Light"/>
                <a:hlinkClick r:id="rId4"/>
              </a:rPr>
              <a:t>https://react-bootstrap.netlify.app</a:t>
            </a:r>
            <a:r>
              <a:rPr lang="pt-BR" sz="3600" spc="-1" dirty="0">
                <a:solidFill>
                  <a:srgbClr val="262626"/>
                </a:solidFill>
                <a:latin typeface="Calibri Light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084808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Estilização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Para mais informações sobre as classes do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Tailwind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, consulte sua documentação:</a:t>
            </a: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  <a:hlinkClick r:id="rId2"/>
              </a:rPr>
              <a:t>https://tailwindcss.com/docs/installation</a:t>
            </a: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200" b="0" strike="noStrike" spc="-1" dirty="0">
              <a:solidFill>
                <a:srgbClr val="26262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091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57360" y="499680"/>
            <a:ext cx="10772280" cy="165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pt-BR" sz="5400" b="0" strike="noStrike" spc="-120" dirty="0">
                <a:solidFill>
                  <a:srgbClr val="549E39"/>
                </a:solidFill>
                <a:latin typeface="Calibri Light"/>
              </a:rPr>
              <a:t>Exercício</a:t>
            </a:r>
            <a:endParaRPr lang="en-US" sz="5400" b="0" strike="noStrike" spc="-1" dirty="0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76800" y="2011680"/>
            <a:ext cx="10753200" cy="4346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Crie um site em </a:t>
            </a:r>
            <a:r>
              <a:rPr lang="pt-BR" sz="3600" b="0" strike="noStrike" spc="-1" dirty="0" err="1">
                <a:solidFill>
                  <a:srgbClr val="262626"/>
                </a:solidFill>
                <a:latin typeface="Calibri Light"/>
              </a:rPr>
              <a:t>React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 utilizando o </a:t>
            </a:r>
            <a:r>
              <a:rPr lang="pt-BR" sz="3600" b="0" i="1" strike="noStrike" spc="-1" dirty="0">
                <a:solidFill>
                  <a:srgbClr val="262626"/>
                </a:solidFill>
                <a:latin typeface="Calibri Light"/>
              </a:rPr>
              <a:t>framework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Next.js (do início, não edite o arquivo atual) em que devem ser </a:t>
            </a:r>
            <a:r>
              <a:rPr lang="pt-BR" sz="3600" strike="noStrike" spc="-1" dirty="0">
                <a:solidFill>
                  <a:srgbClr val="262626"/>
                </a:solidFill>
                <a:latin typeface="Calibri Light"/>
              </a:rPr>
              <a:t>exibidos</a:t>
            </a:r>
            <a:r>
              <a:rPr lang="pt-BR" sz="3600" b="1" strike="noStrike" spc="-1" dirty="0">
                <a:solidFill>
                  <a:srgbClr val="262626"/>
                </a:solidFill>
                <a:latin typeface="Calibri Light"/>
              </a:rPr>
              <a:t> </a:t>
            </a:r>
            <a:r>
              <a:rPr lang="pt-BR" sz="3600" b="0" strike="noStrike" spc="-1" dirty="0">
                <a:solidFill>
                  <a:srgbClr val="262626"/>
                </a:solidFill>
                <a:latin typeface="Calibri Light"/>
              </a:rPr>
              <a:t>o nome, a data de nascimento, o endereço, a cidade, estado e CEP de você e mais três colegas. Crie um componente para exibir os dados de uma pessoa e o utilize para exibir os dados de todos. Faça a estilização da interface da forma que preferir.</a:t>
            </a:r>
            <a:endParaRPr lang="en-US" sz="3600" b="0" strike="noStrike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600" spc="-1" dirty="0">
              <a:solidFill>
                <a:srgbClr val="262626"/>
              </a:solidFill>
              <a:latin typeface="Calibri Light"/>
            </a:endParaRPr>
          </a:p>
          <a:p>
            <a:pPr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pt-BR" sz="3200" b="0" strike="noStrike" spc="-1" dirty="0">
              <a:solidFill>
                <a:srgbClr val="26262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9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etropolitan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1E4BA9E9C42A54E88462E275E801199" ma:contentTypeVersion="9" ma:contentTypeDescription="Crie um novo documento." ma:contentTypeScope="" ma:versionID="6f4be91b6d2fafa111ecaaf11af29522">
  <xsd:schema xmlns:xsd="http://www.w3.org/2001/XMLSchema" xmlns:xs="http://www.w3.org/2001/XMLSchema" xmlns:p="http://schemas.microsoft.com/office/2006/metadata/properties" xmlns:ns3="2deb5dab-a077-43b6-b751-52fc3a7d4e54" xmlns:ns4="fcfb4ca9-cfbc-4ea8-8768-0ff92180580f" targetNamespace="http://schemas.microsoft.com/office/2006/metadata/properties" ma:root="true" ma:fieldsID="e133e2dc819e7e09129c4e318786a485" ns3:_="" ns4:_="">
    <xsd:import namespace="2deb5dab-a077-43b6-b751-52fc3a7d4e54"/>
    <xsd:import namespace="fcfb4ca9-cfbc-4ea8-8768-0ff92180580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eb5dab-a077-43b6-b751-52fc3a7d4e5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b4ca9-cfbc-4ea8-8768-0ff9218058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89C947-A719-4500-A701-547F134A12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eb5dab-a077-43b6-b751-52fc3a7d4e54"/>
    <ds:schemaRef ds:uri="fcfb4ca9-cfbc-4ea8-8768-0ff9218058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8D9A5B-6EC7-4A50-9EFA-782F358DFAFF}">
  <ds:schemaRefs>
    <ds:schemaRef ds:uri="fcfb4ca9-cfbc-4ea8-8768-0ff92180580f"/>
    <ds:schemaRef ds:uri="http://schemas.microsoft.com/office/2006/documentManagement/types"/>
    <ds:schemaRef ds:uri="http://schemas.microsoft.com/office/infopath/2007/PartnerControls"/>
    <ds:schemaRef ds:uri="2deb5dab-a077-43b6-b751-52fc3a7d4e54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24C3285-25AB-4979-B6C5-70AD9BB471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950</TotalTime>
  <Words>3205</Words>
  <Application>Microsoft Office PowerPoint</Application>
  <PresentationFormat>Widescreen</PresentationFormat>
  <Paragraphs>409</Paragraphs>
  <Slides>58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58</vt:i4>
      </vt:variant>
    </vt:vector>
  </HeadingPairs>
  <TitlesOfParts>
    <vt:vector size="68" baseType="lpstr">
      <vt:lpstr>Arial</vt:lpstr>
      <vt:lpstr>Calibri Light</vt:lpstr>
      <vt:lpstr>Cascadia Mono</vt:lpstr>
      <vt:lpstr>Consolas</vt:lpstr>
      <vt:lpstr>Symbol</vt:lpstr>
      <vt:lpstr>Times New Roman</vt:lpstr>
      <vt:lpstr>Wingdings</vt:lpstr>
      <vt:lpstr>Office Theme</vt:lpstr>
      <vt:lpstr>Office Theme</vt:lpstr>
      <vt:lpstr>Metropolitano</vt:lpstr>
      <vt:lpstr>Desenvolvimento Web III</vt:lpstr>
      <vt:lpstr>Introdução</vt:lpstr>
      <vt:lpstr>Tecnologias</vt:lpstr>
      <vt:lpstr>Tecnologias</vt:lpstr>
      <vt:lpstr>Introdução ao React</vt:lpstr>
      <vt:lpstr>Introdução ao React</vt:lpstr>
      <vt:lpstr>Entendendo React</vt:lpstr>
      <vt:lpstr>Exemplos de toolchains</vt:lpstr>
      <vt:lpstr>Alterações no React</vt:lpstr>
      <vt:lpstr>Primeiro projeto</vt:lpstr>
      <vt:lpstr>Primeiro projeto</vt:lpstr>
      <vt:lpstr>Primeiro projeto</vt:lpstr>
      <vt:lpstr>Passos iniciais</vt:lpstr>
      <vt:lpstr>Passos iniciais</vt:lpstr>
      <vt:lpstr>Passos iniciais</vt:lpstr>
      <vt:lpstr>Passos iniciais</vt:lpstr>
      <vt:lpstr>Passos iniciais</vt:lpstr>
      <vt:lpstr>Utilizando HTML puro</vt:lpstr>
      <vt:lpstr>Utilizando JS</vt:lpstr>
      <vt:lpstr>Utilizando JS</vt:lpstr>
      <vt:lpstr>Utilizando React</vt:lpstr>
      <vt:lpstr>Entendendo React</vt:lpstr>
      <vt:lpstr>Entendendo React</vt:lpstr>
      <vt:lpstr>Entendendo React</vt:lpstr>
      <vt:lpstr>Entendendo React</vt:lpstr>
      <vt:lpstr>Entendendo React</vt:lpstr>
      <vt:lpstr>Entendendo React</vt:lpstr>
      <vt:lpstr>Exemplo</vt:lpstr>
      <vt:lpstr>Exemplo</vt:lpstr>
      <vt:lpstr>Exemplo</vt:lpstr>
      <vt:lpstr>Exemplo</vt:lpstr>
      <vt:lpstr>Exemplo</vt:lpstr>
      <vt:lpstr>Exemplo</vt:lpstr>
      <vt:lpstr>Entendendo React</vt:lpstr>
      <vt:lpstr>Entendendo React</vt:lpstr>
      <vt:lpstr>Exemplo</vt:lpstr>
      <vt:lpstr>Entendendo React</vt:lpstr>
      <vt:lpstr>Props (Properties)</vt:lpstr>
      <vt:lpstr>Props (Properties)</vt:lpstr>
      <vt:lpstr>Exemplo</vt:lpstr>
      <vt:lpstr>Exemplo</vt:lpstr>
      <vt:lpstr>Props (Properties)</vt:lpstr>
      <vt:lpstr>Props (Properties)</vt:lpstr>
      <vt:lpstr>Props (Properties)</vt:lpstr>
      <vt:lpstr>Props (Properties)</vt:lpstr>
      <vt:lpstr>Exercício</vt:lpstr>
      <vt:lpstr>Estilização</vt:lpstr>
      <vt:lpstr>Exemplo</vt:lpstr>
      <vt:lpstr>Estilização</vt:lpstr>
      <vt:lpstr>Estilização</vt:lpstr>
      <vt:lpstr>Estilização</vt:lpstr>
      <vt:lpstr>Estilização</vt:lpstr>
      <vt:lpstr>Estilização</vt:lpstr>
      <vt:lpstr>Estilização</vt:lpstr>
      <vt:lpstr>Estilização</vt:lpstr>
      <vt:lpstr>Estilização</vt:lpstr>
      <vt:lpstr>Estilização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Web III</dc:title>
  <dc:subject/>
  <dc:creator>Tiago Docusse</dc:creator>
  <dc:description/>
  <cp:lastModifiedBy>Tiago Docusse</cp:lastModifiedBy>
  <cp:revision>321</cp:revision>
  <dcterms:created xsi:type="dcterms:W3CDTF">2020-10-26T16:07:06Z</dcterms:created>
  <dcterms:modified xsi:type="dcterms:W3CDTF">2026-02-05T11:34:51Z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59</vt:i4>
  </property>
  <property fmtid="{D5CDD505-2E9C-101B-9397-08002B2CF9AE}" pid="5" name="ContentTypeId">
    <vt:lpwstr>0x01010061E4BA9E9C42A54E88462E275E801199</vt:lpwstr>
  </property>
</Properties>
</file>