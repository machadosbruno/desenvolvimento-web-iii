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rgbClr val="262626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3541D0D-707C-4E66-89AA-0C4F55B1B90C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3064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8155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5945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6108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1188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775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90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75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3541D0D-707C-4E66-89AA-0C4F55B1B90C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225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7552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81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3541D0D-707C-4E66-89AA-0C4F55B1B90C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2822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10D64-6AAB-4E3A-AE90-701163AD6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341" y="637953"/>
            <a:ext cx="10417155" cy="3189507"/>
          </a:xfrm>
        </p:spPr>
        <p:txBody>
          <a:bodyPr>
            <a:normAutofit/>
          </a:bodyPr>
          <a:lstStyle/>
          <a:p>
            <a:pPr algn="l"/>
            <a:r>
              <a:rPr lang="pt-BR" sz="8000" dirty="0">
                <a:solidFill>
                  <a:srgbClr val="FFFFFF"/>
                </a:solidFill>
              </a:rPr>
              <a:t>Desenvolvimento </a:t>
            </a:r>
            <a:r>
              <a:rPr lang="pt-BR" sz="8000" i="1" dirty="0">
                <a:solidFill>
                  <a:srgbClr val="FFFFFF"/>
                </a:solidFill>
              </a:rPr>
              <a:t>Web</a:t>
            </a:r>
            <a:r>
              <a:rPr lang="pt-BR" sz="8000" dirty="0">
                <a:solidFill>
                  <a:srgbClr val="FFFFFF"/>
                </a:solidFill>
              </a:rPr>
              <a:t> III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49E26A-A090-4D30-87AD-C7DEA044D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342" y="4377268"/>
            <a:ext cx="10559198" cy="443307"/>
          </a:xfrm>
        </p:spPr>
        <p:txBody>
          <a:bodyPr anchor="t">
            <a:normAutofit lnSpcReduction="10000"/>
          </a:bodyPr>
          <a:lstStyle/>
          <a:p>
            <a:pPr algn="l"/>
            <a:r>
              <a:rPr lang="pt-BR" sz="2800" dirty="0">
                <a:solidFill>
                  <a:srgbClr val="FEFFFF"/>
                </a:solidFill>
              </a:rPr>
              <a:t>Tecnologia em Análise e Desenvolvimento de Sistemas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89F292C6-BDFD-42AC-8D23-A1D71C6BB608}"/>
              </a:ext>
            </a:extLst>
          </p:cNvPr>
          <p:cNvSpPr txBox="1">
            <a:spLocks/>
          </p:cNvSpPr>
          <p:nvPr/>
        </p:nvSpPr>
        <p:spPr>
          <a:xfrm>
            <a:off x="5234176" y="5776740"/>
            <a:ext cx="2010002" cy="44330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rgbClr val="26262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rgbClr val="FEFFFF"/>
                </a:solidFill>
              </a:rPr>
              <a:t>Descrição da disciplina</a:t>
            </a:r>
          </a:p>
        </p:txBody>
      </p:sp>
    </p:spTree>
    <p:extLst>
      <p:ext uri="{BB962C8B-B14F-4D97-AF65-F5344CB8AC3E}">
        <p14:creationId xmlns:p14="http://schemas.microsoft.com/office/powerpoint/2010/main" val="184547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A0A2A-B802-46EF-BE7B-B73995074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Informações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75354-D14F-4B17-9AF4-E20E83669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726471"/>
          </a:xfrm>
        </p:spPr>
        <p:txBody>
          <a:bodyPr>
            <a:normAutofit/>
          </a:bodyPr>
          <a:lstStyle/>
          <a:p>
            <a:r>
              <a:rPr lang="pt-BR" sz="3600" dirty="0"/>
              <a:t>Aulas</a:t>
            </a:r>
          </a:p>
          <a:p>
            <a:pPr lvl="2"/>
            <a:r>
              <a:rPr lang="pt-BR" sz="2800" i="0" dirty="0"/>
              <a:t>Quinta-feira, 19:00 – 22:15;</a:t>
            </a:r>
          </a:p>
          <a:p>
            <a:pPr lvl="2"/>
            <a:endParaRPr lang="pt-BR" sz="2400" dirty="0"/>
          </a:p>
          <a:p>
            <a:r>
              <a:rPr lang="pt-BR" sz="3600" dirty="0"/>
              <a:t>Objetivos</a:t>
            </a:r>
          </a:p>
          <a:p>
            <a:pPr lvl="1"/>
            <a:r>
              <a:rPr lang="pt-BR" sz="2800" dirty="0"/>
              <a:t>Capacitar o aluno a desenvolver sistemas para a </a:t>
            </a:r>
            <a:r>
              <a:rPr lang="pt-BR" sz="2800" i="1" dirty="0"/>
              <a:t>web</a:t>
            </a:r>
            <a:r>
              <a:rPr lang="pt-BR" sz="2800" dirty="0"/>
              <a:t> utilizando um </a:t>
            </a:r>
            <a:r>
              <a:rPr lang="pt-BR" sz="2800" i="1" dirty="0"/>
              <a:t>framework</a:t>
            </a:r>
            <a:r>
              <a:rPr lang="pt-BR" sz="2800" dirty="0"/>
              <a:t>.</a:t>
            </a:r>
          </a:p>
          <a:p>
            <a:r>
              <a:rPr lang="pt-BR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8904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0C239-7A96-4392-9FFC-A44C9874E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Conteúdo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583BAC-33B5-48DB-B89A-73EE500E2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433944"/>
          </a:xfrm>
        </p:spPr>
        <p:txBody>
          <a:bodyPr>
            <a:normAutofit lnSpcReduction="10000"/>
          </a:bodyPr>
          <a:lstStyle/>
          <a:p>
            <a:r>
              <a:rPr lang="pt-BR" sz="2800" dirty="0"/>
              <a:t>Projeto de sistemas para </a:t>
            </a:r>
            <a:r>
              <a:rPr lang="pt-BR" sz="2800" i="1" dirty="0"/>
              <a:t>web</a:t>
            </a:r>
            <a:r>
              <a:rPr lang="pt-BR" sz="2800" dirty="0"/>
              <a:t>;</a:t>
            </a:r>
          </a:p>
          <a:p>
            <a:r>
              <a:rPr lang="pt-BR" sz="2800" dirty="0"/>
              <a:t>Desenvolvimento de sistema comercial;</a:t>
            </a:r>
          </a:p>
          <a:p>
            <a:r>
              <a:rPr lang="pt-BR" sz="2800" dirty="0"/>
              <a:t>Integração com sistemas legados;</a:t>
            </a:r>
          </a:p>
          <a:p>
            <a:r>
              <a:rPr lang="pt-BR" sz="2800" dirty="0"/>
              <a:t>Desenvolvimento de </a:t>
            </a:r>
            <a:r>
              <a:rPr lang="pt-BR" sz="2800" i="1" dirty="0"/>
              <a:t>web </a:t>
            </a:r>
            <a:r>
              <a:rPr lang="pt-BR" sz="2800" i="1" dirty="0" err="1"/>
              <a:t>services</a:t>
            </a:r>
            <a:r>
              <a:rPr lang="pt-BR" sz="2800" dirty="0"/>
              <a:t>;</a:t>
            </a:r>
          </a:p>
          <a:p>
            <a:r>
              <a:rPr lang="pt-BR" sz="2800" dirty="0"/>
              <a:t>Requisições assíncronas;</a:t>
            </a:r>
          </a:p>
          <a:p>
            <a:r>
              <a:rPr lang="pt-BR" sz="2800" dirty="0"/>
              <a:t>Introdução a </a:t>
            </a:r>
            <a:r>
              <a:rPr lang="pt-BR" sz="2800" i="1" dirty="0"/>
              <a:t>frameworks</a:t>
            </a:r>
            <a:r>
              <a:rPr lang="pt-BR" sz="2800" dirty="0"/>
              <a:t>;</a:t>
            </a:r>
          </a:p>
          <a:p>
            <a:r>
              <a:rPr lang="pt-BR" sz="2800" dirty="0"/>
              <a:t>Implementação de um sistema </a:t>
            </a:r>
            <a:r>
              <a:rPr lang="pt-BR" sz="2800" i="1" dirty="0"/>
              <a:t>web </a:t>
            </a:r>
            <a:r>
              <a:rPr lang="pt-BR" sz="2800" dirty="0"/>
              <a:t>utilizando </a:t>
            </a:r>
            <a:r>
              <a:rPr lang="pt-BR" sz="2800" i="1" dirty="0"/>
              <a:t>framework </a:t>
            </a:r>
            <a:r>
              <a:rPr lang="pt-BR" sz="2800" dirty="0"/>
              <a:t>e acesso a banco de dados;</a:t>
            </a:r>
          </a:p>
          <a:p>
            <a:r>
              <a:rPr lang="pt-BR" sz="2800" dirty="0"/>
              <a:t>Documentação e testes do sistema.</a:t>
            </a:r>
          </a:p>
        </p:txBody>
      </p:sp>
    </p:spTree>
    <p:extLst>
      <p:ext uri="{BB962C8B-B14F-4D97-AF65-F5344CB8AC3E}">
        <p14:creationId xmlns:p14="http://schemas.microsoft.com/office/powerpoint/2010/main" val="2973587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3963D-6D4E-4B71-8108-002318FE3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09FDCE-CB15-47FC-B07F-BBFDAC421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575551"/>
          </a:xfrm>
        </p:spPr>
        <p:txBody>
          <a:bodyPr>
            <a:normAutofit fontScale="92500" lnSpcReduction="10000"/>
          </a:bodyPr>
          <a:lstStyle/>
          <a:p>
            <a:r>
              <a:rPr lang="pt-BR" sz="2800" dirty="0"/>
              <a:t>Básica</a:t>
            </a:r>
          </a:p>
          <a:p>
            <a:pPr lvl="1"/>
            <a:r>
              <a:rPr lang="pt-BR" dirty="0"/>
              <a:t>DEITEL, P.; DEITEL, H. </a:t>
            </a:r>
            <a:r>
              <a:rPr lang="pt-BR" b="1" dirty="0"/>
              <a:t>Java como programar</a:t>
            </a:r>
            <a:r>
              <a:rPr lang="pt-BR" dirty="0"/>
              <a:t>. 8. ed. São Paulo: Pearson </a:t>
            </a:r>
            <a:r>
              <a:rPr lang="pt-BR" dirty="0" err="1"/>
              <a:t>Education</a:t>
            </a:r>
            <a:r>
              <a:rPr lang="pt-BR" dirty="0"/>
              <a:t> do Brasil, 2010. 1144 p.</a:t>
            </a:r>
          </a:p>
          <a:p>
            <a:pPr lvl="1"/>
            <a:r>
              <a:rPr lang="pt-BR" dirty="0"/>
              <a:t>NIEDERAUER, J. </a:t>
            </a:r>
            <a:r>
              <a:rPr lang="pt-BR" b="1" dirty="0"/>
              <a:t>Desenvolvendo Websites com PHP</a:t>
            </a:r>
            <a:r>
              <a:rPr lang="pt-BR" dirty="0"/>
              <a:t>. São Paulo: </a:t>
            </a:r>
            <a:r>
              <a:rPr lang="pt-BR" dirty="0" err="1"/>
              <a:t>Novatec</a:t>
            </a:r>
            <a:r>
              <a:rPr lang="pt-BR" dirty="0"/>
              <a:t>, 2007. 320 p.</a:t>
            </a:r>
          </a:p>
          <a:p>
            <a:pPr lvl="1"/>
            <a:r>
              <a:rPr lang="pt-BR" dirty="0"/>
              <a:t>SHEPHERD, G. </a:t>
            </a:r>
            <a:r>
              <a:rPr lang="pt-BR" b="1" dirty="0"/>
              <a:t>Microsoft ASP.NET 3.5</a:t>
            </a:r>
            <a:r>
              <a:rPr lang="pt-BR" dirty="0"/>
              <a:t>: passo a passo. Porto Alegre: Bookman, 2009. 590 p.</a:t>
            </a:r>
          </a:p>
          <a:p>
            <a:r>
              <a:rPr lang="pt-BR" sz="2800" dirty="0"/>
              <a:t>Complementar</a:t>
            </a:r>
          </a:p>
          <a:p>
            <a:pPr lvl="1"/>
            <a:r>
              <a:rPr lang="pt-BR" dirty="0"/>
              <a:t>DEITEL, P. J. </a:t>
            </a:r>
            <a:r>
              <a:rPr lang="pt-BR" b="1" dirty="0"/>
              <a:t>Ajax, </a:t>
            </a:r>
            <a:r>
              <a:rPr lang="pt-BR" b="1" dirty="0" err="1"/>
              <a:t>rich</a:t>
            </a:r>
            <a:r>
              <a:rPr lang="pt-BR" b="1" dirty="0"/>
              <a:t> internet </a:t>
            </a:r>
            <a:r>
              <a:rPr lang="pt-BR" b="1" dirty="0" err="1"/>
              <a:t>applications</a:t>
            </a:r>
            <a:r>
              <a:rPr lang="pt-BR" b="1" dirty="0"/>
              <a:t> e desenvolvimento web para programadores</a:t>
            </a:r>
            <a:r>
              <a:rPr lang="pt-BR" dirty="0"/>
              <a:t>. São Paulo: Pearson </a:t>
            </a:r>
            <a:r>
              <a:rPr lang="pt-BR" dirty="0" err="1"/>
              <a:t>Prantice</a:t>
            </a:r>
            <a:r>
              <a:rPr lang="pt-BR" dirty="0"/>
              <a:t> Hall, c2009. 747 p.</a:t>
            </a:r>
          </a:p>
          <a:p>
            <a:pPr lvl="1"/>
            <a:r>
              <a:rPr lang="pt-BR" dirty="0"/>
              <a:t>LUCKOW, D. H.; MELO, A. A. de. </a:t>
            </a:r>
            <a:r>
              <a:rPr lang="pt-BR" b="1" dirty="0"/>
              <a:t>Programação Java para Web</a:t>
            </a:r>
            <a:r>
              <a:rPr lang="pt-BR" dirty="0"/>
              <a:t>. 1. ed. São Paulo: </a:t>
            </a:r>
            <a:r>
              <a:rPr lang="pt-BR" dirty="0" err="1"/>
              <a:t>Novatec</a:t>
            </a:r>
            <a:r>
              <a:rPr lang="pt-BR" dirty="0"/>
              <a:t>, 2010. 638 p.</a:t>
            </a:r>
          </a:p>
          <a:p>
            <a:pPr lvl="1"/>
            <a:r>
              <a:rPr lang="pt-BR" dirty="0"/>
              <a:t>QIAN, K. et al. </a:t>
            </a:r>
            <a:r>
              <a:rPr lang="pt-BR" b="1" dirty="0"/>
              <a:t>Desenvolvimento web </a:t>
            </a:r>
            <a:r>
              <a:rPr lang="pt-BR" b="1" dirty="0" err="1"/>
              <a:t>java</a:t>
            </a:r>
            <a:r>
              <a:rPr lang="pt-BR" dirty="0"/>
              <a:t>. Rio de Janeiro: LTC, 2010. 436 p.</a:t>
            </a:r>
          </a:p>
          <a:p>
            <a:pPr lvl="1"/>
            <a:r>
              <a:rPr lang="pt-BR" dirty="0"/>
              <a:t>TERUEL, E. C. </a:t>
            </a:r>
            <a:r>
              <a:rPr lang="pt-BR" b="1" dirty="0"/>
              <a:t>HTML 5</a:t>
            </a:r>
            <a:r>
              <a:rPr lang="pt-BR" dirty="0"/>
              <a:t>: guia prático. 2. ed. rev. atual. e </a:t>
            </a:r>
            <a:r>
              <a:rPr lang="pt-BR" dirty="0" err="1"/>
              <a:t>ampl</a:t>
            </a:r>
            <a:r>
              <a:rPr lang="pt-BR" dirty="0"/>
              <a:t>. São Paulo: Érica, 2011. 336 p.</a:t>
            </a:r>
          </a:p>
          <a:p>
            <a:pPr lvl="1"/>
            <a:r>
              <a:rPr lang="pt-BR" dirty="0"/>
              <a:t>WATRALL, E.; SIARTO, J. </a:t>
            </a:r>
            <a:r>
              <a:rPr lang="pt-BR" b="1" dirty="0"/>
              <a:t>Use a cabeça!</a:t>
            </a:r>
            <a:r>
              <a:rPr lang="pt-BR" dirty="0"/>
              <a:t>: Web design. Rio de Janeiro: Alta Books, 2012. 472 p.</a:t>
            </a:r>
          </a:p>
        </p:txBody>
      </p:sp>
    </p:spTree>
    <p:extLst>
      <p:ext uri="{BB962C8B-B14F-4D97-AF65-F5344CB8AC3E}">
        <p14:creationId xmlns:p14="http://schemas.microsoft.com/office/powerpoint/2010/main" val="2466133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82E73-D6E6-43FE-BD3B-01871B962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E4A81AC-C7F5-4549-8A31-9E772127B78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6656" y="2011680"/>
            <a:ext cx="10753725" cy="2720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r>
              <a:rPr lang="pt-BR" sz="2800" dirty="0"/>
              <a:t>A1: Avaliação prática</a:t>
            </a:r>
          </a:p>
          <a:p>
            <a:r>
              <a:rPr lang="pt-BR" sz="2800" dirty="0"/>
              <a:t>A2: Avaliação prática</a:t>
            </a:r>
          </a:p>
          <a:p>
            <a:r>
              <a:rPr lang="pt-BR" sz="2800" dirty="0"/>
              <a:t>A3: Avaliação teórica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28C687AD-8559-4718-ACF1-A630D6F917F8}"/>
                  </a:ext>
                </a:extLst>
              </p:cNvPr>
              <p:cNvSpPr txBox="1"/>
              <p:nvPr/>
            </p:nvSpPr>
            <p:spPr>
              <a:xfrm>
                <a:off x="414793" y="2011680"/>
                <a:ext cx="5421231" cy="8182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Nota</m:t>
                      </m:r>
                      <m:r>
                        <m:rPr>
                          <m:nor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Final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2,5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2,5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28C687AD-8559-4718-ACF1-A630D6F91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93" y="2011680"/>
                <a:ext cx="5421231" cy="8182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108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537E2C-D913-4E1F-9BF6-42E496AB9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6182"/>
            <a:ext cx="10772775" cy="878541"/>
          </a:xfrm>
        </p:spPr>
        <p:txBody>
          <a:bodyPr/>
          <a:lstStyle/>
          <a:p>
            <a:r>
              <a:rPr lang="pt-BR" dirty="0"/>
              <a:t>Programação provisória 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4B190272-18F9-435A-9B3D-477CFBF19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566970"/>
              </p:ext>
            </p:extLst>
          </p:nvPr>
        </p:nvGraphicFramePr>
        <p:xfrm>
          <a:off x="0" y="662940"/>
          <a:ext cx="12192000" cy="61950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82255">
                  <a:extLst>
                    <a:ext uri="{9D8B030D-6E8A-4147-A177-3AD203B41FA5}">
                      <a16:colId xmlns:a16="http://schemas.microsoft.com/office/drawing/2014/main" val="4266251720"/>
                    </a:ext>
                  </a:extLst>
                </a:gridCol>
                <a:gridCol w="11009745">
                  <a:extLst>
                    <a:ext uri="{9D8B030D-6E8A-4147-A177-3AD203B41FA5}">
                      <a16:colId xmlns:a16="http://schemas.microsoft.com/office/drawing/2014/main" val="3637312589"/>
                    </a:ext>
                  </a:extLst>
                </a:gridCol>
              </a:tblGrid>
              <a:tr h="190226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>
                          <a:latin typeface="+mn-lt"/>
                        </a:rP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800" dirty="0">
                          <a:latin typeface="+mn-lt"/>
                        </a:rPr>
                        <a:t>Conteúdo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235779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05/fev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Apresentação da disciplina e do plano de ensino. Introdução ao framework e ferramentas utilizados. Componentes.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58253693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12/fev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Locais de renderização. Estados e eventos.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3335163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19/fev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Renderização condicional.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29019269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26/fev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Passagem e troca de informações entre componentes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90872708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05/mar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Efeitos e memoização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8313949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12/mar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Exercícios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45816284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19/mar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Avaliação 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7877523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26/mar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Formulários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1728573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02/abr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Organização e roteamento entre páginas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65757457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09/abr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Acesso a banco de dados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23245399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16/abr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Acesso a banco de dados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85770048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23/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abr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Acesso a banco de dados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81337135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30/abr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Exercícios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0862471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07/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Avaliação 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95601007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14/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Autenticação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94610701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21/mai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Criação de web services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69046751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Acesso a APIs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65643611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Avaliação 3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427606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Revisão da avaliação 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11598351"/>
                  </a:ext>
                </a:extLst>
              </a:tr>
              <a:tr h="1300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Encerramento da disciplina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66500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206117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o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Metropolitan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0941A018-FB9B-4401-A32C-7E04526866E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TM03457491[[fn=Metropolitano]]</Template>
  <TotalTime>96</TotalTime>
  <Words>468</Words>
  <Application>Microsoft Office PowerPoint</Application>
  <PresentationFormat>Widescreen</PresentationFormat>
  <Paragraphs>81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Metropolitano</vt:lpstr>
      <vt:lpstr>Desenvolvimento Web III</vt:lpstr>
      <vt:lpstr>Informações</vt:lpstr>
      <vt:lpstr>Conteúdo</vt:lpstr>
      <vt:lpstr>Bibliografia</vt:lpstr>
      <vt:lpstr>Avaliação</vt:lpstr>
      <vt:lpstr>Programação provisória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Web III</dc:title>
  <dc:creator>Tiago Docusse</dc:creator>
  <cp:lastModifiedBy>Tiago Docusse</cp:lastModifiedBy>
  <cp:revision>28</cp:revision>
  <dcterms:created xsi:type="dcterms:W3CDTF">2020-10-26T16:07:06Z</dcterms:created>
  <dcterms:modified xsi:type="dcterms:W3CDTF">2026-02-04T12:37:26Z</dcterms:modified>
</cp:coreProperties>
</file>