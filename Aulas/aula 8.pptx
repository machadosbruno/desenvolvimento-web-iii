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58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5" r:id="rId11"/>
    <p:sldId id="266" r:id="rId12"/>
    <p:sldId id="267" r:id="rId13"/>
    <p:sldId id="268" r:id="rId14"/>
    <p:sldId id="286" r:id="rId15"/>
    <p:sldId id="287" r:id="rId16"/>
    <p:sldId id="269" r:id="rId17"/>
    <p:sldId id="288" r:id="rId18"/>
    <p:sldId id="289" r:id="rId19"/>
    <p:sldId id="290" r:id="rId20"/>
    <p:sldId id="334" r:id="rId21"/>
    <p:sldId id="291" r:id="rId22"/>
    <p:sldId id="293" r:id="rId23"/>
    <p:sldId id="294" r:id="rId24"/>
    <p:sldId id="295" r:id="rId25"/>
    <p:sldId id="296" r:id="rId26"/>
    <p:sldId id="297" r:id="rId27"/>
    <p:sldId id="335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7" r:id="rId37"/>
    <p:sldId id="308" r:id="rId38"/>
    <p:sldId id="309" r:id="rId39"/>
    <p:sldId id="336" r:id="rId40"/>
    <p:sldId id="311" r:id="rId41"/>
    <p:sldId id="338" r:id="rId42"/>
    <p:sldId id="313" r:id="rId43"/>
    <p:sldId id="306" r:id="rId44"/>
    <p:sldId id="337" r:id="rId45"/>
    <p:sldId id="312" r:id="rId46"/>
    <p:sldId id="314" r:id="rId47"/>
    <p:sldId id="315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 Light"/>
              </a:rPr>
              <a:t>Clique para mover o slide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pt-BR" sz="1400" b="0" strike="noStrike" spc="-1">
                <a:latin typeface="Times New Roman"/>
              </a:defRPr>
            </a:lvl1pPr>
          </a:lstStyle>
          <a:p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A63D4C2E-EC0D-4981-84CB-9A49398E8F6E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ADE51A-6925-4658-BF5D-320EB1FAED69}" type="slidenum">
              <a:rPr lang="pt-BR" sz="1200" b="0" strike="noStrike" spc="-1">
                <a:latin typeface="Times New Roman"/>
              </a:rPr>
              <a:t>1</a:t>
            </a:fld>
            <a:endParaRPr lang="pt-BR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9B14809-837C-4D37-946B-9E15846CADED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9D9544-AEBF-443B-BAF0-3C204FBEEF04}" type="slidenum">
              <a:t>‹nº›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A145D91-A0AA-49D7-B5CB-905E4F0F9BF6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0805917-36F6-4349-8A18-140F9176ADC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1A8880B-38A2-4427-AAAB-64C4AA22CD31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2CBB90-F26C-46B4-BA37-274104690AF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08AA5D2-BD98-4F89-B166-EFE371AA385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D0C0A58-2BA3-4977-BB5B-B374E350E1E3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6CEAFB5-CC54-4E99-9397-14067843D92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D958FBE-DFFE-43B0-A2F7-4E760D1C75EC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BE59253-D3D8-4877-920F-59EDB6FE77FF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C77A697-010B-41E5-AD09-8F6908BCD089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5AD1F37-5351-49D5-9A90-62319FCCF222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E86B8A-75C0-428B-ADD9-F62E5EEE2793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D6B4ED2-AAA2-4055-9C1D-BEF13DF9188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A170694-B6AB-490C-B834-C60A50018902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5F636C1-4470-4E06-B388-6082420AE6C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B7233D5-B52E-4951-A2CB-218CA54530E6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5A9C711-42C2-4AFE-B9BE-DF12941C9320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4CA64AB-E28D-4EB9-87EE-AF4B23CEB3D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B71710A-62C6-454D-8BD0-450F5A11D02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90AD442-888E-4F94-9BE8-1F62A143533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47940B9-3180-4B95-AE0C-D826DC382C91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8D67ADE-E27E-4BD8-9FFD-F82C6B9057F2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9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3360" y="770400"/>
            <a:ext cx="10782000" cy="335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pt-BR" sz="8800" b="0" strike="noStrike" spc="-120">
                <a:solidFill>
                  <a:srgbClr val="FFFFFF"/>
                </a:solidFill>
                <a:latin typeface="Calibri Light"/>
              </a:rPr>
              <a:t>Clique para editar o título Mestre</a:t>
            </a:r>
            <a:endParaRPr lang="en-US" sz="8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87F324-676B-4E9B-85A3-A764F18BEED5}" type="slidenum">
              <a: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8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262626"/>
                </a:solidFill>
                <a:latin typeface="Calibri Light"/>
              </a:rPr>
              <a:t>Clique para editar o formato do texto da estrutura de tópicos</a:t>
            </a:r>
          </a:p>
          <a:p>
            <a:pPr marL="864000" lvl="1" indent="-324000">
              <a:lnSpc>
                <a:spcPct val="8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i="1" strike="noStrike" spc="-1">
                <a:solidFill>
                  <a:srgbClr val="262626"/>
                </a:solidFill>
                <a:latin typeface="Calibri Light"/>
              </a:rPr>
              <a:t>2.º nível da estrutura de tópicos</a:t>
            </a:r>
          </a:p>
          <a:p>
            <a:pPr marL="1296000" lvl="2" indent="-288000">
              <a:lnSpc>
                <a:spcPct val="8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3.º nível da estrutura de tópicos</a:t>
            </a:r>
          </a:p>
          <a:p>
            <a:pPr marL="1728000" lvl="3" indent="-216000">
              <a:lnSpc>
                <a:spcPct val="8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4.º nível da estrutura de tópicos</a:t>
            </a:r>
          </a:p>
          <a:p>
            <a:pPr marL="2160000" lvl="4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5.º nível da estrutura de tópicos</a:t>
            </a:r>
          </a:p>
          <a:p>
            <a:pPr marL="2592000" lvl="5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6.º nível da estrutura de tópicos</a:t>
            </a:r>
          </a:p>
          <a:p>
            <a:pPr marL="3024000" lvl="6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Clique para editar o título Mestre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Clique para editar os estilos de texto Mestres</a:t>
            </a: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  <a:p>
            <a:pPr marL="347400" lvl="1" indent="-3430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Segundo nível</a:t>
            </a:r>
            <a:endParaRPr lang="en-US" sz="2400" b="0" i="1" strike="noStrike" spc="-1">
              <a:solidFill>
                <a:srgbClr val="262626"/>
              </a:solidFill>
              <a:latin typeface="Calibri Light"/>
            </a:endParaRPr>
          </a:p>
          <a:p>
            <a:pPr marL="548640" lvl="2" indent="-54864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2000" b="0" i="1" strike="noStrike" spc="-1">
                <a:solidFill>
                  <a:srgbClr val="262626"/>
                </a:solidFill>
                <a:latin typeface="Calibri Light"/>
              </a:rPr>
              <a:t>Terceiro nível</a:t>
            </a:r>
            <a:endParaRPr lang="en-US" sz="2000" b="0" strike="noStrike" spc="-1">
              <a:solidFill>
                <a:srgbClr val="262626"/>
              </a:solidFill>
              <a:latin typeface="Calibri Light"/>
            </a:endParaRPr>
          </a:p>
          <a:p>
            <a:pPr marL="822960" lvl="3" indent="-82296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Quarto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  <a:p>
            <a:pPr marL="1097280" lvl="4" indent="-10972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Quinto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4"/>
          </p:nvPr>
        </p:nvSpPr>
        <p:spPr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5"/>
          </p:nvPr>
        </p:nvSpPr>
        <p:spPr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sldNum" idx="6"/>
          </p:nvPr>
        </p:nvSpPr>
        <p:spPr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C4E7D6-E39B-4324-9914-DEA6C4F58F7E}" type="slidenum">
              <a: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isma.io/" TargetMode="Externa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" TargetMode="Externa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95240" y="637920"/>
            <a:ext cx="10416960" cy="3189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pt-BR" sz="8000" b="0" strike="noStrike" spc="-120">
                <a:solidFill>
                  <a:srgbClr val="FFFFFF"/>
                </a:solidFill>
                <a:latin typeface="Calibri Light"/>
              </a:rPr>
              <a:t>Desenvolvimento </a:t>
            </a:r>
            <a:r>
              <a:rPr lang="pt-BR" sz="8000" b="0" i="1" strike="noStrike" spc="-120">
                <a:solidFill>
                  <a:srgbClr val="FFFFFF"/>
                </a:solidFill>
                <a:latin typeface="Calibri Light"/>
              </a:rPr>
              <a:t>Web</a:t>
            </a:r>
            <a:r>
              <a:rPr lang="pt-BR" sz="8000" b="0" strike="noStrike" spc="-120">
                <a:solidFill>
                  <a:srgbClr val="FFFFFF"/>
                </a:solidFill>
                <a:latin typeface="Calibri Light"/>
              </a:rPr>
              <a:t> III</a:t>
            </a:r>
            <a:endParaRPr lang="en-US" sz="8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795240" y="4377240"/>
            <a:ext cx="10558800" cy="442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2800" b="0" strike="noStrike" spc="-1">
                <a:solidFill>
                  <a:srgbClr val="FEFFFF"/>
                </a:solidFill>
                <a:latin typeface="Calibri Light"/>
              </a:rPr>
              <a:t>Tecnologia em Análise e Desenvolvimento de Sistemas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91" name="Subtítulo 2"/>
          <p:cNvSpPr/>
          <p:nvPr/>
        </p:nvSpPr>
        <p:spPr>
          <a:xfrm>
            <a:off x="3603044" y="6089276"/>
            <a:ext cx="7092664" cy="4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70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rgbClr val="FEFFFF"/>
                </a:solidFill>
                <a:latin typeface="Calibri Light"/>
              </a:rPr>
              <a:t>Aula 8 – Acesso a banco de dados</a:t>
            </a:r>
            <a:endParaRPr lang="pt-BR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Como visto anteriormente, 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passou po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r uma mudança no objetivo e como ele trabalha a partir da versão 18.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Anteriormente, a ideia era que 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fosse apenas uma biblioteca para desenhar interfaces, independente do </a:t>
            </a:r>
            <a:r>
              <a:rPr lang="pt-BR" sz="3600" b="0" i="1" strike="noStrike" spc="-1" dirty="0" err="1">
                <a:solidFill>
                  <a:srgbClr val="262626"/>
                </a:solidFill>
                <a:latin typeface="Calibri Light"/>
              </a:rPr>
              <a:t>backend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utilizado no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O código é compilado e empacotado no servidor, sendo seu código JS/HTML/CSS/JSON enviado ao cliente, que faz o restante do processamento no navegador.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6DB3229-CB43-566B-C6F9-422B4ADDEC84}"/>
              </a:ext>
            </a:extLst>
          </p:cNvPr>
          <p:cNvSpPr/>
          <p:nvPr/>
        </p:nvSpPr>
        <p:spPr>
          <a:xfrm>
            <a:off x="1302327" y="2157480"/>
            <a:ext cx="1625600" cy="7481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Cliente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4140451-D580-2C39-6FDA-A42A982A63FA}"/>
              </a:ext>
            </a:extLst>
          </p:cNvPr>
          <p:cNvSpPr/>
          <p:nvPr/>
        </p:nvSpPr>
        <p:spPr>
          <a:xfrm>
            <a:off x="8465127" y="2157480"/>
            <a:ext cx="1625600" cy="74814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Servidor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7FE41DA-4912-F7AB-76CC-5E0AB9BC3743}"/>
              </a:ext>
            </a:extLst>
          </p:cNvPr>
          <p:cNvCxnSpPr>
            <a:cxnSpLocks/>
          </p:cNvCxnSpPr>
          <p:nvPr/>
        </p:nvCxnSpPr>
        <p:spPr>
          <a:xfrm>
            <a:off x="2115127" y="3389244"/>
            <a:ext cx="7162800" cy="30507"/>
          </a:xfrm>
          <a:prstGeom prst="straightConnector1">
            <a:avLst/>
          </a:prstGeom>
          <a:ln w="3175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065C75DA-871F-2C20-37C6-87D11ECA7E67}"/>
              </a:ext>
            </a:extLst>
          </p:cNvPr>
          <p:cNvCxnSpPr>
            <a:stCxn id="2" idx="2"/>
          </p:cNvCxnSpPr>
          <p:nvPr/>
        </p:nvCxnSpPr>
        <p:spPr>
          <a:xfrm>
            <a:off x="2115127" y="2905626"/>
            <a:ext cx="0" cy="395237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60EFF8B-3122-37AB-D46B-DD97069C7ACC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9277927" y="2905626"/>
            <a:ext cx="23091" cy="395237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4126A39-B864-96F8-80F0-109F0B425398}"/>
              </a:ext>
            </a:extLst>
          </p:cNvPr>
          <p:cNvSpPr txBox="1"/>
          <p:nvPr/>
        </p:nvSpPr>
        <p:spPr>
          <a:xfrm>
            <a:off x="3075709" y="3059668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1. Requisição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8F0265F-4359-526F-E9F3-3B6576AF539F}"/>
              </a:ext>
            </a:extLst>
          </p:cNvPr>
          <p:cNvSpPr txBox="1"/>
          <p:nvPr/>
        </p:nvSpPr>
        <p:spPr>
          <a:xfrm>
            <a:off x="9322576" y="3764335"/>
            <a:ext cx="1787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2.1 Compilação</a:t>
            </a:r>
          </a:p>
          <a:p>
            <a:r>
              <a:rPr lang="pt-BR" dirty="0"/>
              <a:t>2.2 Montagem</a:t>
            </a:r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DC280BD0-EC32-D5B0-192F-CF490FF67F10}"/>
              </a:ext>
            </a:extLst>
          </p:cNvPr>
          <p:cNvCxnSpPr/>
          <p:nvPr/>
        </p:nvCxnSpPr>
        <p:spPr>
          <a:xfrm flipH="1">
            <a:off x="2115127" y="4581939"/>
            <a:ext cx="7162800" cy="0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53F6EF7-8D9A-5D1A-848E-FE1A5080CE7B}"/>
              </a:ext>
            </a:extLst>
          </p:cNvPr>
          <p:cNvSpPr txBox="1"/>
          <p:nvPr/>
        </p:nvSpPr>
        <p:spPr>
          <a:xfrm>
            <a:off x="3075709" y="4252366"/>
            <a:ext cx="4519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3. Envio do arquivos HTML/JS/CSS/JSON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4FA651A-3096-AF11-1E89-E5AD26769E6F}"/>
              </a:ext>
            </a:extLst>
          </p:cNvPr>
          <p:cNvSpPr txBox="1"/>
          <p:nvPr/>
        </p:nvSpPr>
        <p:spPr>
          <a:xfrm>
            <a:off x="2115127" y="5077386"/>
            <a:ext cx="27623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4.x Troca de página</a:t>
            </a:r>
          </a:p>
          <a:p>
            <a:r>
              <a:rPr lang="pt-BR" dirty="0"/>
              <a:t>4.x Verificação de estado</a:t>
            </a:r>
          </a:p>
          <a:p>
            <a:r>
              <a:rPr lang="pt-BR" dirty="0"/>
              <a:t>4.x </a:t>
            </a:r>
            <a:r>
              <a:rPr lang="pt-BR" i="1" dirty="0" err="1"/>
              <a:t>Effect</a:t>
            </a:r>
            <a:endParaRPr lang="pt-BR" i="1" dirty="0"/>
          </a:p>
          <a:p>
            <a:r>
              <a:rPr lang="pt-BR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51130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 soluçã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o anterior funciona, mas possui duas desvantagens: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Tamanho do arquivo enviado para o cliente pode ser demasiado grande;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Segurança.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5677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Como todo o código é enviado para ser processado no cliente, o tamanho do pacote enviado pode ser grande para determinadas conexões, fazendo com que o carregamento do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seja lento e piorando a experiência do usuário.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10680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Em relação à segurança, caso o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faça acesso apenas a APIs públicas, sem necessidade de autenticação ou utilização de chaves de segurança, não há problemas, pois estas APIs devem ser acess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íveis externamente.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No entanto, caso o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faça acesso a APIs privadas, teremos um problema de segurança, pois os dados para acesso restrito à API estarão no código Javascript, enviado ao cliente e, portanto, possível de ser descoberto.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014235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Por exemplo, o código a seguir realiza a chamada para uma API, informando a chave de acesso a ela: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6D4353B-A195-11FC-3466-EFB3C3414389}"/>
              </a:ext>
            </a:extLst>
          </p:cNvPr>
          <p:cNvSpPr txBox="1"/>
          <p:nvPr/>
        </p:nvSpPr>
        <p:spPr>
          <a:xfrm>
            <a:off x="846221" y="3184683"/>
            <a:ext cx="1049955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'POST'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application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Content-Type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application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'x-api-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'chave1234'</a:t>
            </a:r>
            <a:endParaRPr lang="pt-BR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body: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pt-BR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'http://enderecodaapi/rota'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pt-BR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pt-BR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.... */</a:t>
            </a:r>
            <a:r>
              <a:rPr lang="pt-BR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763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Como esse código é executado no cliente, e a chave de acesso foi enviada ao cliente, é possível para um invasor obter esta chav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 e acessar a API, que deveria ter acesso restrito ao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site.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 solução é fazer a solicitação à API em um componente renderizado no servidor, ao invés de um componente renderizado no cliente.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03318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Componentes no cliente e no servidor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 partir do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18 (Next 13), é possível definir que um componente vai ser renderizado no servidor, e dessa forma, diminuir o tamanho do arquivo gerado e enviado ao cliente, como era antigamente; Também é possível que esse arquivo seja armazenado no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cache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do servidor, para facilitar a transmissão do mesmo.</a:t>
            </a: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104726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Componentes no cliente e no servidor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Por padrão, todo componente criado é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renderizado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no 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servidor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;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Não é obrigatório utilizar renderização no servidor, sendo possível deixar todo 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com renderização realizada no cliente.</a:t>
            </a: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81241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Componentes no cliente e no servidor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Se for utilizar um dos seguintes itens, obrigatoriamente o componente deve ser renderizado no cliente: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Interatividade (</a:t>
            </a:r>
            <a:r>
              <a:rPr lang="pt-BR" sz="3200" spc="-1" dirty="0" err="1">
                <a:solidFill>
                  <a:srgbClr val="262626"/>
                </a:solidFill>
                <a:latin typeface="Calibri Light"/>
              </a:rPr>
              <a:t>onClick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, por exemplo), estado, efeito, contexto, APIs específicas do navegador (</a:t>
            </a:r>
            <a:r>
              <a:rPr lang="pt-BR" sz="3200" spc="-1" dirty="0" err="1">
                <a:solidFill>
                  <a:srgbClr val="262626"/>
                </a:solidFill>
                <a:latin typeface="Calibri Light"/>
              </a:rPr>
              <a:t>localStorage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, por exemplo), </a:t>
            </a:r>
            <a:r>
              <a:rPr lang="pt-BR" sz="3200" i="1" spc="-1" dirty="0" err="1">
                <a:solidFill>
                  <a:srgbClr val="262626"/>
                </a:solidFill>
                <a:latin typeface="Calibri Light"/>
              </a:rPr>
              <a:t>hooks</a:t>
            </a:r>
            <a:r>
              <a:rPr lang="pt-BR" sz="3200" i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que dependem de estado, efeitos, etc., e caso queira criar componentes no formato de classe.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445669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Componentes no cliente e no servidor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Caso queira diminuir o tamanho do arquivo gerado, bem como manter informações sensíveis no código, isto deve ser feito em um componente renderizado no servidor.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53639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Acesso a banco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O acesso a banco de dados também deve ser realizado de forma cuidadosa, pois expor os dados do banco de dados para o código executado no cliente não é ideal.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Dessa forma, podemos executar as funções de acesso ao banco de dados em funções que executam no servidor, e evitar que dados sigilosos de acesso ao banco de dados fiquem expostos para o navegador do cliente.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798628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Acesso a banco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Vamos utilizar o Prisma (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  <a:hlinkClick r:id="rId2"/>
              </a:rPr>
              <a:t>https://www.prisma.io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) como uma biblioteca ORM para acesso a dados.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Como banco de dados, vamos utilizar o PostgreSQL em uma instância criada no Docker.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O Prisma funciona com diversos bancos de dados, como SQL Server, MySQL, </a:t>
            </a:r>
            <a:r>
              <a:rPr lang="pt-BR" sz="3600" strike="noStrike" spc="-1" dirty="0" err="1">
                <a:solidFill>
                  <a:srgbClr val="262626"/>
                </a:solidFill>
                <a:latin typeface="Calibri Light"/>
              </a:rPr>
              <a:t>Postgree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, </a:t>
            </a:r>
            <a:r>
              <a:rPr lang="pt-BR" sz="3600" strike="noStrike" spc="-1" dirty="0" err="1">
                <a:solidFill>
                  <a:srgbClr val="262626"/>
                </a:solidFill>
                <a:latin typeface="Calibri Light"/>
              </a:rPr>
              <a:t>SQLite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, etc.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254952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Crie um novo site usando o </a:t>
            </a:r>
            <a:r>
              <a:rPr lang="pt-BR" sz="3600" i="1" strike="noStrike" spc="-1" dirty="0">
                <a:solidFill>
                  <a:srgbClr val="262626"/>
                </a:solidFill>
                <a:latin typeface="Calibri Light"/>
              </a:rPr>
              <a:t>framework 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Next.js:</a:t>
            </a:r>
          </a:p>
          <a:p>
            <a:pPr marL="514350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Baixe a última versão LTS do Node: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  <a:hlinkClick r:id="rId2"/>
              </a:rPr>
              <a:t>https://nodejs.org/en</a:t>
            </a: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514350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Atualize o </a:t>
            </a:r>
            <a:r>
              <a:rPr lang="pt-BR" sz="3600" strike="noStrike" spc="-1" dirty="0" err="1">
                <a:solidFill>
                  <a:srgbClr val="262626"/>
                </a:solidFill>
                <a:latin typeface="Calibri Light"/>
              </a:rPr>
              <a:t>npm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: </a:t>
            </a:r>
            <a:r>
              <a:rPr lang="pt-BR" sz="3600" strike="noStrike" spc="-1" dirty="0" err="1">
                <a:solidFill>
                  <a:srgbClr val="262626"/>
                </a:solidFill>
                <a:latin typeface="Calibri Light"/>
              </a:rPr>
              <a:t>npm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 i –g </a:t>
            </a:r>
            <a:r>
              <a:rPr lang="pt-BR" sz="3600" strike="noStrike" spc="-1" dirty="0" err="1">
                <a:solidFill>
                  <a:srgbClr val="262626"/>
                </a:solidFill>
                <a:latin typeface="Calibri Light"/>
              </a:rPr>
              <a:t>npm@latest</a:t>
            </a: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514350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Crie um novo projeto: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	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npx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create-next-app@latest</a:t>
            </a: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4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Deixe apenas a pr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imeira linha do arquivo app/globals.css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8246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514350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5"/>
            </a:pP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Crie a pasta app/livros;</a:t>
            </a:r>
          </a:p>
          <a:p>
            <a:pPr marL="514350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5"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Dentro de “app/page.js”, crie um </a:t>
            </a:r>
            <a:r>
              <a:rPr lang="pt-BR" sz="3200" i="1" spc="-1" dirty="0">
                <a:solidFill>
                  <a:srgbClr val="262626"/>
                </a:solidFill>
                <a:latin typeface="Calibri Light"/>
              </a:rPr>
              <a:t>link 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para a rota livros: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E438EE-58FF-9477-A11C-77F77EB12FF8}"/>
              </a:ext>
            </a:extLst>
          </p:cNvPr>
          <p:cNvSpPr txBox="1"/>
          <p:nvPr/>
        </p:nvSpPr>
        <p:spPr>
          <a:xfrm>
            <a:off x="1339272" y="3210066"/>
            <a:ext cx="72043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"/livros"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084934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7. Crie o arquivo “app/livros/page.js”, com o seguinte conteúdo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456A645-3550-E3A2-23FA-E3A7A8A5FF8A}"/>
              </a:ext>
            </a:extLst>
          </p:cNvPr>
          <p:cNvSpPr txBox="1"/>
          <p:nvPr/>
        </p:nvSpPr>
        <p:spPr>
          <a:xfrm>
            <a:off x="87746" y="3049265"/>
            <a:ext cx="12016508" cy="380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05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05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Livros() {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5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050" dirty="0" err="1">
                <a:solidFill>
                  <a:srgbClr val="C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5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05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 disponíveis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5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05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</a:t>
            </a:r>
            <a:r>
              <a:rPr lang="pt-BR" sz="105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105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5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105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105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105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105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"Atualizar"</a:t>
            </a:r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5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05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5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050" dirty="0" err="1">
                <a:solidFill>
                  <a:srgbClr val="C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1626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Acesso a banco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Inicie o Docker, e execute o seguinte comando para iniciar um container do PostgreSQL: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78A8CB4-E183-E59F-5187-AA63C526F27F}"/>
              </a:ext>
            </a:extLst>
          </p:cNvPr>
          <p:cNvSpPr txBox="1"/>
          <p:nvPr/>
        </p:nvSpPr>
        <p:spPr>
          <a:xfrm>
            <a:off x="676800" y="3334390"/>
            <a:ext cx="10752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 err="1"/>
              <a:t>docker</a:t>
            </a:r>
            <a:r>
              <a:rPr lang="pt-BR" sz="2000" b="1" dirty="0"/>
              <a:t> </a:t>
            </a:r>
            <a:r>
              <a:rPr lang="pt-BR" sz="2000" b="1" dirty="0" err="1"/>
              <a:t>run</a:t>
            </a:r>
            <a:r>
              <a:rPr lang="pt-BR" sz="2000" b="1" dirty="0"/>
              <a:t> --</a:t>
            </a:r>
            <a:r>
              <a:rPr lang="pt-BR" sz="2000" b="1" dirty="0" err="1"/>
              <a:t>name</a:t>
            </a:r>
            <a:r>
              <a:rPr lang="pt-BR" sz="2000" b="1" dirty="0"/>
              <a:t> </a:t>
            </a:r>
            <a:r>
              <a:rPr lang="pt-BR" sz="2000" b="1" dirty="0" err="1"/>
              <a:t>postgres</a:t>
            </a:r>
            <a:r>
              <a:rPr lang="pt-BR" sz="2000" b="1" dirty="0"/>
              <a:t> -e POSTGRES_PASSWORD=</a:t>
            </a:r>
            <a:r>
              <a:rPr lang="pt-BR" sz="2000" b="1" dirty="0" err="1"/>
              <a:t>senhadobanco</a:t>
            </a:r>
            <a:r>
              <a:rPr lang="pt-BR" sz="2000" b="1" dirty="0"/>
              <a:t> -p 5432:5432 -v </a:t>
            </a:r>
            <a:r>
              <a:rPr lang="pt-BR" sz="2000" b="1" dirty="0" err="1"/>
              <a:t>postgres</a:t>
            </a:r>
            <a:r>
              <a:rPr lang="pt-BR" sz="2000" b="1" dirty="0"/>
              <a:t>:/var/</a:t>
            </a:r>
            <a:r>
              <a:rPr lang="pt-BR" sz="2000" b="1" dirty="0" err="1"/>
              <a:t>lib</a:t>
            </a:r>
            <a:r>
              <a:rPr lang="pt-BR" sz="2000" b="1" dirty="0"/>
              <a:t>/</a:t>
            </a:r>
            <a:r>
              <a:rPr lang="pt-BR" sz="2000" b="1" dirty="0" err="1"/>
              <a:t>postgresql</a:t>
            </a:r>
            <a:r>
              <a:rPr lang="pt-BR" sz="2000" b="1" dirty="0"/>
              <a:t>/data -d postgres:17</a:t>
            </a:r>
          </a:p>
        </p:txBody>
      </p:sp>
    </p:spTree>
    <p:extLst>
      <p:ext uri="{BB962C8B-B14F-4D97-AF65-F5344CB8AC3E}">
        <p14:creationId xmlns:p14="http://schemas.microsoft.com/office/powerpoint/2010/main" val="307657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Acesso a banco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Para instalar o prisma, execute os seguintes comando: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nb-NO" sz="2400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npm install prisma @types/pg --save-dev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sv-SE" sz="2400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npm install @prisma/client @prisma/adapter-pg pg dotenv</a:t>
            </a:r>
            <a:endParaRPr lang="nb-NO" sz="2400" b="1" spc="-1" dirty="0">
              <a:solidFill>
                <a:srgbClr val="262626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Digite o seguinte comando para criar os arquivos necessários para utilização do prisma: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2400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sz="2400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sz="2400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pt-BR" sz="2400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--</a:t>
            </a:r>
            <a:r>
              <a:rPr lang="pt-BR" sz="2400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datasource-provider</a:t>
            </a:r>
            <a:r>
              <a:rPr lang="pt-BR" sz="2400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2400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postgresql</a:t>
            </a:r>
            <a:r>
              <a:rPr lang="pt-BR" sz="2400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--output ../</a:t>
            </a:r>
            <a:r>
              <a:rPr lang="pt-BR" sz="2400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generated</a:t>
            </a:r>
            <a:r>
              <a:rPr lang="pt-BR" sz="2400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/prisma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02757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Acesso a banco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Será criado um arquivo .</a:t>
            </a:r>
            <a:r>
              <a:rPr lang="pt-BR" sz="3600" strike="noStrike" spc="-1" dirty="0" err="1">
                <a:solidFill>
                  <a:srgbClr val="262626"/>
                </a:solidFill>
                <a:latin typeface="Calibri Light"/>
              </a:rPr>
              <a:t>env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, com as configurações para acesso ao banco de dados. Este arquivo será lido apenas no servidor.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Será criado um arquivo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prisma.config.ts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com configurações de acesso do Prisma.</a:t>
            </a:r>
            <a:endParaRPr lang="pt-BR" sz="360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Também será criada uma pasta “prisma”, com o arquivo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schema.prisma</a:t>
            </a:r>
            <a:r>
              <a:rPr lang="pt-BR" sz="3600" spc="-1" dirty="0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, onde ficará a nossa modelagem de dados.</a:t>
            </a:r>
            <a:endParaRPr lang="pt-BR" sz="2400" spc="-1" dirty="0">
              <a:solidFill>
                <a:srgbClr val="262626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40610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Configuração do banco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799" y="2011680"/>
            <a:ext cx="11034909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No arquivo .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env</a:t>
            </a:r>
            <a:r>
              <a:rPr lang="pt-BR" sz="3600" spc="-1" dirty="0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 criado, altere a variável DATABASE_URL para o valor a seguir: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  <a:cs typeface="Cascadia Code" panose="020B06090200000200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  <a:cs typeface="Cascadia Code" panose="020B06090200000200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Atualize o nome do container (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postgres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), da senha (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senhadobanco</a:t>
            </a:r>
            <a:r>
              <a:rPr lang="pt-BR" sz="3600" spc="-1" dirty="0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) e da base de dados (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mydb</a:t>
            </a:r>
            <a:r>
              <a:rPr lang="pt-BR" sz="3600" spc="-1" dirty="0">
                <a:solidFill>
                  <a:srgbClr val="262626"/>
                </a:solidFill>
                <a:latin typeface="Calibri Light"/>
                <a:cs typeface="Cascadia Code" panose="020B0609020000020004" pitchFamily="49" charset="0"/>
              </a:rPr>
              <a:t>) se necessário.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  <a:cs typeface="Cascadia Code" panose="020B06090200000200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  <a:cs typeface="Cascadia Code" panose="020B06090200000200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27051A0-DAD5-8F88-4224-CB57C6A10F87}"/>
              </a:ext>
            </a:extLst>
          </p:cNvPr>
          <p:cNvSpPr txBox="1"/>
          <p:nvPr/>
        </p:nvSpPr>
        <p:spPr>
          <a:xfrm>
            <a:off x="709860" y="3057390"/>
            <a:ext cx="10772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DATABASE_URL = 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postgresql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://postgres:senhadobanco@localhost:5432/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mydb?schema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08972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Modelando os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Inicialmente, vamos guardar alguns dados simples de cada livro, como: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Identificador (inteiro – chave primária e auto incrementável);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2800" strike="noStrike" spc="-1" dirty="0">
                <a:solidFill>
                  <a:srgbClr val="262626"/>
                </a:solidFill>
                <a:latin typeface="Calibri Light"/>
              </a:rPr>
              <a:t>Título (</a:t>
            </a:r>
            <a:r>
              <a:rPr lang="pt-BR" sz="2800" i="1" strike="noStrike" spc="-1" dirty="0" err="1">
                <a:solidFill>
                  <a:srgbClr val="262626"/>
                </a:solidFill>
                <a:latin typeface="Calibri Light"/>
              </a:rPr>
              <a:t>string</a:t>
            </a:r>
            <a:r>
              <a:rPr lang="pt-BR" sz="2800" i="1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2800" strike="noStrike" spc="-1" dirty="0">
                <a:solidFill>
                  <a:srgbClr val="262626"/>
                </a:solidFill>
                <a:latin typeface="Calibri Light"/>
              </a:rPr>
              <a:t>de, no máximo, 200 caracteres);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Ano de publicação.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Toda modelagem a ser realizada deve ser feita no arquivo </a:t>
            </a:r>
            <a:r>
              <a:rPr lang="pt-BR" sz="3200" strike="noStrike" spc="-1" dirty="0" err="1">
                <a:solidFill>
                  <a:srgbClr val="262626"/>
                </a:solidFill>
                <a:latin typeface="Calibri Light"/>
              </a:rPr>
              <a:t>schema.prisma</a:t>
            </a: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0222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Modelando os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Adicione o seguinte conteúdo em </a:t>
            </a:r>
            <a:r>
              <a:rPr lang="pt-BR" sz="3200" strike="noStrike" spc="-1" dirty="0" err="1">
                <a:solidFill>
                  <a:srgbClr val="262626"/>
                </a:solidFill>
                <a:latin typeface="Calibri Light"/>
              </a:rPr>
              <a:t>schema.prisma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O prisma deverá fazer o mapeamento desta </a:t>
            </a:r>
            <a:r>
              <a:rPr lang="pt-BR" sz="3200" i="1" strike="noStrike" spc="-1" dirty="0">
                <a:solidFill>
                  <a:srgbClr val="262626"/>
                </a:solidFill>
                <a:latin typeface="Calibri Light"/>
              </a:rPr>
              <a:t>model 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para uma tabela na base de dados.</a:t>
            </a: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FE4D1E-188F-8DF6-34BC-4736FD290F20}"/>
              </a:ext>
            </a:extLst>
          </p:cNvPr>
          <p:cNvSpPr txBox="1"/>
          <p:nvPr/>
        </p:nvSpPr>
        <p:spPr>
          <a:xfrm>
            <a:off x="762000" y="270749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 Livro {</a:t>
            </a:r>
          </a:p>
          <a:p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id Int @id @default (autoincrement())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titulo </a:t>
            </a:r>
            <a:r>
              <a:rPr lang="pt-BR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8435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Modelando os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Para conectar na base de dados e gerar a alteraçã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o desejada, execute o seguinte comando: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Para gerar os arquivos necessários para utilização, execute o seguinte comando: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DF2271-54AF-5AF1-807F-BB774DAC6A92}"/>
              </a:ext>
            </a:extLst>
          </p:cNvPr>
          <p:cNvSpPr txBox="1"/>
          <p:nvPr/>
        </p:nvSpPr>
        <p:spPr>
          <a:xfrm>
            <a:off x="657360" y="30288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sz="20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sz="20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db</a:t>
            </a:r>
            <a:r>
              <a:rPr lang="pt-BR" sz="20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20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push</a:t>
            </a:r>
            <a:endParaRPr lang="pt-BR" sz="20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86E2261-8AB7-B888-DEDC-A2F29B713E4A}"/>
              </a:ext>
            </a:extLst>
          </p:cNvPr>
          <p:cNvSpPr txBox="1"/>
          <p:nvPr/>
        </p:nvSpPr>
        <p:spPr>
          <a:xfrm>
            <a:off x="676800" y="462216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sz="20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sz="20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generate</a:t>
            </a:r>
            <a:endParaRPr lang="pt-BR" sz="20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175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Acessando os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Na raiz do projeto, crie uma pasta chamada </a:t>
            </a: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lib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, e dentro dela, um arquivo chamado </a:t>
            </a:r>
            <a:r>
              <a:rPr lang="pt-BR" sz="3200" b="1" spc="-1" dirty="0">
                <a:solidFill>
                  <a:srgbClr val="262626"/>
                </a:solidFill>
                <a:latin typeface="Calibri Light"/>
              </a:rPr>
              <a:t>prisma.js 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com o seguinte conteúdo: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09C779-D861-0C23-9C4B-0F1F182274C1}"/>
              </a:ext>
            </a:extLst>
          </p:cNvPr>
          <p:cNvSpPr txBox="1"/>
          <p:nvPr/>
        </p:nvSpPr>
        <p:spPr>
          <a:xfrm>
            <a:off x="676800" y="3164160"/>
            <a:ext cx="1007432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dotenv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PrismaPg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/adapter-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pg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PrismaClient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generated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/prisma/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process.env.DATABASE_URL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adapter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PrismaPg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});</a:t>
            </a:r>
          </a:p>
          <a:p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prisma = </a:t>
            </a:r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PrismaClient({ adapter });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prisma };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658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Acessando os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Em “app/livros/page.js”, adicione o seguinte comando para buscar todos os livros na tabela Livro. </a:t>
            </a:r>
            <a:r>
              <a:rPr lang="pt-BR" sz="3200" spc="-1" dirty="0">
                <a:solidFill>
                  <a:srgbClr val="FF0000"/>
                </a:solidFill>
                <a:latin typeface="Calibri Light"/>
              </a:rPr>
              <a:t>Este código não irá funcionar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F20390D-8496-F4E8-AAFE-802C7C502E99}"/>
              </a:ext>
            </a:extLst>
          </p:cNvPr>
          <p:cNvSpPr txBox="1"/>
          <p:nvPr/>
        </p:nvSpPr>
        <p:spPr>
          <a:xfrm>
            <a:off x="762000" y="451579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.log(livros);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1B1396D-A1E0-C6D3-423E-0C755AFED45A}"/>
              </a:ext>
            </a:extLst>
          </p:cNvPr>
          <p:cNvSpPr txBox="1"/>
          <p:nvPr/>
        </p:nvSpPr>
        <p:spPr>
          <a:xfrm>
            <a:off x="762000" y="3611388"/>
            <a:ext cx="8031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prisma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lib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/prisma"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5074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Acessando os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Para exibir mensagens ao usuário, utilizaremos a biblioteca Sweet </a:t>
            </a:r>
            <a:r>
              <a:rPr lang="pt-BR" sz="3200" spc="-1" dirty="0" err="1">
                <a:solidFill>
                  <a:srgbClr val="262626"/>
                </a:solidFill>
                <a:latin typeface="Calibri Light"/>
              </a:rPr>
              <a:t>Alert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 2.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Faça sua instalação: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Faça a sua importação em livros/page.js, e utilize a função </a:t>
            </a: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fire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 para exibir uma mensagem ao usuário.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50B0B6-2E7F-A91E-A065-67707685D4DE}"/>
              </a:ext>
            </a:extLst>
          </p:cNvPr>
          <p:cNvSpPr txBox="1"/>
          <p:nvPr/>
        </p:nvSpPr>
        <p:spPr>
          <a:xfrm>
            <a:off x="762000" y="38152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dirty="0" err="1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pt-BR" sz="24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2400" b="1" i="0" dirty="0" err="1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install</a:t>
            </a:r>
            <a:r>
              <a:rPr lang="pt-BR" sz="24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sweetalert2</a:t>
            </a:r>
            <a:endParaRPr lang="pt-BR" sz="24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920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Acessando os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90C0B2-B014-3911-72A6-89F44C4D8607}"/>
              </a:ext>
            </a:extLst>
          </p:cNvPr>
          <p:cNvSpPr txBox="1"/>
          <p:nvPr/>
        </p:nvSpPr>
        <p:spPr>
          <a:xfrm>
            <a:off x="574233" y="2455879"/>
            <a:ext cx="1077227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.log(livros);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timer: 3000,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position: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4ED6BA7-4790-58C5-D9F9-B31509E5FA3F}"/>
              </a:ext>
            </a:extLst>
          </p:cNvPr>
          <p:cNvSpPr txBox="1"/>
          <p:nvPr/>
        </p:nvSpPr>
        <p:spPr>
          <a:xfrm>
            <a:off x="7047346" y="4238856"/>
            <a:ext cx="4915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Este código ainda não funciona!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3701DF-D82E-2BAC-CE3F-D2758BEF7334}"/>
              </a:ext>
            </a:extLst>
          </p:cNvPr>
          <p:cNvSpPr txBox="1"/>
          <p:nvPr/>
        </p:nvSpPr>
        <p:spPr>
          <a:xfrm>
            <a:off x="574233" y="179035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51604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Acessando os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5E49E126-9BE1-28F7-01D9-D74E9B07804F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O erro anterior acontece pois devemos utilizar o prisma em um componente no servidor, e não no cliente.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Para isso, dentro da pasta “app/livros”, crie um arquivo chamado actions.js. Ele será responsável pelas funções de acesso ao banco de dados.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Como este arquivo deve ser renderizado no cliente, o iniciaremos com a frase “use server”.</a:t>
            </a:r>
          </a:p>
        </p:txBody>
      </p:sp>
    </p:spTree>
    <p:extLst>
      <p:ext uri="{BB962C8B-B14F-4D97-AF65-F5344CB8AC3E}">
        <p14:creationId xmlns:p14="http://schemas.microsoft.com/office/powerpoint/2010/main" val="3910773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Acessando os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5E49E126-9BE1-28F7-01D9-D74E9B07804F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Crie uma função chamada Listar, que retornará todos os livros cadastrados na tabela Livro.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4BC421-7925-4960-1F54-AA2FFBA755A1}"/>
              </a:ext>
            </a:extLst>
          </p:cNvPr>
          <p:cNvSpPr txBox="1"/>
          <p:nvPr/>
        </p:nvSpPr>
        <p:spPr>
          <a:xfrm>
            <a:off x="762000" y="3265438"/>
            <a:ext cx="104232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server'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prisma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lib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/prisma"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3764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Acessando os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5E49E126-9BE1-28F7-01D9-D74E9B07804F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Retornando ao arquivo “app/livros/page.js”, atualize a função </a:t>
            </a:r>
            <a:r>
              <a:rPr lang="pt-BR" sz="3200" spc="-1" dirty="0" err="1">
                <a:solidFill>
                  <a:srgbClr val="262626"/>
                </a:solidFill>
                <a:latin typeface="Calibri Light"/>
              </a:rPr>
              <a:t>handleAtualizar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 para fazer uma chamada à função Listar criada anteriormente.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Essa função executa no servidor, e nosso cliente aguarda sua execução para poder tomar ações no navegador.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841612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DF70E54-B324-8FBB-FD02-34F0D99E8B3C}"/>
              </a:ext>
            </a:extLst>
          </p:cNvPr>
          <p:cNvSpPr txBox="1"/>
          <p:nvPr/>
        </p:nvSpPr>
        <p:spPr>
          <a:xfrm>
            <a:off x="0" y="8193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Listar }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Livros() {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.log(livros);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 disponíveis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"Atualizar"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9167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Acessando os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5E49E126-9BE1-28F7-01D9-D74E9B07804F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Crie um estado </a:t>
            </a:r>
            <a:r>
              <a:rPr lang="pt-BR" sz="3200" b="1" spc="-1" dirty="0">
                <a:solidFill>
                  <a:srgbClr val="262626"/>
                </a:solidFill>
                <a:latin typeface="Calibri Light"/>
              </a:rPr>
              <a:t>dados 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para armazenar os dados vindos da base de dados (inicie com um vetor vazio).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Crie uma tabela no retorno do componente, e o preencha com os dados vindos da base de dados.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88982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DF70E54-B324-8FBB-FD02-34F0D99E8B3C}"/>
              </a:ext>
            </a:extLst>
          </p:cNvPr>
          <p:cNvSpPr txBox="1"/>
          <p:nvPr/>
        </p:nvSpPr>
        <p:spPr>
          <a:xfrm>
            <a:off x="-9236" y="0"/>
            <a:ext cx="12192000" cy="6724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Listar }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Livros() {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(livros);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 err="1">
                <a:solidFill>
                  <a:srgbClr val="C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 disponíveis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7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</a:t>
            </a:r>
            <a:r>
              <a:rPr lang="pt-BR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7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7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7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"Atualizar"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7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7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="w-full"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Título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 de Publicação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dados.map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((p)</a:t>
            </a:r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7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7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7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p.titulo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7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p.anoPublicacao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7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700" dirty="0" err="1">
                <a:solidFill>
                  <a:srgbClr val="C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7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7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743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Listagem na primeira exibição da página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Da forma como está, a página carrega os dados apenas quando o botão atualizar é clicado.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Para carregar também ao iniciar a página: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Crie um estado </a:t>
            </a:r>
            <a:r>
              <a:rPr lang="pt-BR" sz="2800" b="1" spc="-1" dirty="0">
                <a:solidFill>
                  <a:srgbClr val="262626"/>
                </a:solidFill>
                <a:latin typeface="Calibri Light"/>
              </a:rPr>
              <a:t>atualizar </a:t>
            </a: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para que, sempre que seu valor for </a:t>
            </a:r>
            <a:r>
              <a:rPr lang="pt-BR" sz="2800" b="1" spc="-1" dirty="0" err="1">
                <a:solidFill>
                  <a:srgbClr val="262626"/>
                </a:solidFill>
                <a:latin typeface="Calibri Light"/>
              </a:rPr>
              <a:t>true</a:t>
            </a: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, os dados sejam buscados da base de dados;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Inicie seu estado como </a:t>
            </a:r>
            <a:r>
              <a:rPr lang="pt-BR" sz="2800" b="1" spc="-1" dirty="0" err="1">
                <a:solidFill>
                  <a:srgbClr val="262626"/>
                </a:solidFill>
                <a:latin typeface="Calibri Light"/>
              </a:rPr>
              <a:t>true</a:t>
            </a:r>
            <a:r>
              <a:rPr lang="pt-BR" sz="2800" b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para buscar os dados na exibição da página;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Altere o evento de clique do botão atualizar para alterar esse estado para </a:t>
            </a:r>
            <a:r>
              <a:rPr lang="pt-BR" sz="2800" b="1" spc="-1" dirty="0" err="1">
                <a:solidFill>
                  <a:srgbClr val="262626"/>
                </a:solidFill>
                <a:latin typeface="Calibri Light"/>
              </a:rPr>
              <a:t>true</a:t>
            </a: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Crie um efeito que chama a função de atualizar os dados, e altere o estado </a:t>
            </a:r>
            <a:r>
              <a:rPr lang="pt-BR" sz="2800" b="1" spc="-1" dirty="0">
                <a:solidFill>
                  <a:srgbClr val="262626"/>
                </a:solidFill>
                <a:latin typeface="Calibri Light"/>
              </a:rPr>
              <a:t>atualizar </a:t>
            </a: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para </a:t>
            </a:r>
            <a:r>
              <a:rPr lang="pt-BR" sz="2800" b="1" spc="-1" dirty="0">
                <a:solidFill>
                  <a:srgbClr val="262626"/>
                </a:solidFill>
                <a:latin typeface="Calibri Light"/>
              </a:rPr>
              <a:t>false</a:t>
            </a: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 após a sua execução.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87213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607F479-0BE0-C4D6-8946-A92E7E60D485}"/>
              </a:ext>
            </a:extLst>
          </p:cNvPr>
          <p:cNvSpPr txBox="1"/>
          <p:nvPr/>
        </p:nvSpPr>
        <p:spPr>
          <a:xfrm>
            <a:off x="0" y="0"/>
            <a:ext cx="12192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Listar }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Livros() {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[atualizar,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(livros);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(atualizar)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[atualizar]);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C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 disponíveis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"Atualizar"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="w-full"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Título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 de Publicação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dados.map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((p)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p.titulo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p.anoPublicacao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C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21519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Inserção de 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Para cadastrar um novo livro, criaremos um novo componente em app/livros/novo/page.js.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Este componente será montado ao clicar em um botão na tela de pesquisa de livros, que deve ter o botão inserido como um Link: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Não esqueça sua importação: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C8C8A7-FAE4-A19A-BB14-2A24E6D9A7C7}"/>
              </a:ext>
            </a:extLst>
          </p:cNvPr>
          <p:cNvSpPr txBox="1"/>
          <p:nvPr/>
        </p:nvSpPr>
        <p:spPr>
          <a:xfrm>
            <a:off x="761999" y="4475218"/>
            <a:ext cx="11106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"ml-4 bg-blue-600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"/livros/novo"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Novo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178180-9913-8670-37CF-8F219C26E696}"/>
              </a:ext>
            </a:extLst>
          </p:cNvPr>
          <p:cNvSpPr txBox="1"/>
          <p:nvPr/>
        </p:nvSpPr>
        <p:spPr>
          <a:xfrm>
            <a:off x="761999" y="57496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6938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26CC9CA-FAAA-4FEC-50AF-6CC2E867127E}"/>
              </a:ext>
            </a:extLst>
          </p:cNvPr>
          <p:cNvSpPr txBox="1"/>
          <p:nvPr/>
        </p:nvSpPr>
        <p:spPr>
          <a:xfrm>
            <a:off x="0" y="0"/>
            <a:ext cx="1219200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Listar }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Livros() {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[atualizar,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(livros);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(atualizar)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[atualizar]);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 disponíveis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"Atualizar"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"ml-2 bg-blue-600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"/livros/novo"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Novo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"w-full"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Título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 de Publicação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dados.map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((p)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p.titulo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p.anoPublicacao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24113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Inserção de 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Instale o </a:t>
            </a:r>
            <a:r>
              <a:rPr lang="pt-BR" sz="3200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 Hook </a:t>
            </a:r>
            <a:r>
              <a:rPr lang="pt-BR" sz="3200" spc="-1" dirty="0" err="1">
                <a:solidFill>
                  <a:srgbClr val="262626"/>
                </a:solidFill>
                <a:latin typeface="Calibri Light"/>
              </a:rPr>
              <a:t>Forms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pc="-1" dirty="0">
                <a:solidFill>
                  <a:srgbClr val="262626"/>
                </a:solidFill>
                <a:latin typeface="Calibri Light"/>
              </a:rPr>
              <a:t>Crie em /livros um arquivo chamado </a:t>
            </a:r>
            <a:r>
              <a:rPr lang="pt-BR" b="1" spc="-1" dirty="0">
                <a:solidFill>
                  <a:srgbClr val="262626"/>
                </a:solidFill>
                <a:latin typeface="Calibri Light"/>
              </a:rPr>
              <a:t>schema.js</a:t>
            </a:r>
            <a:r>
              <a:rPr lang="pt-BR" spc="-1" dirty="0">
                <a:solidFill>
                  <a:srgbClr val="262626"/>
                </a:solidFill>
                <a:latin typeface="Calibri Light"/>
              </a:rPr>
              <a:t>, com o conteúdo a ser vinculado ao formulário de cadastro de livro.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4A753A-82AE-C7E9-95F9-274559694269}"/>
              </a:ext>
            </a:extLst>
          </p:cNvPr>
          <p:cNvSpPr txBox="1"/>
          <p:nvPr/>
        </p:nvSpPr>
        <p:spPr>
          <a:xfrm>
            <a:off x="676799" y="2646279"/>
            <a:ext cx="9649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pt-BR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i </a:t>
            </a:r>
            <a:r>
              <a:rPr lang="pt-BR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react-hook-form</a:t>
            </a:r>
            <a:r>
              <a:rPr lang="pt-BR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@hookform/resolvers </a:t>
            </a:r>
            <a:r>
              <a:rPr lang="pt-BR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yup</a:t>
            </a:r>
            <a:endParaRPr lang="pt-BR" sz="2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076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Inserção de 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DEA23BC-1C5E-C9F1-E6E6-E43230B15147}"/>
              </a:ext>
            </a:extLst>
          </p:cNvPr>
          <p:cNvSpPr txBox="1"/>
          <p:nvPr/>
        </p:nvSpPr>
        <p:spPr>
          <a:xfrm>
            <a:off x="761999" y="1991373"/>
            <a:ext cx="1007225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yup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"yup"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yup.object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titulo: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yup.string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.min(2,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título deve possuir, no mínimo, 2 caracteres'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(100,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título deve possuir, no máximo, 100 caracteres'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título é obrigatório'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yup.number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integer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.min(1500,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valor mínimo de ano de publicação é 1500'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(2026,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valor máximo de ano de publicação é 1500'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ano de publicação é obrigatório'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typeError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ano de publicação é obrigatório'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2178030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Inserção de 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Em app/livros/actions.js, crie a função para salvar os dados informados. Faça a validação para garantir que os dados estão conforme o esperado.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6608080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102009D-BF59-BB07-BD19-229C9E7F43DD}"/>
              </a:ext>
            </a:extLst>
          </p:cNvPr>
          <p:cNvSpPr txBox="1"/>
          <p:nvPr/>
        </p:nvSpPr>
        <p:spPr>
          <a:xfrm>
            <a:off x="1" y="0"/>
            <a:ext cx="1219199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Validar(livro) {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livro.titulo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livro.titulo?.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trim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livro.titulo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||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livro.titulo.length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2 ||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livro.titulo.length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100)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'Título inválido'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livro.anoPublicacao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||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livro.anoPublicacao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1500 ||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livro.anoPublicacao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2026)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'Ano de publicação inválido'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Salvar(livro) {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Validar(livro);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mensagem: e };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resultado =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prisma.livro.create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data: livro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mensagem: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'Erro na inserção'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dados: resultado, mensagem: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'Inserção realizada com sucesso'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041967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Inserção de 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Na página de criação de livro, crie um formulário para controlar os componentes do livro (título e ano de publicação), bem como um botão para fazer a submissão do formulário.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949985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03C0C34-A3E8-727F-6AD3-005BF7E5FA0E}"/>
              </a:ext>
            </a:extLst>
          </p:cNvPr>
          <p:cNvSpPr txBox="1"/>
          <p:nvPr/>
        </p:nvSpPr>
        <p:spPr>
          <a:xfrm>
            <a:off x="0" y="0"/>
            <a:ext cx="12192000" cy="589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react-hook-form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hookform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resolvers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Salvar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Novo() {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register,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formState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errors } } =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resolver: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(data) =&gt;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Salvar(data);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resultado.sucesso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 =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mensagem =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mensagem,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"mt-2 ml-2"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flex-row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gap-8"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Título</a:t>
            </a: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mx-2 px-2 py-2"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"titulo"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?.titulo?.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Ano de publicação</a:t>
            </a: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ml-2 px-2 py-2"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"submit"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text-white px-4 py-2 rounded hover:bg-blue-700 active:bg-blue-800 disabled:bg-blue-200 ml-2"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={busy}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"Salvar"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4012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Inserção de 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Atualize a página de inserção de livro para fazer a chamada para a função anterior. Em caso de sucesso, usaremos o </a:t>
            </a:r>
            <a:r>
              <a:rPr lang="pt-BR" sz="3200" i="1" spc="-1" dirty="0" err="1">
                <a:solidFill>
                  <a:srgbClr val="262626"/>
                </a:solidFill>
                <a:latin typeface="Calibri Light"/>
              </a:rPr>
              <a:t>hook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useRouter</a:t>
            </a:r>
            <a:r>
              <a:rPr lang="pt-BR" sz="3200" b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para redirecionar o usuário para a tela anterior, passando um parâmetro que informa que uma mensagem de sucesso deve ser exibida.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0897164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5A8D20FD-7A15-2A0D-46E7-8029EAD6E130}"/>
              </a:ext>
            </a:extLst>
          </p:cNvPr>
          <p:cNvSpPr txBox="1"/>
          <p:nvPr/>
        </p:nvSpPr>
        <p:spPr>
          <a:xfrm>
            <a:off x="0" y="0"/>
            <a:ext cx="12192000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react-hook-form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hookform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resolvers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Salvar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"next/navigation"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Novo() {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register,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formState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errors } } =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resolver: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(data) =&gt;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Salvar(data);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resultado.sucesso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router.push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 =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mensagem =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mensagem,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"mt-2 ml-2"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flex-row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gap-8"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Título</a:t>
            </a: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mx-2 px-2 py-2"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"titulo"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?.titulo?.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Ano de publicação</a:t>
            </a: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ml-2 px-2 py-2"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"submit"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text-white px-4 py-2 rounded hover:bg-blue-700 active:bg-blue-800 disabled:bg-blue-200 ml-2"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={busy}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"Salvar"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0360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Edição de 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Para informar que um livro deve ser editado, exibiremos um </a:t>
            </a:r>
            <a:r>
              <a:rPr lang="pt-BR" sz="2800" i="1" spc="-1" dirty="0">
                <a:solidFill>
                  <a:srgbClr val="262626"/>
                </a:solidFill>
                <a:latin typeface="Calibri Light"/>
              </a:rPr>
              <a:t>link </a:t>
            </a: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para a sua edição ao lado dos seus dados, e quando o usuário clicar em um destes </a:t>
            </a:r>
            <a:r>
              <a:rPr lang="pt-BR" sz="2800" i="1" spc="-1" dirty="0">
                <a:solidFill>
                  <a:srgbClr val="262626"/>
                </a:solidFill>
                <a:latin typeface="Calibri Light"/>
              </a:rPr>
              <a:t>links</a:t>
            </a: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, ele será redirecionado para a página correta, de acordo com o id do livro selecionado.</a:t>
            </a:r>
          </a:p>
        </p:txBody>
      </p:sp>
    </p:spTree>
    <p:extLst>
      <p:ext uri="{BB962C8B-B14F-4D97-AF65-F5344CB8AC3E}">
        <p14:creationId xmlns:p14="http://schemas.microsoft.com/office/powerpoint/2010/main" val="33512590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53C6C6F0-88B6-6993-95AF-1360D4F23FE0}"/>
              </a:ext>
            </a:extLst>
          </p:cNvPr>
          <p:cNvSpPr txBox="1"/>
          <p:nvPr/>
        </p:nvSpPr>
        <p:spPr>
          <a:xfrm>
            <a:off x="0" y="0"/>
            <a:ext cx="12192000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use,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Listar }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Livros() {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[atualizar,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(livros);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(atualizar)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[atualizar]);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 disponíveis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"Atualizar"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"ml-2 bg-blue-600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"/livros/novo"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Novo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"w-full"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Título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 de Publicação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dados.map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((p)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p.titulo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p.anoPublicacao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`/livros/editar/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p.id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"text-blue-600 pl-2"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Editar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92638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Edição de 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Em app/livros/action.js, crie a função para obter os dados de um livro a partir de seu id: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26D3F2-85EC-9AD2-358D-193589DBE709}"/>
              </a:ext>
            </a:extLst>
          </p:cNvPr>
          <p:cNvSpPr txBox="1"/>
          <p:nvPr/>
        </p:nvSpPr>
        <p:spPr>
          <a:xfrm>
            <a:off x="676800" y="3218638"/>
            <a:ext cx="1088505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Obter(id)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 =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prisma.livro.findUnique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id: id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28944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Edição de 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Em app/livros/action.js, crie também a função para atualizar os dados de um livro recebido.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26D3F2-85EC-9AD2-358D-193589DBE709}"/>
              </a:ext>
            </a:extLst>
          </p:cNvPr>
          <p:cNvSpPr txBox="1"/>
          <p:nvPr/>
        </p:nvSpPr>
        <p:spPr>
          <a:xfrm>
            <a:off x="676800" y="3035464"/>
            <a:ext cx="1088505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Atualizar(livro) {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Validar(livro);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mensagem: e };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resultado =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prisma.livro.update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id: livro.id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data: { ...livro, id: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undefined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mensagem: 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'Erro na atualização'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dados: resultado, mensagem: 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'Atualização realizada com sucesso'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500" dirty="0"/>
          </a:p>
        </p:txBody>
      </p:sp>
    </p:spTree>
    <p:extLst>
      <p:ext uri="{BB962C8B-B14F-4D97-AF65-F5344CB8AC3E}">
        <p14:creationId xmlns:p14="http://schemas.microsoft.com/office/powerpoint/2010/main" val="2076451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Edição de 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Crie a pasta app/livros/editar/[id], e o arquivo page.js dentro dela.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Esta página, ao ser aberta, deve verificar o id informado e carregar os dados do livro obtido através da base de dados.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pc="-1" dirty="0">
                <a:solidFill>
                  <a:srgbClr val="262626"/>
                </a:solidFill>
                <a:latin typeface="Calibri Light"/>
              </a:rPr>
              <a:t>Também deve possuir um botão salvar que, quando clicado, atualiza os dados deste livro e redireciona o usuário à tela de listagem de livros.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5892091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3D0B04B-6F5C-F3C2-6275-648907FA20A6}"/>
              </a:ext>
            </a:extLst>
          </p:cNvPr>
          <p:cNvSpPr txBox="1"/>
          <p:nvPr/>
        </p:nvSpPr>
        <p:spPr>
          <a:xfrm>
            <a:off x="0" y="0"/>
            <a:ext cx="12192000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use,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endParaRPr lang="en-US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react-hook-form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hookform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resolvers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Atualizar, Obter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"next/navigation"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Novo({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 {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} = use(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reset,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formState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}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resolver: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(data)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data.id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Atualizar(data);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resultado.sucesso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router.push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 =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mensagem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mensagem,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handleCarregar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idInt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atual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Obter(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idInt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router.replace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(atual)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reset({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titulo: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atual.titulo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atual.anoPublicacao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router.replace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(id)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handleCarregar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[id]);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"mt-2 ml-2"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flex-row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gap-8"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Título</a:t>
            </a: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mx-2 px-2 py-2"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"titulo"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?.titulo?.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Ano de publicação</a:t>
            </a: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ml-2 px-2 py-2"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"submit"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text-white px-4 py-2 rounded hover:bg-blue-700 active:bg-blue-800 disabled:bg-blue-200 ml-2"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={busy}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"Salvar"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760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Remoção de 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Em app/livros/action</a:t>
            </a:r>
            <a:r>
              <a:rPr lang="pt-BR" spc="-1" dirty="0">
                <a:solidFill>
                  <a:srgbClr val="262626"/>
                </a:solidFill>
                <a:latin typeface="Calibri Light"/>
              </a:rPr>
              <a:t>s.js, crie a função para remover o livro com o id informado: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BEDDFF-7118-5396-85BD-D5F4B97E7DA1}"/>
              </a:ext>
            </a:extLst>
          </p:cNvPr>
          <p:cNvSpPr txBox="1"/>
          <p:nvPr/>
        </p:nvSpPr>
        <p:spPr>
          <a:xfrm>
            <a:off x="762000" y="3016332"/>
            <a:ext cx="106874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Remover(id)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resultado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prisma.livro.delete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id: id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}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5591329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Remoção de </a:t>
            </a:r>
            <a:r>
              <a:rPr lang="pt-BR" sz="5400" spc="-120" dirty="0">
                <a:solidFill>
                  <a:srgbClr val="549E39"/>
                </a:solidFill>
                <a:latin typeface="Calibri Light"/>
              </a:rPr>
              <a:t>livro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C579EFC5-53F4-80C1-8033-BAB7ABB3CED2}"/>
              </a:ext>
            </a:extLst>
          </p:cNvPr>
          <p:cNvSpPr txBox="1">
            <a:spLocks/>
          </p:cNvSpPr>
          <p:nvPr/>
        </p:nvSpPr>
        <p:spPr>
          <a:xfrm>
            <a:off x="676800" y="2157480"/>
            <a:ext cx="10753200" cy="42004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 panose="020B0604020202020204" pitchFamily="34" charset="0"/>
              <a:buNone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Em app/livros/page</a:t>
            </a:r>
            <a:r>
              <a:rPr lang="pt-BR" spc="-1" dirty="0">
                <a:solidFill>
                  <a:srgbClr val="262626"/>
                </a:solidFill>
                <a:latin typeface="Calibri Light"/>
              </a:rPr>
              <a:t>.js, adicione a coluna para remover o livro informado chamando a função criada anteriormente. Em caso de sucesso, atualizar a lista e exibir uma mensagem de sucesso para o usuário. Em caso de erro, exibir uma mensagem de erro e não atualizar a lista.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0855694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225D335-21DD-03D2-A004-8B4B64A20E27}"/>
              </a:ext>
            </a:extLst>
          </p:cNvPr>
          <p:cNvSpPr txBox="1"/>
          <p:nvPr/>
        </p:nvSpPr>
        <p:spPr>
          <a:xfrm>
            <a:off x="0" y="0"/>
            <a:ext cx="1219200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use,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Listar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Remover }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"./actions"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Livros() {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[atualizar,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(livros);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(id)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resposta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confirm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'Deseja realmente remover este livro?'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(resposta)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Remover(id);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resultado.sucesso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"Livro removido com sucesso"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remover o livro informado"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(atualizar)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[atualizar]);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 disponíveis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"Atualizar"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"ml-2 bg-blue-600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"/livros/novo"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Novo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"w-full"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Título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 de Publicação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dados.map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((p)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p.titulo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p.anoPublicacao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`/livros/editar/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p.id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"text-blue-600 pl-2"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Editar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"#"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"text-red-600 pl-2"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(p.id)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Remover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400" dirty="0"/>
          </a:p>
        </p:txBody>
      </p:sp>
    </p:spTree>
    <p:extLst>
      <p:ext uri="{BB962C8B-B14F-4D97-AF65-F5344CB8AC3E}">
        <p14:creationId xmlns:p14="http://schemas.microsoft.com/office/powerpoint/2010/main" val="3637920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2054</TotalTime>
  <Words>6912</Words>
  <Application>Microsoft Office PowerPoint</Application>
  <PresentationFormat>Widescreen</PresentationFormat>
  <Paragraphs>1033</Paragraphs>
  <Slides>55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55</vt:i4>
      </vt:variant>
    </vt:vector>
  </HeadingPairs>
  <TitlesOfParts>
    <vt:vector size="65" baseType="lpstr">
      <vt:lpstr>Arial</vt:lpstr>
      <vt:lpstr>Calibri Light</vt:lpstr>
      <vt:lpstr>Cascadia Code</vt:lpstr>
      <vt:lpstr>Cascadia Mono</vt:lpstr>
      <vt:lpstr>Consolas</vt:lpstr>
      <vt:lpstr>Symbol</vt:lpstr>
      <vt:lpstr>Times New Roman</vt:lpstr>
      <vt:lpstr>Wingdings</vt:lpstr>
      <vt:lpstr>Office Theme</vt:lpstr>
      <vt:lpstr>Office Theme</vt:lpstr>
      <vt:lpstr>Desenvolvimento Web III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Componentes no cliente e no servidor</vt:lpstr>
      <vt:lpstr>Componentes no cliente e no servidor</vt:lpstr>
      <vt:lpstr>Componentes no cliente e no servidor</vt:lpstr>
      <vt:lpstr>Componentes no cliente e no servidor</vt:lpstr>
      <vt:lpstr>Acesso a banco de dados</vt:lpstr>
      <vt:lpstr>Acesso a banco de dados</vt:lpstr>
      <vt:lpstr>Exemplo</vt:lpstr>
      <vt:lpstr>Exemplo</vt:lpstr>
      <vt:lpstr>Exemplo</vt:lpstr>
      <vt:lpstr>Acesso a banco de dados</vt:lpstr>
      <vt:lpstr>Acesso a banco de dados</vt:lpstr>
      <vt:lpstr>Acesso a banco de dados</vt:lpstr>
      <vt:lpstr>Configuração do banco de dados</vt:lpstr>
      <vt:lpstr>Modelando os dados</vt:lpstr>
      <vt:lpstr>Modelando os dados</vt:lpstr>
      <vt:lpstr>Modelando os dados</vt:lpstr>
      <vt:lpstr>Acessando os dados</vt:lpstr>
      <vt:lpstr>Acessando os dados</vt:lpstr>
      <vt:lpstr>Acessando os dados</vt:lpstr>
      <vt:lpstr>Acessando os dados</vt:lpstr>
      <vt:lpstr>Acessando os dados</vt:lpstr>
      <vt:lpstr>Acessando os dados</vt:lpstr>
      <vt:lpstr>Acessando os dados</vt:lpstr>
      <vt:lpstr>Apresentação do PowerPoint</vt:lpstr>
      <vt:lpstr>Acessando os dados</vt:lpstr>
      <vt:lpstr>Apresentação do PowerPoint</vt:lpstr>
      <vt:lpstr>Listagem na primeira exibição da página</vt:lpstr>
      <vt:lpstr>Apresentação do PowerPoint</vt:lpstr>
      <vt:lpstr>Inserção de livro</vt:lpstr>
      <vt:lpstr>Apresentação do PowerPoint</vt:lpstr>
      <vt:lpstr>Inserção de livro</vt:lpstr>
      <vt:lpstr>Inserção de livro</vt:lpstr>
      <vt:lpstr>Inserção de livro</vt:lpstr>
      <vt:lpstr>Apresentação do PowerPoint</vt:lpstr>
      <vt:lpstr>Inserção de livro</vt:lpstr>
      <vt:lpstr>Apresentação do PowerPoint</vt:lpstr>
      <vt:lpstr>Inserção de livro</vt:lpstr>
      <vt:lpstr>Apresentação do PowerPoint</vt:lpstr>
      <vt:lpstr>Edição de livro</vt:lpstr>
      <vt:lpstr>Apresentação do PowerPoint</vt:lpstr>
      <vt:lpstr>Edição de livro</vt:lpstr>
      <vt:lpstr>Edição de livro</vt:lpstr>
      <vt:lpstr>Edição de livro</vt:lpstr>
      <vt:lpstr>Apresentação do PowerPoint</vt:lpstr>
      <vt:lpstr>Remoção de livro</vt:lpstr>
      <vt:lpstr>Remoção de livro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subject/>
  <dc:creator>Tiago Docusse</dc:creator>
  <dc:description/>
  <cp:lastModifiedBy>Tiago Docusse</cp:lastModifiedBy>
  <cp:revision>290</cp:revision>
  <dcterms:created xsi:type="dcterms:W3CDTF">2020-10-26T16:07:06Z</dcterms:created>
  <dcterms:modified xsi:type="dcterms:W3CDTF">2026-04-10T02:30:33Z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123</vt:i4>
  </property>
</Properties>
</file>